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7" r:id="rId2"/>
    <p:sldId id="305" r:id="rId3"/>
    <p:sldId id="306" r:id="rId4"/>
    <p:sldId id="277" r:id="rId5"/>
    <p:sldId id="332" r:id="rId6"/>
    <p:sldId id="307" r:id="rId7"/>
    <p:sldId id="304" r:id="rId8"/>
    <p:sldId id="334" r:id="rId9"/>
    <p:sldId id="337" r:id="rId10"/>
    <p:sldId id="336" r:id="rId11"/>
    <p:sldId id="317" r:id="rId12"/>
    <p:sldId id="338" r:id="rId13"/>
    <p:sldId id="339" r:id="rId14"/>
    <p:sldId id="340" r:id="rId15"/>
    <p:sldId id="331" r:id="rId16"/>
    <p:sldId id="323" r:id="rId17"/>
    <p:sldId id="326" r:id="rId18"/>
    <p:sldId id="346" r:id="rId19"/>
    <p:sldId id="345" r:id="rId20"/>
    <p:sldId id="344" r:id="rId21"/>
    <p:sldId id="319" r:id="rId22"/>
    <p:sldId id="341" r:id="rId23"/>
    <p:sldId id="270" r:id="rId24"/>
    <p:sldId id="308" r:id="rId25"/>
    <p:sldId id="322" r:id="rId26"/>
    <p:sldId id="299" r:id="rId27"/>
    <p:sldId id="298" r:id="rId28"/>
    <p:sldId id="297" r:id="rId29"/>
    <p:sldId id="310" r:id="rId30"/>
    <p:sldId id="291" r:id="rId31"/>
    <p:sldId id="311" r:id="rId32"/>
    <p:sldId id="273" r:id="rId33"/>
    <p:sldId id="272" r:id="rId34"/>
    <p:sldId id="278" r:id="rId35"/>
    <p:sldId id="280" r:id="rId36"/>
    <p:sldId id="292" r:id="rId37"/>
  </p:sldIdLst>
  <p:sldSz cx="12192000" cy="6858000"/>
  <p:notesSz cx="6858000" cy="9144000"/>
  <p:embeddedFontLst>
    <p:embeddedFont>
      <p:font typeface="Cambria Math" panose="02040503050406030204" pitchFamily="18" charset="0"/>
      <p:regular r:id="rId40"/>
    </p:embeddedFont>
    <p:embeddedFont>
      <p:font typeface="나눔스퀘어 Bold" panose="020B0600000101010101" pitchFamily="50" charset="-127"/>
      <p:bold r:id="rId41"/>
    </p:embeddedFont>
    <p:embeddedFont>
      <p:font typeface="나눔스퀘어_ac Bold" panose="020B0600000101010101" pitchFamily="50" charset="-127"/>
      <p:bold r:id="rId42"/>
    </p:embeddedFont>
    <p:embeddedFont>
      <p:font typeface="나눔스퀘어_ac ExtraBold" panose="020B0600000101010101" pitchFamily="50" charset="-127"/>
      <p:bold r:id="rId43"/>
    </p:embeddedFont>
    <p:embeddedFont>
      <p:font typeface="맑은 고딕" panose="020B0503020000020004" pitchFamily="50" charset="-127"/>
      <p:regular r:id="rId44"/>
      <p:bold r:id="rId4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C3"/>
    <a:srgbClr val="F1F3E0"/>
    <a:srgbClr val="778873"/>
    <a:srgbClr val="A1BC98"/>
    <a:srgbClr val="D2DCB6"/>
    <a:srgbClr val="BCD7EB"/>
    <a:srgbClr val="67ABD4"/>
    <a:srgbClr val="E3EEF8"/>
    <a:srgbClr val="08326F"/>
    <a:srgbClr val="0830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44" autoAdjust="0"/>
    <p:restoredTop sz="96193" autoAdjust="0"/>
  </p:normalViewPr>
  <p:slideViewPr>
    <p:cSldViewPr snapToGrid="0" showGuides="1">
      <p:cViewPr varScale="1">
        <p:scale>
          <a:sx n="79" d="100"/>
          <a:sy n="79" d="100"/>
        </p:scale>
        <p:origin x="1262" y="77"/>
      </p:cViewPr>
      <p:guideLst>
        <p:guide orient="horz" pos="2160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916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총 과금액 (억 원)</c:v>
                </c:pt>
              </c:strCache>
            </c:strRef>
          </c:tx>
          <c:spPr>
            <a:solidFill>
              <a:srgbClr val="80B0D4"/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rgbClr val="0022C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D33-42C2-9713-F1335CB25CF2}"/>
              </c:ext>
            </c:extLst>
          </c:dPt>
          <c:dLbls>
            <c:dLbl>
              <c:idx val="4"/>
              <c:tx>
                <c:rich>
                  <a:bodyPr/>
                  <a:lstStyle/>
                  <a:p>
                    <a:fld id="{988F6569-F4B4-4263-A4A7-14A05A348824}" type="VALUE">
                      <a:rPr lang="en-US" altLang="ko-KR">
                        <a:solidFill>
                          <a:srgbClr val="FF0000"/>
                        </a:solidFill>
                      </a:rPr>
                      <a:pPr/>
                      <a:t>[값]</a:t>
                    </a:fld>
                    <a:endParaRPr lang="ko-KR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6D33-42C2-9713-F1335CB25CF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Sheet1!$A$5:$A$9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Sheet1!$B$5:$B$9</c:f>
              <c:numCache>
                <c:formatCode>General</c:formatCode>
                <c:ptCount val="5"/>
                <c:pt idx="0">
                  <c:v>27.1</c:v>
                </c:pt>
                <c:pt idx="1">
                  <c:v>34.31</c:v>
                </c:pt>
                <c:pt idx="2">
                  <c:v>42.31</c:v>
                </c:pt>
                <c:pt idx="3">
                  <c:v>52.24</c:v>
                </c:pt>
                <c:pt idx="4">
                  <c:v>48.32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6D33-42C2-9713-F1335CB25C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0"/>
        <c:axId val="37876064"/>
        <c:axId val="24572400"/>
      </c:barChart>
      <c:catAx>
        <c:axId val="37876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50000"/>
                <a:lumOff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defRPr>
            </a:pPr>
            <a:endParaRPr lang="ko-KR"/>
          </a:p>
        </c:txPr>
        <c:crossAx val="24572400"/>
        <c:crosses val="autoZero"/>
        <c:auto val="1"/>
        <c:lblAlgn val="ctr"/>
        <c:lblOffset val="100"/>
        <c:noMultiLvlLbl val="0"/>
      </c:catAx>
      <c:valAx>
        <c:axId val="2457240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378760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나눔스퀘어_ac Bold" panose="020B0600000101010101" pitchFamily="50" charset="-127"/>
          <a:ea typeface="나눔스퀘어_ac Bold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총 과금액 (억 원)</c:v>
                </c:pt>
              </c:strCache>
            </c:strRef>
          </c:tx>
          <c:spPr>
            <a:solidFill>
              <a:srgbClr val="0022C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0.34</c:v>
                </c:pt>
                <c:pt idx="1">
                  <c:v>10.71</c:v>
                </c:pt>
                <c:pt idx="2">
                  <c:v>19.66</c:v>
                </c:pt>
                <c:pt idx="3">
                  <c:v>27.1</c:v>
                </c:pt>
                <c:pt idx="4">
                  <c:v>34.31</c:v>
                </c:pt>
                <c:pt idx="5">
                  <c:v>42.31</c:v>
                </c:pt>
                <c:pt idx="6">
                  <c:v>52.24</c:v>
                </c:pt>
                <c:pt idx="7">
                  <c:v>48.32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855E-426D-9651-F1E9C9653D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0"/>
        <c:axId val="37876064"/>
        <c:axId val="24572400"/>
      </c:barChart>
      <c:catAx>
        <c:axId val="37876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defRPr>
            </a:pPr>
            <a:endParaRPr lang="ko-KR"/>
          </a:p>
        </c:txPr>
        <c:crossAx val="24572400"/>
        <c:crosses val="autoZero"/>
        <c:auto val="1"/>
        <c:lblAlgn val="ctr"/>
        <c:lblOffset val="100"/>
        <c:noMultiLvlLbl val="0"/>
      </c:catAx>
      <c:valAx>
        <c:axId val="2457240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378760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나눔스퀘어_ac Bold" panose="020B0600000101010101" pitchFamily="50" charset="-127"/>
          <a:ea typeface="나눔스퀘어_ac Bold" panose="020B0600000101010101" pitchFamily="50" charset="-127"/>
        </a:defRPr>
      </a:pPr>
      <a:endParaRPr lang="ko-K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EF9A1754-DC65-47CA-A089-FFAED24680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814C971-4D84-BD89-9F3A-4F74AF0CCA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3BBB78-30B9-4C28-AA54-B49C1DA18406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9B024D6-82BF-0690-38F1-3024F96255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998D58-DDF7-8C5F-0D36-4EE30812D7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25556-CE28-46C7-A763-F5ED15E582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108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4339F0-DB37-4321-9C59-79BD404D49CF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39E68E-BE1F-40D7-B223-B7626627E4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0880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4FFE0-7A8E-3439-738E-A9CC5DDD6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2EBB1F-E76C-138B-7736-9AD53DE45B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8747B2-5E5F-9F75-2DBD-B1374E976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ARPU(Average Revenue Per User, </a:t>
            </a:r>
            <a:r>
              <a:rPr lang="ko-KR" altLang="en-US" dirty="0"/>
              <a:t>가입자당 평균 매출</a:t>
            </a:r>
            <a:r>
              <a:rPr lang="en-US" altLang="ko-KR" dirty="0"/>
              <a:t>)</a:t>
            </a:r>
            <a:r>
              <a:rPr lang="ko-KR" altLang="en-US" dirty="0"/>
              <a:t>는 특정 기간</a:t>
            </a:r>
            <a:r>
              <a:rPr lang="en-US" altLang="ko-KR" dirty="0"/>
              <a:t>(</a:t>
            </a:r>
            <a:r>
              <a:rPr lang="ko-KR" altLang="en-US" dirty="0"/>
              <a:t>월</a:t>
            </a:r>
            <a:r>
              <a:rPr lang="en-US" altLang="ko-KR" dirty="0"/>
              <a:t>, </a:t>
            </a:r>
            <a:r>
              <a:rPr lang="ko-KR" altLang="en-US" dirty="0"/>
              <a:t>분기 등</a:t>
            </a:r>
            <a:r>
              <a:rPr lang="en-US" altLang="ko-KR" dirty="0"/>
              <a:t>) </a:t>
            </a:r>
            <a:r>
              <a:rPr lang="ko-KR" altLang="en-US" dirty="0"/>
              <a:t>동안 </a:t>
            </a:r>
            <a:r>
              <a:rPr lang="ko-KR" altLang="en-US" b="1" dirty="0">
                <a:effectLst/>
              </a:rPr>
              <a:t>활성 사용자 </a:t>
            </a:r>
            <a:r>
              <a:rPr lang="en-US" altLang="ko-KR" b="1" dirty="0">
                <a:effectLst/>
              </a:rPr>
              <a:t>1</a:t>
            </a:r>
            <a:r>
              <a:rPr lang="ko-KR" altLang="en-US" b="1" dirty="0">
                <a:effectLst/>
              </a:rPr>
              <a:t>명당 평균적으로 창출하는 수익</a:t>
            </a:r>
            <a:r>
              <a:rPr lang="ko-KR" altLang="en-US" dirty="0"/>
              <a:t>을 나타내는 핵심 성과 지표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D8A1EF-9A36-D51D-C501-118C2F274B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9E68E-BE1F-40D7-B223-B7626627E4B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9537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58C97-0CA1-B450-BEB6-C2CAFC4F2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75EDAB-FE3B-10F0-2745-81013E820E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D18FCC-EAA8-5325-8C0D-98964DBB7E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AC8D7C-3E01-89A8-602D-70CAEAEBC7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06D4C-AFA1-4283-9017-CE43C69AED7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0770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9E68E-BE1F-40D7-B223-B7626627E4B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6851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9E68E-BE1F-40D7-B223-B7626627E4B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5870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9E68E-BE1F-40D7-B223-B7626627E4B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442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9E68E-BE1F-40D7-B223-B7626627E4B8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53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9E68E-BE1F-40D7-B223-B7626627E4B8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3380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5B072-311F-8EE9-387D-C507A594A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DC3FF2-A433-8A60-3EB4-3DFB468FB0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9E21C3-CE6F-C948-C2EA-44878ED79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데이터사용량에 대한 정의도 궁금해짐</a:t>
            </a: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</a:p>
          <a:p>
            <a:pPr algn="l"/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기본 제공 데이터 용량인지</a:t>
            </a: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소비한 </a:t>
            </a:r>
            <a:r>
              <a:rPr lang="ko-KR" altLang="en-US" sz="12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데이터양인지</a:t>
            </a:r>
            <a:endParaRPr lang="ko-KR" altLang="en-US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endParaRPr lang="ko-KR" altLang="en-US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데이터사용량</a:t>
            </a: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=0</a:t>
            </a: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인 사람들이 </a:t>
            </a: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1489</a:t>
            </a: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명임 </a:t>
            </a: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(-&gt; </a:t>
            </a: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그래프 보면서 설명</a:t>
            </a: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</a:p>
          <a:p>
            <a:pPr algn="l"/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진짜 데이터를 </a:t>
            </a: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0GB </a:t>
            </a: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사용한 것인가에 대한 의문</a:t>
            </a:r>
          </a:p>
          <a:p>
            <a:pPr algn="l"/>
            <a:endParaRPr lang="ko-KR" altLang="en-US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ko-KR" altLang="en-US" sz="12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데이터무제한인</a:t>
            </a: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사람들의 데이터사용량을 보도록 하자</a:t>
            </a: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(why? </a:t>
            </a:r>
            <a:r>
              <a:rPr lang="ko-KR" altLang="en-US" sz="12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데이터무제한인</a:t>
            </a: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사람들 중 데이터사용량이 </a:t>
            </a: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0</a:t>
            </a: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인 사람은 한 명도 없었음</a:t>
            </a: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그렇다면 모두 동일한 값으로 </a:t>
            </a:r>
            <a:r>
              <a:rPr lang="ko-KR" altLang="en-US" sz="12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입력되어있는가를</a:t>
            </a: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확인할 필요가 있음</a:t>
            </a: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</a:p>
          <a:p>
            <a:pPr algn="l"/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16GB, 30GB, 4GB </a:t>
            </a: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등 다양함 </a:t>
            </a: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-&gt; </a:t>
            </a: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공통된 수로 </a:t>
            </a:r>
            <a:r>
              <a:rPr lang="ko-KR" altLang="en-US" sz="12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정리되어있지</a:t>
            </a: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않음</a:t>
            </a:r>
          </a:p>
          <a:p>
            <a:pPr algn="l"/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즉</a:t>
            </a: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고객이 실제로 사용한 </a:t>
            </a:r>
            <a:r>
              <a:rPr lang="ko-KR" altLang="en-US" sz="12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데이터량임을</a:t>
            </a: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알 수 있음</a:t>
            </a: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!</a:t>
            </a:r>
          </a:p>
          <a:p>
            <a:pPr algn="l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60F47F-6EC4-6567-0DB3-213291A9C1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9E68E-BE1F-40D7-B223-B7626627E4B8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9157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9E68E-BE1F-40D7-B223-B7626627E4B8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4267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9E68E-BE1F-40D7-B223-B7626627E4B8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13547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9E68E-BE1F-40D7-B223-B7626627E4B8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4085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80E46-92BD-1512-9AE3-27BB1E2DF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708544-E0AC-CFC5-AF56-CEF85E0DC6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7223E1-6710-6275-24F9-5360687C0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904350-3FE4-1353-B11E-04137505B8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9E68E-BE1F-40D7-B223-B7626627E4B8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1438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miraeinjae1297.tistory.com/entry/%EA%B3%BC%ED%95%99-%EA%B3%B5%ED%95%99-%EC%88%98%ED%95%99-%EC%84%B8%ED%8A%B9-%EC%A3%BC%EC%A0%9C-%ED%83%90%EA%B5%AC-%EC%88%98%ED%95%99%EC%A0%81-%EC%9B%90%EB%A6%AC%EA%B0%80-%EC%A0%81%EC%9A%A9%EB%90%9C-%EC%9D%B4%EB%8F%99-%ED%86%B5%EC%8B%A0-%EA%B8%B0%EC%88%A0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miraeinjae1297.tistory.com/entry/%EA%B3%BC%ED%95%99-%EA%B3%B5%ED%95%99-%EC%88%98%ED%95%99-%EC%84%B8%ED%8A%B9-%EC%A3%BC%EC%A0%9C-%ED%83%90%EA%B5%AC-%EC%88%98%ED%95%99%EC%A0%81-%EC%9B%90%EB%A6%AC%EA%B0%80-%EC%A0%81%EC%9A%A9%EB%90%9C-%EC%9D%B4%EB%8F%99-%ED%86%B5%EC%8B%A0-%EA%B8%B0%EC%88%A0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miraeinjae1297.tistory.com/entry/%EA%B3%BC%ED%95%99-%EA%B3%B5%ED%95%99-%EC%88%98%ED%95%99-%EC%84%B8%ED%8A%B9-%EC%A3%BC%EC%A0%9C-%ED%83%90%EA%B5%AC-%EC%88%98%ED%95%99%EC%A0%81-%EC%9B%90%EB%A6%AC%EA%B0%80-%EC%A0%81%EC%9A%A9%EB%90%9C-%EC%9D%B4%EB%8F%99-%ED%86%B5%EC%8B%A0-%EA%B8%B0%EC%88%A0" TargetMode="Externa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miraeinjae1297.tistory.com/entry/%EA%B3%BC%ED%95%99-%EA%B3%B5%ED%95%99-%EC%88%98%ED%95%99-%EC%84%B8%ED%8A%B9-%EC%A3%BC%EC%A0%9C-%ED%83%90%EA%B5%AC-%EC%88%98%ED%95%99%EC%A0%81-%EC%9B%90%EB%A6%AC%EA%B0%80-%EC%A0%81%EC%9A%A9%EB%90%9C-%EC%9D%B4%EB%8F%99-%ED%86%B5%EC%8B%A0-%EA%B8%B0%EC%88%A0" TargetMode="Externa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miraeinjae1297.tistory.com/entry/%EA%B3%BC%ED%95%99-%EA%B3%B5%ED%95%99-%EC%88%98%ED%95%99-%EC%84%B8%ED%8A%B9-%EC%A3%BC%EC%A0%9C-%ED%83%90%EA%B5%AC-%EC%88%98%ED%95%99%EC%A0%81-%EC%9B%90%EB%A6%AC%EA%B0%80-%EC%A0%81%EC%9A%A9%EB%90%9C-%EC%9D%B4%EB%8F%99-%ED%86%B5%EC%8B%A0-%EA%B8%B0%EC%88%A0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604B63E-DA0A-2AD9-123D-4471A9E2B487}"/>
              </a:ext>
            </a:extLst>
          </p:cNvPr>
          <p:cNvCxnSpPr>
            <a:cxnSpLocks/>
          </p:cNvCxnSpPr>
          <p:nvPr userDrawn="1"/>
        </p:nvCxnSpPr>
        <p:spPr>
          <a:xfrm flipH="1">
            <a:off x="493441" y="590343"/>
            <a:ext cx="11205118" cy="16604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05598FAA-B31B-D4AA-8D87-1BBF27758DBE}"/>
              </a:ext>
            </a:extLst>
          </p:cNvPr>
          <p:cNvSpPr/>
          <p:nvPr userDrawn="1"/>
        </p:nvSpPr>
        <p:spPr>
          <a:xfrm>
            <a:off x="2" y="1"/>
            <a:ext cx="237325" cy="1058809"/>
          </a:xfrm>
          <a:prstGeom prst="rect">
            <a:avLst/>
          </a:prstGeom>
          <a:solidFill>
            <a:srgbClr val="0E469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17">
              <a:solidFill>
                <a:srgbClr val="E8630A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1F83DC8-4939-47D5-1231-25936A7E1C9E}"/>
              </a:ext>
            </a:extLst>
          </p:cNvPr>
          <p:cNvGrpSpPr/>
          <p:nvPr userDrawn="1"/>
        </p:nvGrpSpPr>
        <p:grpSpPr>
          <a:xfrm>
            <a:off x="-2468880" y="1"/>
            <a:ext cx="2155180" cy="1417320"/>
            <a:chOff x="12618720" y="1341120"/>
            <a:chExt cx="2155180" cy="2087880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5774AF2-E121-9203-16B5-4076F145A8E5}"/>
                </a:ext>
              </a:extLst>
            </p:cNvPr>
            <p:cNvSpPr/>
            <p:nvPr userDrawn="1"/>
          </p:nvSpPr>
          <p:spPr>
            <a:xfrm>
              <a:off x="12618720" y="1341120"/>
              <a:ext cx="716280" cy="2087880"/>
            </a:xfrm>
            <a:prstGeom prst="rect">
              <a:avLst/>
            </a:prstGeom>
            <a:solidFill>
              <a:srgbClr val="0E46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17" dirty="0">
                <a:solidFill>
                  <a:srgbClr val="0E2841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03F6AE2A-9167-9A51-066E-72E5DCB3E51A}"/>
                </a:ext>
              </a:extLst>
            </p:cNvPr>
            <p:cNvSpPr/>
            <p:nvPr userDrawn="1"/>
          </p:nvSpPr>
          <p:spPr>
            <a:xfrm>
              <a:off x="13341340" y="1341120"/>
              <a:ext cx="716280" cy="2087880"/>
            </a:xfrm>
            <a:prstGeom prst="rect">
              <a:avLst/>
            </a:prstGeom>
            <a:solidFill>
              <a:srgbClr val="2F79B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17">
                <a:solidFill>
                  <a:srgbClr val="0E284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D69BF0CB-9F50-6C25-16C5-4B2F59FF1C9B}"/>
                </a:ext>
              </a:extLst>
            </p:cNvPr>
            <p:cNvSpPr/>
            <p:nvPr userDrawn="1"/>
          </p:nvSpPr>
          <p:spPr>
            <a:xfrm>
              <a:off x="14057620" y="1341120"/>
              <a:ext cx="716280" cy="2087880"/>
            </a:xfrm>
            <a:prstGeom prst="rect">
              <a:avLst/>
            </a:prstGeom>
            <a:solidFill>
              <a:srgbClr val="80B0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17">
                <a:solidFill>
                  <a:srgbClr val="0E2841"/>
                </a:solidFill>
              </a:endParaRPr>
            </a:p>
          </p:txBody>
        </p:sp>
      </p:grp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FA101640-17EE-E08D-DBA7-64D319D354B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978900" y="107950"/>
            <a:ext cx="2743200" cy="365125"/>
          </a:xfrm>
        </p:spPr>
        <p:txBody>
          <a:bodyPr/>
          <a:lstStyle>
            <a:lvl1pPr>
              <a:defRPr sz="1400">
                <a:latin typeface="나눔스퀘어_ac ExtraBold" panose="020B0600000101010101" pitchFamily="50" charset="-127"/>
                <a:ea typeface="나눔스퀘어_ac ExtraBold" panose="020B0600000101010101" pitchFamily="50" charset="-127"/>
              </a:defRPr>
            </a:lvl1pPr>
          </a:lstStyle>
          <a:p>
            <a:fld id="{424E44EA-8BB9-4356-A6E2-F3B626433E95}" type="slidenum">
              <a:rPr lang="ko-KR" altLang="en-US" smtClean="0"/>
              <a:pPr/>
              <a:t>‹#›</a:t>
            </a:fld>
            <a:endParaRPr lang="ko-KR" altLang="en-US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" name="텍스트 개체 틀 29">
            <a:extLst>
              <a:ext uri="{FF2B5EF4-FFF2-40B4-BE49-F238E27FC236}">
                <a16:creationId xmlns:a16="http://schemas.microsoft.com/office/drawing/2014/main" id="{7CCA795B-5758-1874-327D-150DB2840C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7003" y="122767"/>
            <a:ext cx="5771878" cy="420687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rgbClr val="0E469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</p:spTree>
    <p:extLst>
      <p:ext uri="{BB962C8B-B14F-4D97-AF65-F5344CB8AC3E}">
        <p14:creationId xmlns:p14="http://schemas.microsoft.com/office/powerpoint/2010/main" val="1441193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4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6CB01618-4727-D3E0-651E-11E90B3F53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/>
          </a:stretch>
        </p:blipFill>
        <p:spPr>
          <a:xfrm>
            <a:off x="5687180" y="0"/>
            <a:ext cx="7230560" cy="68580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2221AEF-905D-F9A6-CF6F-2C4D7446962E}"/>
              </a:ext>
            </a:extLst>
          </p:cNvPr>
          <p:cNvSpPr txBox="1"/>
          <p:nvPr userDrawn="1"/>
        </p:nvSpPr>
        <p:spPr>
          <a:xfrm>
            <a:off x="206095" y="6030896"/>
            <a:ext cx="3355429" cy="645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21588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58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A</a:t>
            </a:r>
            <a:r>
              <a:rPr kumimoji="0" lang="ko-KR" altLang="en-US" sz="1258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반 </a:t>
            </a:r>
            <a:r>
              <a:rPr kumimoji="0" lang="en-US" altLang="ko-KR" sz="1258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2</a:t>
            </a:r>
            <a:r>
              <a:rPr kumimoji="0" lang="ko-KR" altLang="en-US" sz="1258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조</a:t>
            </a:r>
            <a:endParaRPr kumimoji="0" lang="en-US" altLang="ko-KR" sz="1258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  <a:p>
            <a:pPr marL="0" marR="0" lvl="0" indent="0" algn="l" defTabSz="821588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8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김정완</a:t>
            </a:r>
            <a:r>
              <a:rPr kumimoji="0" lang="ko-KR" altLang="en-US" sz="1258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</a:t>
            </a:r>
            <a:r>
              <a:rPr kumimoji="0" lang="ko-KR" altLang="en-US" sz="1258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박중호</a:t>
            </a:r>
            <a:r>
              <a:rPr kumimoji="0" lang="ko-KR" altLang="en-US" sz="1258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</a:t>
            </a:r>
            <a:r>
              <a:rPr kumimoji="0" lang="ko-KR" altLang="en-US" sz="1258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이환우</a:t>
            </a:r>
            <a:r>
              <a:rPr kumimoji="0" lang="ko-KR" altLang="en-US" sz="1258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윤지희 윤희경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ECA5971-233E-6571-1DCC-AA5DF50D0FD1}"/>
              </a:ext>
            </a:extLst>
          </p:cNvPr>
          <p:cNvSpPr/>
          <p:nvPr userDrawn="1"/>
        </p:nvSpPr>
        <p:spPr>
          <a:xfrm>
            <a:off x="5670800" y="0"/>
            <a:ext cx="7232400" cy="6858000"/>
          </a:xfrm>
          <a:prstGeom prst="rect">
            <a:avLst/>
          </a:prstGeom>
          <a:gradFill flip="none" rotWithShape="1">
            <a:gsLst>
              <a:gs pos="44469">
                <a:srgbClr val="FFFFFF">
                  <a:alpha val="46000"/>
                </a:srgbClr>
              </a:gs>
              <a:gs pos="0">
                <a:schemeClr val="bg1">
                  <a:lumMod val="100000"/>
                  <a:alpha val="98000"/>
                </a:schemeClr>
              </a:gs>
              <a:gs pos="81000">
                <a:schemeClr val="bg1">
                  <a:lumMod val="100000"/>
                  <a:alpha val="1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17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5C61523-5535-6BA5-E303-0888E62179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5220" y="2429811"/>
            <a:ext cx="7140543" cy="840856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5391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96000">
                    <a:srgbClr val="0E469D"/>
                  </a:gs>
                  <a:gs pos="43000">
                    <a:srgbClr val="2F79BA"/>
                  </a:gs>
                  <a:gs pos="0">
                    <a:srgbClr val="8996A9"/>
                  </a:gs>
                </a:gsLst>
                <a:lin ang="10800000" scaled="1"/>
                <a:tileRect/>
              </a:gradFill>
              <a:effectLst/>
              <a:uLnTx/>
              <a:uFillTx/>
              <a:latin typeface="나눔스퀘어_ac ExtraBold" panose="020B0600000101010101" pitchFamily="50" charset="-127"/>
              <a:ea typeface="나눔스퀘어_ac ExtraBold" panose="020B0600000101010101" pitchFamily="50" charset="-127"/>
              <a:cs typeface="+mn-cs"/>
            </a:endParaRPr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7D2DBD83-E934-50FA-3F54-E32AB028ECCE}"/>
              </a:ext>
            </a:extLst>
          </p:cNvPr>
          <p:cNvSpPr/>
          <p:nvPr userDrawn="1"/>
        </p:nvSpPr>
        <p:spPr>
          <a:xfrm flipV="1">
            <a:off x="-4808427" y="-8268510"/>
            <a:ext cx="19455" cy="83582"/>
          </a:xfrm>
          <a:custGeom>
            <a:avLst/>
            <a:gdLst>
              <a:gd name="csX0" fmla="*/ 0 w 19455"/>
              <a:gd name="csY0" fmla="*/ 83582 h 83582"/>
              <a:gd name="csX1" fmla="*/ 19455 w 19455"/>
              <a:gd name="csY1" fmla="*/ 83582 h 83582"/>
              <a:gd name="csX2" fmla="*/ 19455 w 19455"/>
              <a:gd name="csY2" fmla="*/ 0 h 83582"/>
              <a:gd name="csX3" fmla="*/ 0 w 19455"/>
              <a:gd name="csY3" fmla="*/ 44672 h 83582"/>
              <a:gd name="csX4" fmla="*/ 0 w 19455"/>
              <a:gd name="csY4" fmla="*/ 83582 h 835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9455" h="83582">
                <a:moveTo>
                  <a:pt x="0" y="83582"/>
                </a:moveTo>
                <a:lnTo>
                  <a:pt x="19455" y="83582"/>
                </a:lnTo>
                <a:lnTo>
                  <a:pt x="19455" y="0"/>
                </a:lnTo>
                <a:lnTo>
                  <a:pt x="0" y="44672"/>
                </a:lnTo>
                <a:lnTo>
                  <a:pt x="0" y="83582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986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4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2C085332-C7E5-EA38-5333-D638FD4B32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6398893" y="0"/>
            <a:ext cx="5834345" cy="6858000"/>
          </a:xfrm>
          <a:custGeom>
            <a:avLst/>
            <a:gdLst>
              <a:gd name="connsiteX0" fmla="*/ 1843722 w 5834345"/>
              <a:gd name="connsiteY0" fmla="*/ 0 h 6858000"/>
              <a:gd name="connsiteX1" fmla="*/ 5834345 w 5834345"/>
              <a:gd name="connsiteY1" fmla="*/ 0 h 6858000"/>
              <a:gd name="connsiteX2" fmla="*/ 5834345 w 5834345"/>
              <a:gd name="connsiteY2" fmla="*/ 6858000 h 6858000"/>
              <a:gd name="connsiteX3" fmla="*/ 0 w 5834345"/>
              <a:gd name="connsiteY3" fmla="*/ 6858000 h 6858000"/>
              <a:gd name="connsiteX4" fmla="*/ 1843722 w 583434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4345" h="6858000">
                <a:moveTo>
                  <a:pt x="1843722" y="0"/>
                </a:moveTo>
                <a:lnTo>
                  <a:pt x="5834345" y="0"/>
                </a:lnTo>
                <a:lnTo>
                  <a:pt x="5834345" y="6858000"/>
                </a:lnTo>
                <a:lnTo>
                  <a:pt x="0" y="6858000"/>
                </a:lnTo>
                <a:lnTo>
                  <a:pt x="1843722" y="0"/>
                </a:lnTo>
                <a:close/>
              </a:path>
            </a:pathLst>
          </a:custGeom>
          <a:effectLst>
            <a:outerShdw blurRad="50800" dist="38100" dir="8100000" algn="tr" rotWithShape="0">
              <a:schemeClr val="bg2">
                <a:lumMod val="90000"/>
                <a:alpha val="40000"/>
              </a:schemeClr>
            </a:outerShdw>
          </a:effectLst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780BE7D-634A-F032-4EAF-DE337031854B}"/>
              </a:ext>
            </a:extLst>
          </p:cNvPr>
          <p:cNvCxnSpPr>
            <a:cxnSpLocks/>
          </p:cNvCxnSpPr>
          <p:nvPr userDrawn="1"/>
        </p:nvCxnSpPr>
        <p:spPr>
          <a:xfrm>
            <a:off x="904242" y="1374142"/>
            <a:ext cx="988350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C903C57-B0B8-CF55-C5AF-FFF3DDE395CB}"/>
              </a:ext>
            </a:extLst>
          </p:cNvPr>
          <p:cNvSpPr txBox="1"/>
          <p:nvPr userDrawn="1"/>
        </p:nvSpPr>
        <p:spPr>
          <a:xfrm>
            <a:off x="904242" y="277195"/>
            <a:ext cx="7029752" cy="92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5400" dirty="0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contents</a:t>
            </a:r>
            <a:endParaRPr lang="ko-KR" altLang="en-US" sz="5400" dirty="0">
              <a:gradFill flip="none" rotWithShape="1">
                <a:gsLst>
                  <a:gs pos="96000">
                    <a:srgbClr val="0E469D"/>
                  </a:gs>
                  <a:gs pos="43000">
                    <a:srgbClr val="2F79BA"/>
                  </a:gs>
                  <a:gs pos="0">
                    <a:srgbClr val="8996A9"/>
                  </a:gs>
                </a:gsLst>
                <a:lin ang="10800000" scaled="1"/>
                <a:tileRect/>
              </a:gra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2A128CF-43AC-4349-D780-46ECAA3AB00B}"/>
              </a:ext>
            </a:extLst>
          </p:cNvPr>
          <p:cNvGrpSpPr/>
          <p:nvPr userDrawn="1"/>
        </p:nvGrpSpPr>
        <p:grpSpPr>
          <a:xfrm>
            <a:off x="-2468880" y="1"/>
            <a:ext cx="2155180" cy="1417320"/>
            <a:chOff x="12618720" y="1341120"/>
            <a:chExt cx="2155180" cy="2087880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D4F97FA-29DC-14BC-FAFF-DDAED03F6A66}"/>
                </a:ext>
              </a:extLst>
            </p:cNvPr>
            <p:cNvSpPr/>
            <p:nvPr userDrawn="1"/>
          </p:nvSpPr>
          <p:spPr>
            <a:xfrm>
              <a:off x="12618720" y="1341120"/>
              <a:ext cx="716280" cy="2087880"/>
            </a:xfrm>
            <a:prstGeom prst="rect">
              <a:avLst/>
            </a:prstGeom>
            <a:solidFill>
              <a:srgbClr val="0E46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17" dirty="0">
                <a:solidFill>
                  <a:srgbClr val="0E2841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DF9953D-5146-AF7E-19D2-A19FE61700C3}"/>
                </a:ext>
              </a:extLst>
            </p:cNvPr>
            <p:cNvSpPr/>
            <p:nvPr userDrawn="1"/>
          </p:nvSpPr>
          <p:spPr>
            <a:xfrm>
              <a:off x="13341340" y="1341120"/>
              <a:ext cx="716280" cy="2087880"/>
            </a:xfrm>
            <a:prstGeom prst="rect">
              <a:avLst/>
            </a:prstGeom>
            <a:solidFill>
              <a:srgbClr val="2F79B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17">
                <a:solidFill>
                  <a:srgbClr val="0E2841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7DC1350-91B7-898B-D621-9F96DCC55609}"/>
                </a:ext>
              </a:extLst>
            </p:cNvPr>
            <p:cNvSpPr/>
            <p:nvPr userDrawn="1"/>
          </p:nvSpPr>
          <p:spPr>
            <a:xfrm>
              <a:off x="14057620" y="1341120"/>
              <a:ext cx="716280" cy="2087880"/>
            </a:xfrm>
            <a:prstGeom prst="rect">
              <a:avLst/>
            </a:prstGeom>
            <a:solidFill>
              <a:srgbClr val="80B0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17">
                <a:solidFill>
                  <a:srgbClr val="0E284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2B7496C-5311-E7C7-79E8-F24B8D206CF2}"/>
              </a:ext>
            </a:extLst>
          </p:cNvPr>
          <p:cNvSpPr txBox="1"/>
          <p:nvPr userDrawn="1"/>
        </p:nvSpPr>
        <p:spPr>
          <a:xfrm>
            <a:off x="1190317" y="1666574"/>
            <a:ext cx="70297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3200" dirty="0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0</a:t>
            </a:r>
            <a:r>
              <a:rPr lang="en-US" altLang="ko-KR" sz="3200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 </a:t>
            </a:r>
            <a:r>
              <a:rPr lang="ko-KR" altLang="en-US" sz="3200" dirty="0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기업소개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25099C-3E5C-A9C4-AAAC-A0F4BA7C40B1}"/>
              </a:ext>
            </a:extLst>
          </p:cNvPr>
          <p:cNvSpPr txBox="1"/>
          <p:nvPr userDrawn="1"/>
        </p:nvSpPr>
        <p:spPr>
          <a:xfrm>
            <a:off x="1190317" y="2370135"/>
            <a:ext cx="70297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3200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1. </a:t>
            </a:r>
            <a:r>
              <a:rPr lang="ko-KR" altLang="en-US" sz="3200" dirty="0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추진배경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4EBB0F-FCEE-4504-5ADB-C68AC12057E7}"/>
              </a:ext>
            </a:extLst>
          </p:cNvPr>
          <p:cNvSpPr txBox="1"/>
          <p:nvPr userDrawn="1"/>
        </p:nvSpPr>
        <p:spPr>
          <a:xfrm>
            <a:off x="1190317" y="3073696"/>
            <a:ext cx="70297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3200" dirty="0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2. </a:t>
            </a:r>
            <a:r>
              <a:rPr lang="ko-KR" altLang="en-US" sz="3200" dirty="0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현상 및 개선기회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BBD99E-0882-3DBE-50A1-AB5E19AC6E16}"/>
              </a:ext>
            </a:extLst>
          </p:cNvPr>
          <p:cNvSpPr txBox="1"/>
          <p:nvPr userDrawn="1"/>
        </p:nvSpPr>
        <p:spPr>
          <a:xfrm>
            <a:off x="1190317" y="3777257"/>
            <a:ext cx="70297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3200" dirty="0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 </a:t>
            </a:r>
            <a:r>
              <a:rPr lang="ko-KR" altLang="en-US" sz="3200" dirty="0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분석계획 및 분석결과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B0AC3B-AFBA-CA33-B9A0-32A30006CCA6}"/>
              </a:ext>
            </a:extLst>
          </p:cNvPr>
          <p:cNvSpPr txBox="1"/>
          <p:nvPr userDrawn="1"/>
        </p:nvSpPr>
        <p:spPr>
          <a:xfrm>
            <a:off x="1190317" y="4480818"/>
            <a:ext cx="70297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3200" dirty="0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4. </a:t>
            </a:r>
            <a:r>
              <a:rPr lang="ko-KR" altLang="en-US" sz="3200" dirty="0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개선안 및 적용방안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8346A3-2D80-5EF4-FF1F-A7881B362B8A}"/>
              </a:ext>
            </a:extLst>
          </p:cNvPr>
          <p:cNvSpPr txBox="1"/>
          <p:nvPr userDrawn="1"/>
        </p:nvSpPr>
        <p:spPr>
          <a:xfrm>
            <a:off x="1190317" y="5184379"/>
            <a:ext cx="70297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3200" dirty="0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5. </a:t>
            </a:r>
            <a:r>
              <a:rPr lang="ko-KR" altLang="en-US" sz="3200" dirty="0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1F327D-8466-681E-F501-E3A720D2250D}"/>
              </a:ext>
            </a:extLst>
          </p:cNvPr>
          <p:cNvSpPr txBox="1"/>
          <p:nvPr userDrawn="1"/>
        </p:nvSpPr>
        <p:spPr>
          <a:xfrm>
            <a:off x="1190317" y="5887940"/>
            <a:ext cx="70297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3200" dirty="0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6. Learned Lesson</a:t>
            </a:r>
            <a:endParaRPr lang="ko-KR" altLang="en-US" sz="3200" dirty="0">
              <a:gradFill flip="none" rotWithShape="1">
                <a:gsLst>
                  <a:gs pos="96000">
                    <a:srgbClr val="0E469D"/>
                  </a:gs>
                  <a:gs pos="43000">
                    <a:srgbClr val="2F79BA"/>
                  </a:gs>
                  <a:gs pos="0">
                    <a:srgbClr val="8996A9"/>
                  </a:gs>
                </a:gsLst>
                <a:lin ang="10800000" scaled="1"/>
                <a:tileRect/>
              </a:gra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946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4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2C085332-C7E5-EA38-5333-D638FD4B32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6398893" y="0"/>
            <a:ext cx="5834345" cy="6858000"/>
          </a:xfrm>
          <a:custGeom>
            <a:avLst/>
            <a:gdLst>
              <a:gd name="connsiteX0" fmla="*/ 1843722 w 5834345"/>
              <a:gd name="connsiteY0" fmla="*/ 0 h 6858000"/>
              <a:gd name="connsiteX1" fmla="*/ 5834345 w 5834345"/>
              <a:gd name="connsiteY1" fmla="*/ 0 h 6858000"/>
              <a:gd name="connsiteX2" fmla="*/ 5834345 w 5834345"/>
              <a:gd name="connsiteY2" fmla="*/ 6858000 h 6858000"/>
              <a:gd name="connsiteX3" fmla="*/ 0 w 5834345"/>
              <a:gd name="connsiteY3" fmla="*/ 6858000 h 6858000"/>
              <a:gd name="connsiteX4" fmla="*/ 1843722 w 583434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4345" h="6858000">
                <a:moveTo>
                  <a:pt x="1843722" y="0"/>
                </a:moveTo>
                <a:lnTo>
                  <a:pt x="5834345" y="0"/>
                </a:lnTo>
                <a:lnTo>
                  <a:pt x="5834345" y="6858000"/>
                </a:lnTo>
                <a:lnTo>
                  <a:pt x="0" y="6858000"/>
                </a:lnTo>
                <a:lnTo>
                  <a:pt x="1843722" y="0"/>
                </a:lnTo>
                <a:close/>
              </a:path>
            </a:pathLst>
          </a:custGeom>
          <a:effectLst>
            <a:outerShdw blurRad="50800" dist="38100" dir="8100000" algn="tr" rotWithShape="0">
              <a:schemeClr val="bg2">
                <a:lumMod val="90000"/>
                <a:alpha val="40000"/>
              </a:schemeClr>
            </a:outerShdw>
          </a:effectLst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780BE7D-634A-F032-4EAF-DE337031854B}"/>
              </a:ext>
            </a:extLst>
          </p:cNvPr>
          <p:cNvCxnSpPr>
            <a:cxnSpLocks/>
          </p:cNvCxnSpPr>
          <p:nvPr userDrawn="1"/>
        </p:nvCxnSpPr>
        <p:spPr>
          <a:xfrm>
            <a:off x="904242" y="3977476"/>
            <a:ext cx="988350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C903C57-B0B8-CF55-C5AF-FFF3DDE395CB}"/>
              </a:ext>
            </a:extLst>
          </p:cNvPr>
          <p:cNvSpPr txBox="1"/>
          <p:nvPr userDrawn="1"/>
        </p:nvSpPr>
        <p:spPr>
          <a:xfrm>
            <a:off x="1190317" y="2880529"/>
            <a:ext cx="7029752" cy="92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5391" dirty="0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추진배경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801C10-8E54-7305-8D27-8846FAECB258}"/>
              </a:ext>
            </a:extLst>
          </p:cNvPr>
          <p:cNvSpPr txBox="1"/>
          <p:nvPr userDrawn="1"/>
        </p:nvSpPr>
        <p:spPr>
          <a:xfrm>
            <a:off x="7648093" y="2653881"/>
            <a:ext cx="2422155" cy="1309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907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01</a:t>
            </a:r>
            <a:endParaRPr lang="ko-KR" altLang="en-US" sz="7907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A9415B2-E2BF-99BD-CE16-66745D5ED8AB}"/>
              </a:ext>
            </a:extLst>
          </p:cNvPr>
          <p:cNvCxnSpPr>
            <a:cxnSpLocks/>
          </p:cNvCxnSpPr>
          <p:nvPr userDrawn="1"/>
        </p:nvCxnSpPr>
        <p:spPr>
          <a:xfrm>
            <a:off x="7177860" y="3977476"/>
            <a:ext cx="219199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2A128CF-43AC-4349-D780-46ECAA3AB00B}"/>
              </a:ext>
            </a:extLst>
          </p:cNvPr>
          <p:cNvGrpSpPr/>
          <p:nvPr userDrawn="1"/>
        </p:nvGrpSpPr>
        <p:grpSpPr>
          <a:xfrm>
            <a:off x="-2468880" y="1"/>
            <a:ext cx="2155180" cy="1417320"/>
            <a:chOff x="12618720" y="1341120"/>
            <a:chExt cx="2155180" cy="2087880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D4F97FA-29DC-14BC-FAFF-DDAED03F6A66}"/>
                </a:ext>
              </a:extLst>
            </p:cNvPr>
            <p:cNvSpPr/>
            <p:nvPr userDrawn="1"/>
          </p:nvSpPr>
          <p:spPr>
            <a:xfrm>
              <a:off x="12618720" y="1341120"/>
              <a:ext cx="716280" cy="2087880"/>
            </a:xfrm>
            <a:prstGeom prst="rect">
              <a:avLst/>
            </a:prstGeom>
            <a:solidFill>
              <a:srgbClr val="0E46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17" dirty="0">
                <a:solidFill>
                  <a:srgbClr val="0E2841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DF9953D-5146-AF7E-19D2-A19FE61700C3}"/>
                </a:ext>
              </a:extLst>
            </p:cNvPr>
            <p:cNvSpPr/>
            <p:nvPr userDrawn="1"/>
          </p:nvSpPr>
          <p:spPr>
            <a:xfrm>
              <a:off x="13341340" y="1341120"/>
              <a:ext cx="716280" cy="2087880"/>
            </a:xfrm>
            <a:prstGeom prst="rect">
              <a:avLst/>
            </a:prstGeom>
            <a:solidFill>
              <a:srgbClr val="2F79B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17">
                <a:solidFill>
                  <a:srgbClr val="0E2841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7DC1350-91B7-898B-D621-9F96DCC55609}"/>
                </a:ext>
              </a:extLst>
            </p:cNvPr>
            <p:cNvSpPr/>
            <p:nvPr userDrawn="1"/>
          </p:nvSpPr>
          <p:spPr>
            <a:xfrm>
              <a:off x="14057620" y="1341120"/>
              <a:ext cx="716280" cy="2087880"/>
            </a:xfrm>
            <a:prstGeom prst="rect">
              <a:avLst/>
            </a:prstGeom>
            <a:solidFill>
              <a:srgbClr val="80B0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17">
                <a:solidFill>
                  <a:srgbClr val="0E284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54522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4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4CC94ED-E805-332F-1244-5077E0B2CE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6398893" y="0"/>
            <a:ext cx="5834345" cy="6858000"/>
          </a:xfrm>
          <a:custGeom>
            <a:avLst/>
            <a:gdLst>
              <a:gd name="connsiteX0" fmla="*/ 1843722 w 5834345"/>
              <a:gd name="connsiteY0" fmla="*/ 0 h 6858000"/>
              <a:gd name="connsiteX1" fmla="*/ 5834345 w 5834345"/>
              <a:gd name="connsiteY1" fmla="*/ 0 h 6858000"/>
              <a:gd name="connsiteX2" fmla="*/ 5834345 w 5834345"/>
              <a:gd name="connsiteY2" fmla="*/ 6858000 h 6858000"/>
              <a:gd name="connsiteX3" fmla="*/ 0 w 5834345"/>
              <a:gd name="connsiteY3" fmla="*/ 6858000 h 6858000"/>
              <a:gd name="connsiteX4" fmla="*/ 1843722 w 583434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4345" h="6858000">
                <a:moveTo>
                  <a:pt x="1843722" y="0"/>
                </a:moveTo>
                <a:lnTo>
                  <a:pt x="5834345" y="0"/>
                </a:lnTo>
                <a:lnTo>
                  <a:pt x="5834345" y="6858000"/>
                </a:lnTo>
                <a:lnTo>
                  <a:pt x="0" y="6858000"/>
                </a:lnTo>
                <a:lnTo>
                  <a:pt x="1843722" y="0"/>
                </a:lnTo>
                <a:close/>
              </a:path>
            </a:pathLst>
          </a:custGeom>
          <a:effectLst>
            <a:outerShdw blurRad="50800" dist="38100" dir="8100000" algn="tr" rotWithShape="0">
              <a:schemeClr val="bg2">
                <a:lumMod val="90000"/>
                <a:alpha val="40000"/>
              </a:schemeClr>
            </a:outerShdw>
          </a:effectLst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780BE7D-634A-F032-4EAF-DE337031854B}"/>
              </a:ext>
            </a:extLst>
          </p:cNvPr>
          <p:cNvCxnSpPr>
            <a:cxnSpLocks/>
          </p:cNvCxnSpPr>
          <p:nvPr userDrawn="1"/>
        </p:nvCxnSpPr>
        <p:spPr>
          <a:xfrm>
            <a:off x="904242" y="3977476"/>
            <a:ext cx="988350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C903C57-B0B8-CF55-C5AF-FFF3DDE395CB}"/>
              </a:ext>
            </a:extLst>
          </p:cNvPr>
          <p:cNvSpPr txBox="1"/>
          <p:nvPr userDrawn="1"/>
        </p:nvSpPr>
        <p:spPr>
          <a:xfrm>
            <a:off x="1190317" y="2880529"/>
            <a:ext cx="7029752" cy="92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5391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부록</a:t>
            </a:r>
            <a:endParaRPr lang="ko-KR" altLang="en-US" sz="5391" dirty="0">
              <a:gradFill flip="none" rotWithShape="1">
                <a:gsLst>
                  <a:gs pos="96000">
                    <a:srgbClr val="0E469D"/>
                  </a:gs>
                  <a:gs pos="43000">
                    <a:srgbClr val="2F79BA"/>
                  </a:gs>
                  <a:gs pos="0">
                    <a:srgbClr val="8996A9"/>
                  </a:gs>
                </a:gsLst>
                <a:lin ang="10800000" scaled="1"/>
                <a:tileRect/>
              </a:gra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9627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4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4CC94ED-E805-332F-1244-5077E0B2CE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6398893" y="0"/>
            <a:ext cx="5834345" cy="6858000"/>
          </a:xfrm>
          <a:custGeom>
            <a:avLst/>
            <a:gdLst>
              <a:gd name="connsiteX0" fmla="*/ 1843722 w 5834345"/>
              <a:gd name="connsiteY0" fmla="*/ 0 h 6858000"/>
              <a:gd name="connsiteX1" fmla="*/ 5834345 w 5834345"/>
              <a:gd name="connsiteY1" fmla="*/ 0 h 6858000"/>
              <a:gd name="connsiteX2" fmla="*/ 5834345 w 5834345"/>
              <a:gd name="connsiteY2" fmla="*/ 6858000 h 6858000"/>
              <a:gd name="connsiteX3" fmla="*/ 0 w 5834345"/>
              <a:gd name="connsiteY3" fmla="*/ 6858000 h 6858000"/>
              <a:gd name="connsiteX4" fmla="*/ 1843722 w 583434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4345" h="6858000">
                <a:moveTo>
                  <a:pt x="1843722" y="0"/>
                </a:moveTo>
                <a:lnTo>
                  <a:pt x="5834345" y="0"/>
                </a:lnTo>
                <a:lnTo>
                  <a:pt x="5834345" y="6858000"/>
                </a:lnTo>
                <a:lnTo>
                  <a:pt x="0" y="6858000"/>
                </a:lnTo>
                <a:lnTo>
                  <a:pt x="1843722" y="0"/>
                </a:lnTo>
                <a:close/>
              </a:path>
            </a:pathLst>
          </a:custGeom>
          <a:effectLst>
            <a:outerShdw blurRad="50800" dist="38100" dir="8100000" algn="tr" rotWithShape="0">
              <a:schemeClr val="bg2">
                <a:lumMod val="90000"/>
                <a:alpha val="40000"/>
              </a:schemeClr>
            </a:outerShdw>
          </a:effectLst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780BE7D-634A-F032-4EAF-DE337031854B}"/>
              </a:ext>
            </a:extLst>
          </p:cNvPr>
          <p:cNvCxnSpPr>
            <a:cxnSpLocks/>
          </p:cNvCxnSpPr>
          <p:nvPr userDrawn="1"/>
        </p:nvCxnSpPr>
        <p:spPr>
          <a:xfrm>
            <a:off x="904242" y="3977476"/>
            <a:ext cx="988350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C903C57-B0B8-CF55-C5AF-FFF3DDE395CB}"/>
              </a:ext>
            </a:extLst>
          </p:cNvPr>
          <p:cNvSpPr txBox="1"/>
          <p:nvPr userDrawn="1"/>
        </p:nvSpPr>
        <p:spPr>
          <a:xfrm>
            <a:off x="1190317" y="2880529"/>
            <a:ext cx="7029752" cy="92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5391" dirty="0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시연영상</a:t>
            </a:r>
          </a:p>
        </p:txBody>
      </p:sp>
    </p:spTree>
    <p:extLst>
      <p:ext uri="{BB962C8B-B14F-4D97-AF65-F5344CB8AC3E}">
        <p14:creationId xmlns:p14="http://schemas.microsoft.com/office/powerpoint/2010/main" val="2887542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4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1F43627-BCE3-C6AA-9841-67BCFC97E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DEA67A-B80C-4965-6D07-729A37D46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E79E19-7335-E233-AC8E-0DBC0176B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1CD0CC-B1E5-D342-600C-72F3AF934C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579F56-DA89-DC5C-60FA-2EC1361A40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4E44EA-8BB9-4356-A6E2-F3B626433E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5434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8" r:id="rId3"/>
    <p:sldLayoutId id="2147483665" r:id="rId4"/>
    <p:sldLayoutId id="2147483667" r:id="rId5"/>
    <p:sldLayoutId id="2147483666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6.sv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5.png"/><Relationship Id="rId9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sv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svg"/><Relationship Id="rId5" Type="http://schemas.openxmlformats.org/officeDocument/2006/relationships/image" Target="../media/image54.svg"/><Relationship Id="rId4" Type="http://schemas.openxmlformats.org/officeDocument/2006/relationships/image" Target="../media/image5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finance.naver.com/item/coinfo.naver?code=017670" TargetMode="External"/><Relationship Id="rId2" Type="http://schemas.openxmlformats.org/officeDocument/2006/relationships/hyperlink" Target="https://economist.co.kr/article/view/ecn202404300008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news.nate.com/view/20231124n22184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9.emf"/><Relationship Id="rId4" Type="http://schemas.openxmlformats.org/officeDocument/2006/relationships/image" Target="../media/image68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09B332C-1241-B440-788F-B10E61F5DBFC}"/>
              </a:ext>
            </a:extLst>
          </p:cNvPr>
          <p:cNvSpPr txBox="1"/>
          <p:nvPr/>
        </p:nvSpPr>
        <p:spPr>
          <a:xfrm>
            <a:off x="181600" y="511818"/>
            <a:ext cx="6494368" cy="10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(</a:t>
            </a:r>
            <a:r>
              <a:rPr lang="ko-KR" altLang="en-US" sz="2800" dirty="0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주</a:t>
            </a:r>
            <a:r>
              <a:rPr lang="en-US" altLang="ko-KR" sz="2800" dirty="0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)</a:t>
            </a:r>
            <a:r>
              <a:rPr lang="ko-KR" altLang="en-US" sz="4400" dirty="0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ko-KR" altLang="en-US" sz="4400" dirty="0" err="1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판다스</a:t>
            </a:r>
            <a:r>
              <a:rPr lang="ko-KR" altLang="en-US" sz="4400" dirty="0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텔레콤</a:t>
            </a:r>
            <a:endParaRPr lang="en-US" altLang="ko-KR" sz="4400" dirty="0">
              <a:gradFill flip="none" rotWithShape="1">
                <a:gsLst>
                  <a:gs pos="96000">
                    <a:srgbClr val="0E469D"/>
                  </a:gs>
                  <a:gs pos="43000">
                    <a:srgbClr val="2F79BA"/>
                  </a:gs>
                  <a:gs pos="0">
                    <a:srgbClr val="8996A9"/>
                  </a:gs>
                </a:gsLst>
                <a:lin ang="10800000" scaled="1"/>
                <a:tileRect/>
              </a:gra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E4C41BC-EA6A-E359-F9B6-E705AFCABE8E}"/>
              </a:ext>
            </a:extLst>
          </p:cNvPr>
          <p:cNvSpPr/>
          <p:nvPr/>
        </p:nvSpPr>
        <p:spPr>
          <a:xfrm>
            <a:off x="181600" y="1718733"/>
            <a:ext cx="2561600" cy="640959"/>
          </a:xfrm>
          <a:prstGeom prst="rect">
            <a:avLst/>
          </a:prstGeom>
          <a:gradFill flip="none" rotWithShape="1">
            <a:gsLst>
              <a:gs pos="68000">
                <a:srgbClr val="3161A4"/>
              </a:gs>
              <a:gs pos="0">
                <a:srgbClr val="8695A9"/>
              </a:gs>
              <a:gs pos="100000">
                <a:srgbClr val="1450A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40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LTV </a:t>
            </a:r>
            <a:r>
              <a:rPr lang="ko-KR" altLang="en-US" sz="40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등급화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28ADF3-11B1-BD54-078C-2930892C873B}"/>
              </a:ext>
            </a:extLst>
          </p:cNvPr>
          <p:cNvSpPr/>
          <p:nvPr/>
        </p:nvSpPr>
        <p:spPr>
          <a:xfrm>
            <a:off x="181599" y="2540000"/>
            <a:ext cx="3082041" cy="640959"/>
          </a:xfrm>
          <a:prstGeom prst="rect">
            <a:avLst/>
          </a:prstGeom>
          <a:gradFill flip="none" rotWithShape="1">
            <a:gsLst>
              <a:gs pos="68000">
                <a:srgbClr val="3161A4"/>
              </a:gs>
              <a:gs pos="0">
                <a:srgbClr val="8695A9"/>
              </a:gs>
              <a:gs pos="100000">
                <a:srgbClr val="1450A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40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고객 이탈 방지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3D2C0E-DA6B-8861-EFB5-BBE5098B7BDD}"/>
              </a:ext>
            </a:extLst>
          </p:cNvPr>
          <p:cNvSpPr txBox="1"/>
          <p:nvPr/>
        </p:nvSpPr>
        <p:spPr>
          <a:xfrm>
            <a:off x="2687734" y="1426218"/>
            <a:ext cx="1367801" cy="10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400" dirty="0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24010B-5874-5D27-A488-FDFE8E9D6643}"/>
              </a:ext>
            </a:extLst>
          </p:cNvPr>
          <p:cNvSpPr txBox="1"/>
          <p:nvPr/>
        </p:nvSpPr>
        <p:spPr>
          <a:xfrm>
            <a:off x="181600" y="3161885"/>
            <a:ext cx="4872999" cy="10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400" dirty="0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매출 향상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B7AC92-1069-382A-EAF8-9FD752D727F6}"/>
              </a:ext>
            </a:extLst>
          </p:cNvPr>
          <p:cNvSpPr txBox="1"/>
          <p:nvPr/>
        </p:nvSpPr>
        <p:spPr>
          <a:xfrm>
            <a:off x="3229601" y="2247485"/>
            <a:ext cx="2265266" cy="10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400" dirty="0" err="1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를</a:t>
            </a:r>
            <a:r>
              <a:rPr lang="ko-KR" altLang="en-US" sz="4400" dirty="0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통한</a:t>
            </a:r>
          </a:p>
        </p:txBody>
      </p:sp>
    </p:spTree>
    <p:extLst>
      <p:ext uri="{BB962C8B-B14F-4D97-AF65-F5344CB8AC3E}">
        <p14:creationId xmlns:p14="http://schemas.microsoft.com/office/powerpoint/2010/main" val="2376106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5147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7AA5F0E-C1F0-8B05-C42A-1002C810E8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기업소개</a:t>
            </a:r>
          </a:p>
        </p:txBody>
      </p:sp>
      <p:pic>
        <p:nvPicPr>
          <p:cNvPr id="4" name="그래픽 3" descr="셀 타워 단색으로 채워진">
            <a:extLst>
              <a:ext uri="{FF2B5EF4-FFF2-40B4-BE49-F238E27FC236}">
                <a16:creationId xmlns:a16="http://schemas.microsoft.com/office/drawing/2014/main" id="{E9D73B87-EDAB-6072-93A9-016D3746AD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84011" y="-1917486"/>
            <a:ext cx="774485" cy="7744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B6FBFE-7449-58A6-0457-F4291CCBCE9B}"/>
              </a:ext>
            </a:extLst>
          </p:cNvPr>
          <p:cNvSpPr txBox="1"/>
          <p:nvPr/>
        </p:nvSpPr>
        <p:spPr>
          <a:xfrm>
            <a:off x="2906829" y="-1856658"/>
            <a:ext cx="5897468" cy="759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800" dirty="0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ko-KR" altLang="en-US" sz="2800" dirty="0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주</a:t>
            </a:r>
            <a:r>
              <a:rPr lang="en-US" altLang="ko-KR" sz="2800" dirty="0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 </a:t>
            </a:r>
            <a:r>
              <a:rPr lang="en-US" altLang="ko-KR" sz="3200" dirty="0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Pandas </a:t>
            </a:r>
            <a:r>
              <a:rPr lang="ko-KR" altLang="en-US" sz="3200" dirty="0">
                <a:gradFill flip="none" rotWithShape="1">
                  <a:gsLst>
                    <a:gs pos="96000">
                      <a:srgbClr val="0E469D"/>
                    </a:gs>
                    <a:gs pos="43000">
                      <a:srgbClr val="2F79BA"/>
                    </a:gs>
                    <a:gs pos="0">
                      <a:srgbClr val="8996A9"/>
                    </a:gs>
                  </a:gsLst>
                  <a:lin ang="10800000" scaled="1"/>
                  <a:tileRect/>
                </a:gra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텔레콤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BC15E2-43A8-D5D2-47A7-DD16E18C4018}"/>
              </a:ext>
            </a:extLst>
          </p:cNvPr>
          <p:cNvSpPr txBox="1"/>
          <p:nvPr/>
        </p:nvSpPr>
        <p:spPr>
          <a:xfrm>
            <a:off x="8151207" y="4073803"/>
            <a:ext cx="3481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이통통신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고객 관리 플랫폼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멤버십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FD8881-581E-B134-5359-82343E9F9D3C}"/>
              </a:ext>
            </a:extLst>
          </p:cNvPr>
          <p:cNvSpPr txBox="1"/>
          <p:nvPr/>
        </p:nvSpPr>
        <p:spPr>
          <a:xfrm>
            <a:off x="8151207" y="2955520"/>
            <a:ext cx="2770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전국 이동통신 가입 고객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F8C555C-71B3-78BA-C414-5C78AA9BB3DB}"/>
              </a:ext>
            </a:extLst>
          </p:cNvPr>
          <p:cNvGrpSpPr/>
          <p:nvPr/>
        </p:nvGrpSpPr>
        <p:grpSpPr>
          <a:xfrm>
            <a:off x="1334532" y="2614754"/>
            <a:ext cx="3075843" cy="2069699"/>
            <a:chOff x="1525032" y="2817954"/>
            <a:chExt cx="3075843" cy="2069699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48A96FEB-DBC4-C5AC-EC02-7F7CDD58BD74}"/>
                </a:ext>
              </a:extLst>
            </p:cNvPr>
            <p:cNvCxnSpPr>
              <a:cxnSpLocks/>
            </p:cNvCxnSpPr>
            <p:nvPr/>
          </p:nvCxnSpPr>
          <p:spPr>
            <a:xfrm>
              <a:off x="1525032" y="2817954"/>
              <a:ext cx="2385266" cy="0"/>
            </a:xfrm>
            <a:prstGeom prst="line">
              <a:avLst/>
            </a:prstGeom>
            <a:ln>
              <a:gradFill flip="none" rotWithShape="1">
                <a:gsLst>
                  <a:gs pos="72000">
                    <a:srgbClr val="2F60A4"/>
                  </a:gs>
                  <a:gs pos="0">
                    <a:srgbClr val="8695A9">
                      <a:lumMod val="73000"/>
                      <a:lumOff val="27000"/>
                    </a:srgbClr>
                  </a:gs>
                  <a:gs pos="97000">
                    <a:srgbClr val="1450A2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09D3D01-5C0E-1522-6AD7-B42C429A399B}"/>
                </a:ext>
              </a:extLst>
            </p:cNvPr>
            <p:cNvSpPr txBox="1"/>
            <p:nvPr/>
          </p:nvSpPr>
          <p:spPr>
            <a:xfrm>
              <a:off x="1525032" y="2995614"/>
              <a:ext cx="3075843" cy="17143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회사명 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: Pandas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텔레콤</a:t>
              </a:r>
            </a:p>
            <a:p>
              <a:pPr>
                <a:lnSpc>
                  <a:spcPct val="150000"/>
                </a:lnSpc>
              </a:pP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설립일 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: 2008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년 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3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월 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22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일</a:t>
              </a:r>
            </a:p>
            <a:p>
              <a:pPr>
                <a:lnSpc>
                  <a:spcPct val="150000"/>
                </a:lnSpc>
              </a:pP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대표이사 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: </a:t>
              </a:r>
              <a:r>
                <a:rPr lang="ko-KR" altLang="en-US" dirty="0" err="1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이환우</a:t>
              </a:r>
              <a:endPara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사업장 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: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전국</a:t>
              </a: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D038E340-05A9-B0E8-5187-4A7BEB9663BB}"/>
                </a:ext>
              </a:extLst>
            </p:cNvPr>
            <p:cNvCxnSpPr>
              <a:cxnSpLocks/>
            </p:cNvCxnSpPr>
            <p:nvPr/>
          </p:nvCxnSpPr>
          <p:spPr>
            <a:xfrm>
              <a:off x="1525032" y="4887653"/>
              <a:ext cx="2385266" cy="0"/>
            </a:xfrm>
            <a:prstGeom prst="line">
              <a:avLst/>
            </a:prstGeom>
            <a:ln>
              <a:gradFill flip="none" rotWithShape="1">
                <a:gsLst>
                  <a:gs pos="72000">
                    <a:srgbClr val="2F60A4"/>
                  </a:gs>
                  <a:gs pos="0">
                    <a:srgbClr val="8695A9">
                      <a:lumMod val="73000"/>
                      <a:lumOff val="27000"/>
                    </a:srgbClr>
                  </a:gs>
                  <a:gs pos="97000">
                    <a:srgbClr val="1450A2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E40E32F3-29F6-6BE2-038E-747C59019F1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773064" y="711201"/>
            <a:ext cx="4645872" cy="1282700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DE4BDE9B-31A1-D7C0-79DF-0276B5087456}"/>
              </a:ext>
            </a:extLst>
          </p:cNvPr>
          <p:cNvGrpSpPr/>
          <p:nvPr/>
        </p:nvGrpSpPr>
        <p:grpSpPr>
          <a:xfrm>
            <a:off x="8086001" y="3520771"/>
            <a:ext cx="1568526" cy="414866"/>
            <a:chOff x="8130040" y="2373611"/>
            <a:chExt cx="1568526" cy="414866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CB1142A8-5332-790D-CD28-BF07EA73807D}"/>
                </a:ext>
              </a:extLst>
            </p:cNvPr>
            <p:cNvSpPr/>
            <p:nvPr/>
          </p:nvSpPr>
          <p:spPr>
            <a:xfrm>
              <a:off x="8143836" y="2373611"/>
              <a:ext cx="1540934" cy="41486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2CE834E-15FD-EEDD-EDF1-6F9B7D6AA863}"/>
                </a:ext>
              </a:extLst>
            </p:cNvPr>
            <p:cNvSpPr txBox="1"/>
            <p:nvPr/>
          </p:nvSpPr>
          <p:spPr>
            <a:xfrm>
              <a:off x="8130040" y="2396378"/>
              <a:ext cx="15685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주요 서비스</a:t>
              </a:r>
              <a:endPara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08C88EE2-78F5-8346-5733-61A0B49A652B}"/>
              </a:ext>
            </a:extLst>
          </p:cNvPr>
          <p:cNvGrpSpPr/>
          <p:nvPr/>
        </p:nvGrpSpPr>
        <p:grpSpPr>
          <a:xfrm>
            <a:off x="7261636" y="2373611"/>
            <a:ext cx="2392891" cy="614064"/>
            <a:chOff x="7261636" y="2373611"/>
            <a:chExt cx="2392891" cy="614064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C24BF990-B9EB-FC58-C18B-9AE7E643B125}"/>
                </a:ext>
              </a:extLst>
            </p:cNvPr>
            <p:cNvGrpSpPr/>
            <p:nvPr/>
          </p:nvGrpSpPr>
          <p:grpSpPr>
            <a:xfrm>
              <a:off x="8086001" y="2373611"/>
              <a:ext cx="1568526" cy="414866"/>
              <a:chOff x="8130040" y="2373611"/>
              <a:chExt cx="1568526" cy="414866"/>
            </a:xfrm>
          </p:grpSpPr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7C0CEDF1-4827-4F9E-054F-1AB3138EDF47}"/>
                  </a:ext>
                </a:extLst>
              </p:cNvPr>
              <p:cNvSpPr/>
              <p:nvPr/>
            </p:nvSpPr>
            <p:spPr>
              <a:xfrm>
                <a:off x="8143836" y="2373611"/>
                <a:ext cx="1540934" cy="41486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3EAD2F5-3BFE-F542-03AF-939028F63071}"/>
                  </a:ext>
                </a:extLst>
              </p:cNvPr>
              <p:cNvSpPr txBox="1"/>
              <p:nvPr/>
            </p:nvSpPr>
            <p:spPr>
              <a:xfrm>
                <a:off x="8130040" y="2396378"/>
                <a:ext cx="15685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주요 고객</a:t>
                </a:r>
                <a:endPara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</p:grpSp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9BA09DD9-487F-AD3E-71E0-C25AF89B05B7}"/>
                </a:ext>
              </a:extLst>
            </p:cNvPr>
            <p:cNvSpPr/>
            <p:nvPr/>
          </p:nvSpPr>
          <p:spPr>
            <a:xfrm>
              <a:off x="7261636" y="2584450"/>
              <a:ext cx="809625" cy="403225"/>
            </a:xfrm>
            <a:custGeom>
              <a:avLst/>
              <a:gdLst>
                <a:gd name="csX0" fmla="*/ 0 w 809625"/>
                <a:gd name="csY0" fmla="*/ 391619 h 391619"/>
                <a:gd name="csX1" fmla="*/ 254000 w 809625"/>
                <a:gd name="csY1" fmla="*/ 55069 h 391619"/>
                <a:gd name="csX2" fmla="*/ 809625 w 809625"/>
                <a:gd name="csY2" fmla="*/ 4269 h 391619"/>
                <a:gd name="csX0" fmla="*/ 0 w 809625"/>
                <a:gd name="csY0" fmla="*/ 387350 h 387350"/>
                <a:gd name="csX1" fmla="*/ 254000 w 809625"/>
                <a:gd name="csY1" fmla="*/ 50800 h 387350"/>
                <a:gd name="csX2" fmla="*/ 809625 w 809625"/>
                <a:gd name="csY2" fmla="*/ 0 h 387350"/>
                <a:gd name="csX0" fmla="*/ 0 w 809625"/>
                <a:gd name="csY0" fmla="*/ 387350 h 387350"/>
                <a:gd name="csX1" fmla="*/ 254000 w 809625"/>
                <a:gd name="csY1" fmla="*/ 50800 h 387350"/>
                <a:gd name="csX2" fmla="*/ 809625 w 809625"/>
                <a:gd name="csY2" fmla="*/ 0 h 387350"/>
                <a:gd name="csX0" fmla="*/ 0 w 809625"/>
                <a:gd name="csY0" fmla="*/ 403225 h 403225"/>
                <a:gd name="csX1" fmla="*/ 241300 w 809625"/>
                <a:gd name="csY1" fmla="*/ 0 h 403225"/>
                <a:gd name="csX2" fmla="*/ 809625 w 809625"/>
                <a:gd name="csY2" fmla="*/ 15875 h 403225"/>
                <a:gd name="csX0" fmla="*/ 0 w 809625"/>
                <a:gd name="csY0" fmla="*/ 403225 h 403225"/>
                <a:gd name="csX1" fmla="*/ 241300 w 809625"/>
                <a:gd name="csY1" fmla="*/ 0 h 403225"/>
                <a:gd name="csX2" fmla="*/ 809625 w 809625"/>
                <a:gd name="csY2" fmla="*/ 25400 h 403225"/>
                <a:gd name="csX0" fmla="*/ 0 w 809625"/>
                <a:gd name="csY0" fmla="*/ 403225 h 403225"/>
                <a:gd name="csX1" fmla="*/ 241300 w 809625"/>
                <a:gd name="csY1" fmla="*/ 0 h 403225"/>
                <a:gd name="csX2" fmla="*/ 809625 w 809625"/>
                <a:gd name="csY2" fmla="*/ 12700 h 403225"/>
                <a:gd name="csX0" fmla="*/ 0 w 809625"/>
                <a:gd name="csY0" fmla="*/ 403225 h 403225"/>
                <a:gd name="csX1" fmla="*/ 241300 w 809625"/>
                <a:gd name="csY1" fmla="*/ 0 h 403225"/>
                <a:gd name="csX2" fmla="*/ 809625 w 809625"/>
                <a:gd name="csY2" fmla="*/ 3175 h 4032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809625" h="403225">
                  <a:moveTo>
                    <a:pt x="0" y="403225"/>
                  </a:moveTo>
                  <a:lnTo>
                    <a:pt x="241300" y="0"/>
                  </a:lnTo>
                  <a:lnTo>
                    <a:pt x="809625" y="3175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8" name="자유형: 도형 27">
            <a:extLst>
              <a:ext uri="{FF2B5EF4-FFF2-40B4-BE49-F238E27FC236}">
                <a16:creationId xmlns:a16="http://schemas.microsoft.com/office/drawing/2014/main" id="{B2AD2C93-5F75-8290-F931-18CCA210FF2F}"/>
              </a:ext>
            </a:extLst>
          </p:cNvPr>
          <p:cNvSpPr/>
          <p:nvPr/>
        </p:nvSpPr>
        <p:spPr>
          <a:xfrm>
            <a:off x="7261636" y="3705344"/>
            <a:ext cx="809625" cy="403225"/>
          </a:xfrm>
          <a:custGeom>
            <a:avLst/>
            <a:gdLst>
              <a:gd name="csX0" fmla="*/ 0 w 809625"/>
              <a:gd name="csY0" fmla="*/ 391619 h 391619"/>
              <a:gd name="csX1" fmla="*/ 254000 w 809625"/>
              <a:gd name="csY1" fmla="*/ 55069 h 391619"/>
              <a:gd name="csX2" fmla="*/ 809625 w 809625"/>
              <a:gd name="csY2" fmla="*/ 4269 h 391619"/>
              <a:gd name="csX0" fmla="*/ 0 w 809625"/>
              <a:gd name="csY0" fmla="*/ 387350 h 387350"/>
              <a:gd name="csX1" fmla="*/ 254000 w 809625"/>
              <a:gd name="csY1" fmla="*/ 50800 h 387350"/>
              <a:gd name="csX2" fmla="*/ 809625 w 809625"/>
              <a:gd name="csY2" fmla="*/ 0 h 387350"/>
              <a:gd name="csX0" fmla="*/ 0 w 809625"/>
              <a:gd name="csY0" fmla="*/ 387350 h 387350"/>
              <a:gd name="csX1" fmla="*/ 254000 w 809625"/>
              <a:gd name="csY1" fmla="*/ 50800 h 387350"/>
              <a:gd name="csX2" fmla="*/ 809625 w 809625"/>
              <a:gd name="csY2" fmla="*/ 0 h 387350"/>
              <a:gd name="csX0" fmla="*/ 0 w 809625"/>
              <a:gd name="csY0" fmla="*/ 403225 h 403225"/>
              <a:gd name="csX1" fmla="*/ 241300 w 809625"/>
              <a:gd name="csY1" fmla="*/ 0 h 403225"/>
              <a:gd name="csX2" fmla="*/ 809625 w 809625"/>
              <a:gd name="csY2" fmla="*/ 15875 h 403225"/>
              <a:gd name="csX0" fmla="*/ 0 w 809625"/>
              <a:gd name="csY0" fmla="*/ 403225 h 403225"/>
              <a:gd name="csX1" fmla="*/ 241300 w 809625"/>
              <a:gd name="csY1" fmla="*/ 0 h 403225"/>
              <a:gd name="csX2" fmla="*/ 809625 w 809625"/>
              <a:gd name="csY2" fmla="*/ 25400 h 403225"/>
              <a:gd name="csX0" fmla="*/ 0 w 809625"/>
              <a:gd name="csY0" fmla="*/ 403225 h 403225"/>
              <a:gd name="csX1" fmla="*/ 241300 w 809625"/>
              <a:gd name="csY1" fmla="*/ 0 h 403225"/>
              <a:gd name="csX2" fmla="*/ 809625 w 809625"/>
              <a:gd name="csY2" fmla="*/ 12700 h 403225"/>
              <a:gd name="csX0" fmla="*/ 0 w 809625"/>
              <a:gd name="csY0" fmla="*/ 403225 h 403225"/>
              <a:gd name="csX1" fmla="*/ 241300 w 809625"/>
              <a:gd name="csY1" fmla="*/ 0 h 403225"/>
              <a:gd name="csX2" fmla="*/ 809625 w 809625"/>
              <a:gd name="csY2" fmla="*/ 3175 h 4032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09625" h="403225">
                <a:moveTo>
                  <a:pt x="0" y="403225"/>
                </a:moveTo>
                <a:lnTo>
                  <a:pt x="241300" y="0"/>
                </a:lnTo>
                <a:lnTo>
                  <a:pt x="809625" y="3175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FB31E4B-8166-D4CA-5233-4C5D2089DBA8}"/>
              </a:ext>
            </a:extLst>
          </p:cNvPr>
          <p:cNvGrpSpPr/>
          <p:nvPr/>
        </p:nvGrpSpPr>
        <p:grpSpPr>
          <a:xfrm>
            <a:off x="4547520" y="2238967"/>
            <a:ext cx="3096961" cy="3096961"/>
            <a:chOff x="1400254" y="2238967"/>
            <a:chExt cx="3096961" cy="3096961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87750CD3-FA97-EBF2-013E-2F16F7B9C4C4}"/>
                </a:ext>
              </a:extLst>
            </p:cNvPr>
            <p:cNvSpPr/>
            <p:nvPr/>
          </p:nvSpPr>
          <p:spPr>
            <a:xfrm>
              <a:off x="1400254" y="2238967"/>
              <a:ext cx="3096961" cy="30969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E4BA7B7-7A95-E9CC-24B2-BC79B1E0B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674394" y="2513107"/>
              <a:ext cx="2548680" cy="2548680"/>
            </a:xfrm>
            <a:prstGeom prst="rect">
              <a:avLst/>
            </a:prstGeom>
          </p:spPr>
        </p:pic>
      </p:grp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B24B1267-4B08-949E-FD10-8D470E19F6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24E44EA-8BB9-4356-A6E2-F3B626433E95}" type="slidenum">
              <a:rPr lang="ko-KR" altLang="en-US" smtClean="0"/>
              <a:pPr/>
              <a:t>3</a:t>
            </a:fld>
            <a:endParaRPr lang="ko-KR" altLang="en-US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1553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126D6-7DFE-854B-1E51-E485B15FB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9B095093-F841-C0BF-DD81-D35D66C3A6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24E44EA-8BB9-4356-A6E2-F3B626433E95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4955AEB-3607-47D7-EC7A-FE08D7B00CE7}"/>
              </a:ext>
            </a:extLst>
          </p:cNvPr>
          <p:cNvSpPr/>
          <p:nvPr/>
        </p:nvSpPr>
        <p:spPr>
          <a:xfrm>
            <a:off x="478038" y="1810749"/>
            <a:ext cx="11235924" cy="470435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8AD6B48-6C84-1294-EBC5-B76DFA4BF8C9}"/>
              </a:ext>
            </a:extLst>
          </p:cNvPr>
          <p:cNvSpPr txBox="1"/>
          <p:nvPr/>
        </p:nvSpPr>
        <p:spPr>
          <a:xfrm>
            <a:off x="1008527" y="4415790"/>
            <a:ext cx="26724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출처 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POSCO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AI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Big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Data 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제공 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Charge.csv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DB8098F7-F0C2-9F78-0245-77C2BA4B3DA1}"/>
              </a:ext>
            </a:extLst>
          </p:cNvPr>
          <p:cNvCxnSpPr>
            <a:cxnSpLocks/>
          </p:cNvCxnSpPr>
          <p:nvPr/>
        </p:nvCxnSpPr>
        <p:spPr>
          <a:xfrm flipH="1">
            <a:off x="4597002" y="4778891"/>
            <a:ext cx="2997032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633EA855-B7A3-3E35-A0FA-E32D2EC5B7BC}"/>
              </a:ext>
            </a:extLst>
          </p:cNvPr>
          <p:cNvCxnSpPr>
            <a:cxnSpLocks/>
          </p:cNvCxnSpPr>
          <p:nvPr/>
        </p:nvCxnSpPr>
        <p:spPr>
          <a:xfrm flipH="1">
            <a:off x="8323675" y="4778891"/>
            <a:ext cx="2997032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A56B063-053F-AA91-3D88-A07A704F3283}"/>
              </a:ext>
            </a:extLst>
          </p:cNvPr>
          <p:cNvCxnSpPr>
            <a:cxnSpLocks/>
          </p:cNvCxnSpPr>
          <p:nvPr/>
        </p:nvCxnSpPr>
        <p:spPr>
          <a:xfrm flipH="1">
            <a:off x="870811" y="4778891"/>
            <a:ext cx="2997032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44A76236-3C03-BB91-5D0E-B8C9904CEFD3}"/>
              </a:ext>
            </a:extLst>
          </p:cNvPr>
          <p:cNvSpPr txBox="1"/>
          <p:nvPr/>
        </p:nvSpPr>
        <p:spPr>
          <a:xfrm>
            <a:off x="8459831" y="4415790"/>
            <a:ext cx="29193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출처 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KTOA 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통신통계시스템 </a:t>
            </a:r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683B75B2-538A-3C4E-162B-1DBFB4D8D8A3}"/>
              </a:ext>
            </a:extLst>
          </p:cNvPr>
          <p:cNvGrpSpPr/>
          <p:nvPr/>
        </p:nvGrpSpPr>
        <p:grpSpPr>
          <a:xfrm>
            <a:off x="8461538" y="2520614"/>
            <a:ext cx="2721305" cy="1825725"/>
            <a:chOff x="1080286" y="2000250"/>
            <a:chExt cx="2721305" cy="1825725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00489618-F9B4-3761-6555-C1D8AC23DDA3}"/>
                </a:ext>
              </a:extLst>
            </p:cNvPr>
            <p:cNvSpPr/>
            <p:nvPr/>
          </p:nvSpPr>
          <p:spPr>
            <a:xfrm>
              <a:off x="1080286" y="2000250"/>
              <a:ext cx="2721305" cy="18257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0340B23-9C0F-C9D9-5BC6-315898E0B3EB}"/>
                </a:ext>
              </a:extLst>
            </p:cNvPr>
            <p:cNvSpPr txBox="1"/>
            <p:nvPr/>
          </p:nvSpPr>
          <p:spPr>
            <a:xfrm>
              <a:off x="1283920" y="3532398"/>
              <a:ext cx="73152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2021</a:t>
              </a:r>
              <a:endParaRPr lang="ko-KR" altLang="en-US" sz="105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ED10D52-9462-2687-EA60-95E187B5A83B}"/>
                </a:ext>
              </a:extLst>
            </p:cNvPr>
            <p:cNvSpPr txBox="1"/>
            <p:nvPr/>
          </p:nvSpPr>
          <p:spPr>
            <a:xfrm>
              <a:off x="3068720" y="3532398"/>
              <a:ext cx="53934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2025</a:t>
              </a:r>
              <a:endParaRPr lang="ko-KR" altLang="en-US" sz="105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2F3335E-2C3E-3447-4F3B-80CC7248CC05}"/>
                </a:ext>
              </a:extLst>
            </p:cNvPr>
            <p:cNvSpPr txBox="1"/>
            <p:nvPr/>
          </p:nvSpPr>
          <p:spPr>
            <a:xfrm>
              <a:off x="1725347" y="3532398"/>
              <a:ext cx="73152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2022</a:t>
              </a:r>
              <a:endParaRPr lang="ko-KR" altLang="en-US" sz="105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FC061A3A-B3C0-17A9-8F80-DDD35F1F4404}"/>
                </a:ext>
              </a:extLst>
            </p:cNvPr>
            <p:cNvCxnSpPr>
              <a:cxnSpLocks/>
            </p:cNvCxnSpPr>
            <p:nvPr/>
          </p:nvCxnSpPr>
          <p:spPr>
            <a:xfrm>
              <a:off x="1273815" y="3511178"/>
              <a:ext cx="2282927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48E8C89-40FD-FF30-0825-650D458AC49A}"/>
                </a:ext>
              </a:extLst>
            </p:cNvPr>
            <p:cNvSpPr txBox="1"/>
            <p:nvPr/>
          </p:nvSpPr>
          <p:spPr>
            <a:xfrm>
              <a:off x="2179720" y="3532398"/>
              <a:ext cx="73152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2023</a:t>
              </a:r>
              <a:endParaRPr lang="ko-KR" altLang="en-US" sz="105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8EC390E-0C73-B88F-AA55-16F94D8CA77E}"/>
                </a:ext>
              </a:extLst>
            </p:cNvPr>
            <p:cNvSpPr txBox="1"/>
            <p:nvPr/>
          </p:nvSpPr>
          <p:spPr>
            <a:xfrm>
              <a:off x="2628453" y="3532398"/>
              <a:ext cx="73152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2024</a:t>
              </a:r>
              <a:endParaRPr lang="ko-KR" altLang="en-US" sz="105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77D08A6-D148-BEAB-22E7-BB8F59A0F177}"/>
                </a:ext>
              </a:extLst>
            </p:cNvPr>
            <p:cNvSpPr/>
            <p:nvPr/>
          </p:nvSpPr>
          <p:spPr>
            <a:xfrm rot="16200000">
              <a:off x="1166690" y="3042499"/>
              <a:ext cx="725966" cy="211386"/>
            </a:xfrm>
            <a:prstGeom prst="rect">
              <a:avLst/>
            </a:prstGeom>
            <a:solidFill>
              <a:srgbClr val="0022C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7A19D32A-022E-233F-BFD9-6C871C88D1A3}"/>
                </a:ext>
              </a:extLst>
            </p:cNvPr>
            <p:cNvSpPr/>
            <p:nvPr/>
          </p:nvSpPr>
          <p:spPr>
            <a:xfrm rot="16200000">
              <a:off x="1518638" y="2951644"/>
              <a:ext cx="907675" cy="211386"/>
            </a:xfrm>
            <a:prstGeom prst="rect">
              <a:avLst/>
            </a:prstGeom>
            <a:solidFill>
              <a:srgbClr val="0022C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D9DDE034-1245-9442-A908-ABB1CC7B062B}"/>
                </a:ext>
              </a:extLst>
            </p:cNvPr>
            <p:cNvSpPr/>
            <p:nvPr/>
          </p:nvSpPr>
          <p:spPr>
            <a:xfrm rot="16200000">
              <a:off x="1910642" y="2900843"/>
              <a:ext cx="1009274" cy="211386"/>
            </a:xfrm>
            <a:prstGeom prst="rect">
              <a:avLst/>
            </a:prstGeom>
            <a:solidFill>
              <a:srgbClr val="0022C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0B5375F8-52ED-94F4-21D4-FF2FFA92B6CA}"/>
                </a:ext>
              </a:extLst>
            </p:cNvPr>
            <p:cNvSpPr/>
            <p:nvPr/>
          </p:nvSpPr>
          <p:spPr>
            <a:xfrm rot="16200000">
              <a:off x="2270626" y="2818026"/>
              <a:ext cx="1174909" cy="211386"/>
            </a:xfrm>
            <a:prstGeom prst="rect">
              <a:avLst/>
            </a:prstGeom>
            <a:solidFill>
              <a:srgbClr val="0022C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F3B28DA8-B376-1268-F3D8-F1BECBD7B606}"/>
                </a:ext>
              </a:extLst>
            </p:cNvPr>
            <p:cNvSpPr/>
            <p:nvPr/>
          </p:nvSpPr>
          <p:spPr>
            <a:xfrm rot="16200000">
              <a:off x="2715121" y="2819720"/>
              <a:ext cx="1171523" cy="211386"/>
            </a:xfrm>
            <a:prstGeom prst="rect">
              <a:avLst/>
            </a:prstGeom>
            <a:solidFill>
              <a:srgbClr val="0022C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39F8C3B6-27FA-DF9A-7449-D12A8CED5728}"/>
                </a:ext>
              </a:extLst>
            </p:cNvPr>
            <p:cNvSpPr/>
            <p:nvPr/>
          </p:nvSpPr>
          <p:spPr>
            <a:xfrm rot="16200000">
              <a:off x="3119273" y="2864301"/>
              <a:ext cx="363220" cy="211386"/>
            </a:xfrm>
            <a:prstGeom prst="rect">
              <a:avLst/>
            </a:prstGeom>
            <a:solidFill>
              <a:srgbClr val="2F79B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8442EE0B-C45C-5D25-5D85-39531C887EE4}"/>
                </a:ext>
              </a:extLst>
            </p:cNvPr>
            <p:cNvSpPr/>
            <p:nvPr/>
          </p:nvSpPr>
          <p:spPr>
            <a:xfrm rot="16200000">
              <a:off x="3152715" y="2612841"/>
              <a:ext cx="296335" cy="211386"/>
            </a:xfrm>
            <a:prstGeom prst="rect">
              <a:avLst/>
            </a:prstGeom>
            <a:solidFill>
              <a:srgbClr val="80B0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169E4114-E080-DF0E-DFF8-F94BDBC9BC7F}"/>
                </a:ext>
              </a:extLst>
            </p:cNvPr>
            <p:cNvSpPr/>
            <p:nvPr/>
          </p:nvSpPr>
          <p:spPr>
            <a:xfrm rot="16200000">
              <a:off x="3145573" y="2341114"/>
              <a:ext cx="310619" cy="211386"/>
            </a:xfrm>
            <a:prstGeom prst="rect">
              <a:avLst/>
            </a:prstGeom>
            <a:solidFill>
              <a:srgbClr val="4F97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B0BEB2B2-7487-F245-B4B9-311858F35109}"/>
                </a:ext>
              </a:extLst>
            </p:cNvPr>
            <p:cNvSpPr/>
            <p:nvPr/>
          </p:nvSpPr>
          <p:spPr>
            <a:xfrm rot="16200000">
              <a:off x="2709493" y="2907482"/>
              <a:ext cx="297179" cy="211386"/>
            </a:xfrm>
            <a:prstGeom prst="rect">
              <a:avLst/>
            </a:prstGeom>
            <a:solidFill>
              <a:srgbClr val="2F79B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6F2DAA31-07B4-FA34-4173-4136DD12B654}"/>
                </a:ext>
              </a:extLst>
            </p:cNvPr>
            <p:cNvSpPr/>
            <p:nvPr/>
          </p:nvSpPr>
          <p:spPr>
            <a:xfrm rot="16200000">
              <a:off x="2708223" y="2619192"/>
              <a:ext cx="299720" cy="211386"/>
            </a:xfrm>
            <a:prstGeom prst="rect">
              <a:avLst/>
            </a:prstGeom>
            <a:solidFill>
              <a:srgbClr val="80B0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D3C30A1B-7255-E63E-B563-83F4748BE7A5}"/>
                </a:ext>
              </a:extLst>
            </p:cNvPr>
            <p:cNvSpPr/>
            <p:nvPr/>
          </p:nvSpPr>
          <p:spPr>
            <a:xfrm rot="16200000">
              <a:off x="2725579" y="2357996"/>
              <a:ext cx="265007" cy="211386"/>
            </a:xfrm>
            <a:prstGeom prst="rect">
              <a:avLst/>
            </a:prstGeom>
            <a:solidFill>
              <a:srgbClr val="4F97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26B6D968-E59C-AE79-321F-0304A53E4C1A}"/>
                </a:ext>
              </a:extLst>
            </p:cNvPr>
            <p:cNvSpPr/>
            <p:nvPr/>
          </p:nvSpPr>
          <p:spPr>
            <a:xfrm rot="16200000">
              <a:off x="2280660" y="2957011"/>
              <a:ext cx="269239" cy="211386"/>
            </a:xfrm>
            <a:prstGeom prst="rect">
              <a:avLst/>
            </a:prstGeom>
            <a:solidFill>
              <a:srgbClr val="2F79B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1EFCAD13-486D-E030-D9DD-D2662479C566}"/>
                </a:ext>
              </a:extLst>
            </p:cNvPr>
            <p:cNvSpPr/>
            <p:nvPr/>
          </p:nvSpPr>
          <p:spPr>
            <a:xfrm rot="16200000">
              <a:off x="2261610" y="2683962"/>
              <a:ext cx="307341" cy="211386"/>
            </a:xfrm>
            <a:prstGeom prst="rect">
              <a:avLst/>
            </a:prstGeom>
            <a:solidFill>
              <a:srgbClr val="80B0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E2BCEB23-2B58-694E-CE58-100C50A63A65}"/>
                </a:ext>
              </a:extLst>
            </p:cNvPr>
            <p:cNvSpPr/>
            <p:nvPr/>
          </p:nvSpPr>
          <p:spPr>
            <a:xfrm rot="16200000">
              <a:off x="2295901" y="2457479"/>
              <a:ext cx="238761" cy="211386"/>
            </a:xfrm>
            <a:prstGeom prst="rect">
              <a:avLst/>
            </a:prstGeom>
            <a:solidFill>
              <a:srgbClr val="4F97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25B17876-7449-D390-E860-8C8EC939138C}"/>
                </a:ext>
              </a:extLst>
            </p:cNvPr>
            <p:cNvSpPr/>
            <p:nvPr/>
          </p:nvSpPr>
          <p:spPr>
            <a:xfrm rot="16200000">
              <a:off x="1823886" y="2973522"/>
              <a:ext cx="297179" cy="211386"/>
            </a:xfrm>
            <a:prstGeom prst="rect">
              <a:avLst/>
            </a:prstGeom>
            <a:solidFill>
              <a:srgbClr val="2F79B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EFCAC241-BC9C-AFB5-FF92-3E4D68FD3E21}"/>
                </a:ext>
              </a:extLst>
            </p:cNvPr>
            <p:cNvSpPr/>
            <p:nvPr/>
          </p:nvSpPr>
          <p:spPr>
            <a:xfrm rot="16200000">
              <a:off x="1842938" y="2748732"/>
              <a:ext cx="259079" cy="211386"/>
            </a:xfrm>
            <a:prstGeom prst="rect">
              <a:avLst/>
            </a:prstGeom>
            <a:solidFill>
              <a:srgbClr val="80B0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193664F7-0690-5566-B17B-DF6A2AFFBBD3}"/>
                </a:ext>
              </a:extLst>
            </p:cNvPr>
            <p:cNvSpPr/>
            <p:nvPr/>
          </p:nvSpPr>
          <p:spPr>
            <a:xfrm rot="16200000">
              <a:off x="1876381" y="2565429"/>
              <a:ext cx="192192" cy="211386"/>
            </a:xfrm>
            <a:prstGeom prst="rect">
              <a:avLst/>
            </a:prstGeom>
            <a:solidFill>
              <a:srgbClr val="4F97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5AD8D7F0-D8AC-D19F-BF71-207B5B2B236F}"/>
                </a:ext>
              </a:extLst>
            </p:cNvPr>
            <p:cNvSpPr/>
            <p:nvPr/>
          </p:nvSpPr>
          <p:spPr>
            <a:xfrm rot="16200000">
              <a:off x="1421357" y="3069674"/>
              <a:ext cx="216634" cy="211386"/>
            </a:xfrm>
            <a:prstGeom prst="rect">
              <a:avLst/>
            </a:prstGeom>
            <a:solidFill>
              <a:srgbClr val="2F79B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3BEAA717-563F-63DC-4687-F804D0876CBB}"/>
                </a:ext>
              </a:extLst>
            </p:cNvPr>
            <p:cNvSpPr/>
            <p:nvPr/>
          </p:nvSpPr>
          <p:spPr>
            <a:xfrm rot="16200000">
              <a:off x="1414355" y="2843947"/>
              <a:ext cx="230644" cy="211386"/>
            </a:xfrm>
            <a:prstGeom prst="rect">
              <a:avLst/>
            </a:prstGeom>
            <a:solidFill>
              <a:srgbClr val="80B0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0F37E474-5CBD-56D6-441A-548F1BC01D6E}"/>
                </a:ext>
              </a:extLst>
            </p:cNvPr>
            <p:cNvSpPr/>
            <p:nvPr/>
          </p:nvSpPr>
          <p:spPr>
            <a:xfrm rot="16200000">
              <a:off x="1464271" y="2699837"/>
              <a:ext cx="130810" cy="211386"/>
            </a:xfrm>
            <a:prstGeom prst="rect">
              <a:avLst/>
            </a:prstGeom>
            <a:solidFill>
              <a:srgbClr val="4F97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1" name="그래픽 90" descr="시계 방향으로 굽은 화살표 단색으로 채워진">
              <a:extLst>
                <a:ext uri="{FF2B5EF4-FFF2-40B4-BE49-F238E27FC236}">
                  <a16:creationId xmlns:a16="http://schemas.microsoft.com/office/drawing/2014/main" id="{F288370D-972E-1592-8FAB-DE09C2A492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3798427" flipV="1">
              <a:off x="1868815" y="2345476"/>
              <a:ext cx="517151" cy="1449749"/>
            </a:xfrm>
            <a:prstGeom prst="rect">
              <a:avLst/>
            </a:prstGeom>
          </p:spPr>
        </p:pic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F522AF6-10F2-BA8E-D41E-294118ACC209}"/>
                </a:ext>
              </a:extLst>
            </p:cNvPr>
            <p:cNvSpPr txBox="1"/>
            <p:nvPr/>
          </p:nvSpPr>
          <p:spPr>
            <a:xfrm>
              <a:off x="2943553" y="2066937"/>
              <a:ext cx="7894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93,373,795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021F0382-A7C4-62D2-D4AC-C909DCAF388D}"/>
                </a:ext>
              </a:extLst>
            </p:cNvPr>
            <p:cNvGrpSpPr/>
            <p:nvPr/>
          </p:nvGrpSpPr>
          <p:grpSpPr>
            <a:xfrm>
              <a:off x="1138053" y="2026191"/>
              <a:ext cx="1030294" cy="703610"/>
              <a:chOff x="1157281" y="2235741"/>
              <a:chExt cx="1030294" cy="703610"/>
            </a:xfrm>
          </p:grpSpPr>
          <p:sp>
            <p:nvSpPr>
              <p:cNvPr id="98" name="직사각형 97">
                <a:extLst>
                  <a:ext uri="{FF2B5EF4-FFF2-40B4-BE49-F238E27FC236}">
                    <a16:creationId xmlns:a16="http://schemas.microsoft.com/office/drawing/2014/main" id="{739812D1-1506-2C8D-CFBB-6F5AE60B0021}"/>
                  </a:ext>
                </a:extLst>
              </p:cNvPr>
              <p:cNvSpPr/>
              <p:nvPr/>
            </p:nvSpPr>
            <p:spPr>
              <a:xfrm rot="16200000">
                <a:off x="1157281" y="2275418"/>
                <a:ext cx="108000" cy="108000"/>
              </a:xfrm>
              <a:prstGeom prst="rect">
                <a:avLst/>
              </a:prstGeom>
              <a:solidFill>
                <a:srgbClr val="4F97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4AE6E292-4B66-BE16-125B-D9DD9CAF10E2}"/>
                  </a:ext>
                </a:extLst>
              </p:cNvPr>
              <p:cNvSpPr/>
              <p:nvPr/>
            </p:nvSpPr>
            <p:spPr>
              <a:xfrm rot="16200000">
                <a:off x="1157281" y="2443058"/>
                <a:ext cx="108000" cy="108000"/>
              </a:xfrm>
              <a:prstGeom prst="rect">
                <a:avLst/>
              </a:prstGeom>
              <a:solidFill>
                <a:srgbClr val="80B0D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D4BBD343-062C-E0E3-7035-2E36DEDA703A}"/>
                  </a:ext>
                </a:extLst>
              </p:cNvPr>
              <p:cNvSpPr/>
              <p:nvPr/>
            </p:nvSpPr>
            <p:spPr>
              <a:xfrm rot="16200000">
                <a:off x="1157281" y="2611333"/>
                <a:ext cx="108000" cy="108000"/>
              </a:xfrm>
              <a:prstGeom prst="rect">
                <a:avLst/>
              </a:prstGeom>
              <a:solidFill>
                <a:srgbClr val="2F79B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4E2961C3-0125-9A7D-5055-DFABA9D6A284}"/>
                  </a:ext>
                </a:extLst>
              </p:cNvPr>
              <p:cNvSpPr/>
              <p:nvPr/>
            </p:nvSpPr>
            <p:spPr>
              <a:xfrm rot="16200000">
                <a:off x="1157281" y="2778973"/>
                <a:ext cx="108000" cy="108000"/>
              </a:xfrm>
              <a:prstGeom prst="rect">
                <a:avLst/>
              </a:prstGeom>
              <a:solidFill>
                <a:srgbClr val="0022C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B1FDBD13-86A6-6444-6AB8-2B96FB998864}"/>
                  </a:ext>
                </a:extLst>
              </p:cNvPr>
              <p:cNvSpPr txBox="1"/>
              <p:nvPr/>
            </p:nvSpPr>
            <p:spPr>
              <a:xfrm>
                <a:off x="1202595" y="2235741"/>
                <a:ext cx="98498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7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MVNO</a:t>
                </a:r>
                <a:endParaRPr lang="ko-KR" alt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F73B2372-2FDE-F31B-F889-1E65F30FB9BB}"/>
                  </a:ext>
                </a:extLst>
              </p:cNvPr>
              <p:cNvSpPr txBox="1"/>
              <p:nvPr/>
            </p:nvSpPr>
            <p:spPr>
              <a:xfrm>
                <a:off x="1202595" y="2403381"/>
                <a:ext cx="98498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7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LGU+</a:t>
                </a:r>
                <a:endParaRPr lang="ko-KR" alt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85D10F1A-3889-F6EE-0849-A8ED819FC386}"/>
                  </a:ext>
                </a:extLst>
              </p:cNvPr>
              <p:cNvSpPr txBox="1"/>
              <p:nvPr/>
            </p:nvSpPr>
            <p:spPr>
              <a:xfrm>
                <a:off x="1202595" y="2571656"/>
                <a:ext cx="98498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7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KT</a:t>
                </a:r>
                <a:endParaRPr lang="ko-KR" alt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0A3FD98D-D255-20ED-DB13-7E9DCC704F6E}"/>
                  </a:ext>
                </a:extLst>
              </p:cNvPr>
              <p:cNvSpPr txBox="1"/>
              <p:nvPr/>
            </p:nvSpPr>
            <p:spPr>
              <a:xfrm>
                <a:off x="1202595" y="2739296"/>
                <a:ext cx="98498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7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SKT</a:t>
                </a:r>
                <a:endParaRPr lang="ko-KR" alt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709698A-4F0F-6CFC-F616-3E01C9C0CB34}"/>
              </a:ext>
            </a:extLst>
          </p:cNvPr>
          <p:cNvSpPr txBox="1"/>
          <p:nvPr/>
        </p:nvSpPr>
        <p:spPr>
          <a:xfrm>
            <a:off x="8238999" y="5140855"/>
            <a:ext cx="3166385" cy="99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5000"/>
              </a:lnSpc>
              <a:defRPr/>
            </a:pP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가입자 수는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21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년 대비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11%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증가하며 특히 전년 대비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0.4%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증가로 </a:t>
            </a:r>
            <a:r>
              <a:rPr lang="ko-KR" altLang="en-US" sz="1600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성장 </a:t>
            </a:r>
            <a:endParaRPr lang="en-US" altLang="ko-KR" sz="1600" dirty="0">
              <a:solidFill>
                <a:srgbClr val="0022C3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lvl="0">
              <a:lnSpc>
                <a:spcPct val="125000"/>
              </a:lnSpc>
              <a:defRPr/>
            </a:pPr>
            <a:r>
              <a:rPr lang="ko-KR" altLang="en-US" sz="1600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중</a:t>
            </a:r>
            <a:endParaRPr lang="ko-KR" alt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DE530194-0234-CBB9-7427-6D0CDED449AE}"/>
              </a:ext>
            </a:extLst>
          </p:cNvPr>
          <p:cNvSpPr/>
          <p:nvPr/>
        </p:nvSpPr>
        <p:spPr>
          <a:xfrm>
            <a:off x="8144591" y="4952983"/>
            <a:ext cx="3355200" cy="1371273"/>
          </a:xfrm>
          <a:prstGeom prst="roundRect">
            <a:avLst>
              <a:gd name="adj" fmla="val 3453"/>
            </a:avLst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17" dirty="0">
              <a:solidFill>
                <a:srgbClr val="B96B6B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C2BCCC4E-4858-DE77-97E3-BA6B1A180768}"/>
              </a:ext>
            </a:extLst>
          </p:cNvPr>
          <p:cNvSpPr/>
          <p:nvPr/>
        </p:nvSpPr>
        <p:spPr>
          <a:xfrm>
            <a:off x="8365880" y="1530186"/>
            <a:ext cx="2912622" cy="403394"/>
          </a:xfrm>
          <a:prstGeom prst="roundRect">
            <a:avLst>
              <a:gd name="adj" fmla="val 50000"/>
            </a:avLst>
          </a:prstGeom>
          <a:solidFill>
            <a:srgbClr val="0E46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신규 수요 증가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C85472C-58BD-7E2A-A400-9B42589F05BA}"/>
              </a:ext>
            </a:extLst>
          </p:cNvPr>
          <p:cNvSpPr txBox="1"/>
          <p:nvPr/>
        </p:nvSpPr>
        <p:spPr>
          <a:xfrm>
            <a:off x="8640960" y="2061221"/>
            <a:ext cx="2362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연도별 가입자 수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  <a:endParaRPr lang="ko-KR" altLang="en-US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864CCFE5-C51C-7E53-7267-A910A6542819}"/>
              </a:ext>
            </a:extLst>
          </p:cNvPr>
          <p:cNvSpPr/>
          <p:nvPr/>
        </p:nvSpPr>
        <p:spPr>
          <a:xfrm>
            <a:off x="4639207" y="1530186"/>
            <a:ext cx="2912622" cy="403394"/>
          </a:xfrm>
          <a:prstGeom prst="roundRect">
            <a:avLst>
              <a:gd name="adj" fmla="val 50000"/>
            </a:avLst>
          </a:prstGeom>
          <a:solidFill>
            <a:srgbClr val="0E46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시장 경쟁 과열</a:t>
            </a:r>
          </a:p>
        </p:txBody>
      </p: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F640A39F-0E45-CD21-4076-D85FD2EF2189}"/>
              </a:ext>
            </a:extLst>
          </p:cNvPr>
          <p:cNvSpPr/>
          <p:nvPr/>
        </p:nvSpPr>
        <p:spPr>
          <a:xfrm>
            <a:off x="4418400" y="4952983"/>
            <a:ext cx="3354236" cy="1371273"/>
          </a:xfrm>
          <a:prstGeom prst="roundRect">
            <a:avLst>
              <a:gd name="adj" fmla="val 3453"/>
            </a:avLst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17" dirty="0">
              <a:solidFill>
                <a:srgbClr val="B96B6B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C12690B-A613-B3AB-D728-8A5FF8989FF8}"/>
              </a:ext>
            </a:extLst>
          </p:cNvPr>
          <p:cNvSpPr txBox="1"/>
          <p:nvPr/>
        </p:nvSpPr>
        <p:spPr>
          <a:xfrm>
            <a:off x="4512326" y="5140855"/>
            <a:ext cx="3166385" cy="687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defRPr sz="1600">
                <a:latin typeface="NanumSquare_ac Bold"/>
                <a:ea typeface="NanumSquare_ac Bold"/>
                <a:cs typeface="NanumSquare_ac Bold"/>
                <a:sym typeface="NanumSquare_ac Bold"/>
              </a:defRPr>
            </a:pPr>
            <a:r>
              <a:rPr lang="ko-KR" altLang="en-US" dirty="0"/>
              <a:t>경영 환경 악화로 인한 마케팅 과열로 </a:t>
            </a:r>
            <a:r>
              <a:rPr lang="ko-KR" altLang="en-US" dirty="0">
                <a:solidFill>
                  <a:srgbClr val="0022C3"/>
                </a:solidFill>
              </a:rPr>
              <a:t>매출액 감소</a:t>
            </a:r>
            <a:r>
              <a:rPr lang="ko-KR" altLang="en-US" dirty="0"/>
              <a:t>가 우려되고 있는 상황</a:t>
            </a:r>
            <a:endParaRPr lang="en-US" altLang="ko-KR" dirty="0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F05023D9-0A6F-BB87-E95B-09A3A4761704}"/>
              </a:ext>
            </a:extLst>
          </p:cNvPr>
          <p:cNvSpPr/>
          <p:nvPr/>
        </p:nvSpPr>
        <p:spPr>
          <a:xfrm>
            <a:off x="1045408" y="1530186"/>
            <a:ext cx="2647838" cy="403394"/>
          </a:xfrm>
          <a:prstGeom prst="roundRect">
            <a:avLst>
              <a:gd name="adj" fmla="val 50000"/>
            </a:avLst>
          </a:prstGeom>
          <a:solidFill>
            <a:srgbClr val="0E46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자사 수익성 저하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CDDEAD-D17C-B103-46F6-5E24739EF7EA}"/>
              </a:ext>
            </a:extLst>
          </p:cNvPr>
          <p:cNvSpPr txBox="1"/>
          <p:nvPr/>
        </p:nvSpPr>
        <p:spPr>
          <a:xfrm>
            <a:off x="785327" y="5140855"/>
            <a:ext cx="3168000" cy="99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5000"/>
              </a:lnSpc>
              <a:defRPr/>
            </a:pPr>
            <a:r>
              <a:rPr lang="en-US" altLang="ko-KR" sz="16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24</a:t>
            </a:r>
            <a:r>
              <a:rPr lang="ko-KR" altLang="en-US" sz="16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년 대비 매출액</a:t>
            </a:r>
            <a:r>
              <a:rPr lang="en-US" altLang="ko-KR" sz="16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3.92%</a:t>
            </a:r>
            <a:r>
              <a:rPr lang="ko-KR" altLang="en-US" sz="16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감소</a:t>
            </a:r>
            <a:endParaRPr lang="en-US" altLang="ko-KR" sz="1600" dirty="0">
              <a:solidFill>
                <a:prstClr val="black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25000"/>
              </a:lnSpc>
              <a:defRPr/>
            </a:pPr>
            <a:r>
              <a:rPr lang="ko-KR" altLang="en-US" sz="1600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요금 경쟁 심화</a:t>
            </a:r>
            <a:r>
              <a:rPr lang="en-US" altLang="ko-KR" sz="1600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600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고객 구성 변화</a:t>
            </a:r>
            <a:r>
              <a:rPr lang="en-US" altLang="ko-KR" sz="1600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600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고객 이탈 증가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 의해 발생한 것으로 판단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E7C1E9E0-55BE-C124-E1B9-A926B6E432A7}"/>
              </a:ext>
            </a:extLst>
          </p:cNvPr>
          <p:cNvSpPr/>
          <p:nvPr/>
        </p:nvSpPr>
        <p:spPr>
          <a:xfrm>
            <a:off x="692209" y="4953589"/>
            <a:ext cx="3354236" cy="1370061"/>
          </a:xfrm>
          <a:prstGeom prst="roundRect">
            <a:avLst>
              <a:gd name="adj" fmla="val 3453"/>
            </a:avLst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17" dirty="0">
              <a:solidFill>
                <a:srgbClr val="B96B6B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16849ED-1DD1-E598-B6D0-FEFBD6C850AA}"/>
              </a:ext>
            </a:extLst>
          </p:cNvPr>
          <p:cNvGrpSpPr/>
          <p:nvPr/>
        </p:nvGrpSpPr>
        <p:grpSpPr>
          <a:xfrm>
            <a:off x="951021" y="2520614"/>
            <a:ext cx="2836612" cy="1825725"/>
            <a:chOff x="951021" y="2520614"/>
            <a:chExt cx="2836612" cy="1825725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7489362-04ED-9810-0C26-9F19FED2132E}"/>
                </a:ext>
              </a:extLst>
            </p:cNvPr>
            <p:cNvSpPr/>
            <p:nvPr/>
          </p:nvSpPr>
          <p:spPr>
            <a:xfrm>
              <a:off x="1008675" y="2520614"/>
              <a:ext cx="2721305" cy="18257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aphicFrame>
          <p:nvGraphicFramePr>
            <p:cNvPr id="10" name="차트 9">
              <a:extLst>
                <a:ext uri="{FF2B5EF4-FFF2-40B4-BE49-F238E27FC236}">
                  <a16:creationId xmlns:a16="http://schemas.microsoft.com/office/drawing/2014/main" id="{429B7B0D-9B2D-498E-51DE-3A595B6A12EE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900231814"/>
                </p:ext>
              </p:extLst>
            </p:nvPr>
          </p:nvGraphicFramePr>
          <p:xfrm>
            <a:off x="951021" y="2551863"/>
            <a:ext cx="2836612" cy="176322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  <p:pic>
        <p:nvPicPr>
          <p:cNvPr id="18" name="그래픽 17" descr="시계 방향으로 굽은 화살표 단색으로 채워진">
            <a:extLst>
              <a:ext uri="{FF2B5EF4-FFF2-40B4-BE49-F238E27FC236}">
                <a16:creationId xmlns:a16="http://schemas.microsoft.com/office/drawing/2014/main" id="{B1FDC1B3-CE51-1288-3826-9CEE2743F3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7100000" flipV="1">
            <a:off x="2745911" y="2920308"/>
            <a:ext cx="514823" cy="98962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2B95742-D811-B8A2-7224-9DE1AB4481D6}"/>
              </a:ext>
            </a:extLst>
          </p:cNvPr>
          <p:cNvSpPr txBox="1"/>
          <p:nvPr/>
        </p:nvSpPr>
        <p:spPr>
          <a:xfrm>
            <a:off x="1188096" y="2061221"/>
            <a:ext cx="2362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연도별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매출액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억원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)]</a:t>
            </a:r>
            <a:endParaRPr lang="ko-KR" altLang="en-US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8D48A1-54CD-A57F-66C2-391DA3781035}"/>
              </a:ext>
            </a:extLst>
          </p:cNvPr>
          <p:cNvSpPr txBox="1"/>
          <p:nvPr/>
        </p:nvSpPr>
        <p:spPr>
          <a:xfrm>
            <a:off x="4796164" y="2061221"/>
            <a:ext cx="2598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주요 통신사 영업이익률 추이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(%)]</a:t>
            </a:r>
            <a:endParaRPr lang="ko-KR" altLang="en-US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6993410-D7C7-86BE-DF25-DF96D864D01A}"/>
              </a:ext>
            </a:extLst>
          </p:cNvPr>
          <p:cNvGrpSpPr/>
          <p:nvPr/>
        </p:nvGrpSpPr>
        <p:grpSpPr>
          <a:xfrm>
            <a:off x="671464" y="753310"/>
            <a:ext cx="10849072" cy="597525"/>
            <a:chOff x="671464" y="680942"/>
            <a:chExt cx="10849072" cy="597525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8D9F27B-DBC8-DD34-055D-A3643FDF1A0A}"/>
                </a:ext>
              </a:extLst>
            </p:cNvPr>
            <p:cNvSpPr/>
            <p:nvPr/>
          </p:nvSpPr>
          <p:spPr>
            <a:xfrm>
              <a:off x="671464" y="680942"/>
              <a:ext cx="10849072" cy="597525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AD071E3-2FFC-4626-81D0-D0899F80CF93}"/>
                </a:ext>
              </a:extLst>
            </p:cNvPr>
            <p:cNvSpPr txBox="1"/>
            <p:nvPr/>
          </p:nvSpPr>
          <p:spPr>
            <a:xfrm>
              <a:off x="1299414" y="799724"/>
              <a:ext cx="9593166" cy="35996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82159" tIns="41080" rIns="82159" bIns="4108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가입자 수는 증가하고 있으나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, </a:t>
              </a:r>
              <a:r>
                <a:rPr lang="ko-KR" altLang="en-US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자사의 수익성 감소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와</a:t>
              </a:r>
              <a:r>
                <a:rPr lang="ko-KR" altLang="en-US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시장 경쟁 과열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로 인한 </a:t>
              </a:r>
              <a:r>
                <a:rPr lang="ko-KR" altLang="en-US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경영 환경 악화</a:t>
              </a:r>
              <a:endPara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16" name="TextBox 164">
            <a:extLst>
              <a:ext uri="{FF2B5EF4-FFF2-40B4-BE49-F238E27FC236}">
                <a16:creationId xmlns:a16="http://schemas.microsoft.com/office/drawing/2014/main" id="{81CA0C15-4F20-CF58-5F4E-361CDBEBD670}"/>
              </a:ext>
            </a:extLst>
          </p:cNvPr>
          <p:cNvSpPr txBox="1"/>
          <p:nvPr/>
        </p:nvSpPr>
        <p:spPr>
          <a:xfrm>
            <a:off x="4744354" y="4415790"/>
            <a:ext cx="2581029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NanumSquare_ac Bold"/>
                <a:ea typeface="NanumSquare_ac Bold"/>
                <a:cs typeface="NanumSquare_ac Bold"/>
                <a:sym typeface="NanumSquare_ac Bold"/>
              </a:defRPr>
            </a:pPr>
            <a:r>
              <a:rPr dirty="0" err="1"/>
              <a:t>출처</a:t>
            </a:r>
            <a:r>
              <a:rPr dirty="0"/>
              <a:t> : </a:t>
            </a:r>
            <a:r>
              <a:rPr dirty="0" err="1"/>
              <a:t>원태영</a:t>
            </a:r>
            <a:r>
              <a:rPr dirty="0"/>
              <a:t>, 「</a:t>
            </a:r>
            <a:r>
              <a:rPr dirty="0" err="1"/>
              <a:t>이동통신</a:t>
            </a:r>
            <a:r>
              <a:rPr dirty="0"/>
              <a:t> 40년 …」, </a:t>
            </a:r>
            <a:r>
              <a:rPr dirty="0" err="1"/>
              <a:t>이코노미스트</a:t>
            </a:r>
            <a:endParaRPr dirty="0"/>
          </a:p>
        </p:txBody>
      </p:sp>
      <p:sp>
        <p:nvSpPr>
          <p:cNvPr id="33" name="텍스트 개체 틀 32">
            <a:extLst>
              <a:ext uri="{FF2B5EF4-FFF2-40B4-BE49-F238E27FC236}">
                <a16:creationId xmlns:a16="http://schemas.microsoft.com/office/drawing/2014/main" id="{88CBBF6A-1381-EEFC-19A3-4F512F294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추진배경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57A3C2D0-37A8-9A61-453B-F8D8FF25003E}"/>
              </a:ext>
            </a:extLst>
          </p:cNvPr>
          <p:cNvGrpSpPr/>
          <p:nvPr/>
        </p:nvGrpSpPr>
        <p:grpSpPr>
          <a:xfrm>
            <a:off x="4495133" y="2634781"/>
            <a:ext cx="2897902" cy="1675578"/>
            <a:chOff x="4450683" y="2634781"/>
            <a:chExt cx="2897902" cy="1675578"/>
          </a:xfrm>
        </p:grpSpPr>
        <p:pic>
          <p:nvPicPr>
            <p:cNvPr id="17" name="통신사.png" descr="통신사.png">
              <a:extLst>
                <a:ext uri="{FF2B5EF4-FFF2-40B4-BE49-F238E27FC236}">
                  <a16:creationId xmlns:a16="http://schemas.microsoft.com/office/drawing/2014/main" id="{8BFEBB17-2167-6D91-1C06-8401F4801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842451" y="2658532"/>
              <a:ext cx="2506134" cy="1600201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9" name="통신사.png" descr="통신사.png">
              <a:extLst>
                <a:ext uri="{FF2B5EF4-FFF2-40B4-BE49-F238E27FC236}">
                  <a16:creationId xmlns:a16="http://schemas.microsoft.com/office/drawing/2014/main" id="{931F51F9-F144-EFF9-33C5-1EF851E9A43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2100"/>
            <a:stretch>
              <a:fillRect/>
            </a:stretch>
          </p:blipFill>
          <p:spPr>
            <a:xfrm>
              <a:off x="5662044" y="2669116"/>
              <a:ext cx="1683982" cy="232833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F32E7DC-FF30-810C-C016-59B2E4AC696A}"/>
                </a:ext>
              </a:extLst>
            </p:cNvPr>
            <p:cNvSpPr txBox="1"/>
            <p:nvPr/>
          </p:nvSpPr>
          <p:spPr>
            <a:xfrm>
              <a:off x="4472517" y="2634781"/>
              <a:ext cx="43669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25.0</a:t>
              </a:r>
              <a:endParaRPr lang="ko-KR" altLang="en-US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04BCBF2-4368-436A-40EF-D8B383E33B38}"/>
                </a:ext>
              </a:extLst>
            </p:cNvPr>
            <p:cNvSpPr txBox="1"/>
            <p:nvPr/>
          </p:nvSpPr>
          <p:spPr>
            <a:xfrm>
              <a:off x="4472517" y="2845298"/>
              <a:ext cx="43669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20.0</a:t>
              </a:r>
              <a:endParaRPr lang="ko-KR" altLang="en-US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ED6B49E-9304-02D7-E733-4CA647D6E77A}"/>
                </a:ext>
              </a:extLst>
            </p:cNvPr>
            <p:cNvSpPr txBox="1"/>
            <p:nvPr/>
          </p:nvSpPr>
          <p:spPr>
            <a:xfrm>
              <a:off x="4472517" y="3055815"/>
              <a:ext cx="43669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15.0</a:t>
              </a:r>
              <a:endParaRPr lang="ko-KR" altLang="en-US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971C8CE-F803-6EE2-D649-C11537D6EC4B}"/>
                </a:ext>
              </a:extLst>
            </p:cNvPr>
            <p:cNvSpPr txBox="1"/>
            <p:nvPr/>
          </p:nvSpPr>
          <p:spPr>
            <a:xfrm>
              <a:off x="4472517" y="3266332"/>
              <a:ext cx="43669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10.0</a:t>
              </a:r>
              <a:endParaRPr lang="ko-KR" altLang="en-US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6BEE2C0-099A-1A4F-2714-3E074AB04C84}"/>
                </a:ext>
              </a:extLst>
            </p:cNvPr>
            <p:cNvSpPr txBox="1"/>
            <p:nvPr/>
          </p:nvSpPr>
          <p:spPr>
            <a:xfrm>
              <a:off x="4472517" y="3476848"/>
              <a:ext cx="43669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0</a:t>
              </a:r>
              <a:endParaRPr lang="ko-KR" altLang="en-US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49A146F-FB5E-BD8F-5722-CCFBE7A540F2}"/>
                </a:ext>
              </a:extLst>
            </p:cNvPr>
            <p:cNvSpPr txBox="1"/>
            <p:nvPr/>
          </p:nvSpPr>
          <p:spPr>
            <a:xfrm>
              <a:off x="4472517" y="3895948"/>
              <a:ext cx="43669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-5.0</a:t>
              </a:r>
              <a:endParaRPr lang="ko-KR" altLang="en-US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4C1A44E-2ABE-F014-C21B-0AE7B7ACB0CC}"/>
                </a:ext>
              </a:extLst>
            </p:cNvPr>
            <p:cNvSpPr txBox="1"/>
            <p:nvPr/>
          </p:nvSpPr>
          <p:spPr>
            <a:xfrm>
              <a:off x="4450683" y="4094915"/>
              <a:ext cx="48036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-10.0</a:t>
              </a:r>
              <a:endParaRPr lang="ko-KR" altLang="en-US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pic>
        <p:nvPicPr>
          <p:cNvPr id="37" name="그래픽 36" descr="시계 방향으로 굽은 화살표 단색으로 채워진">
            <a:extLst>
              <a:ext uri="{FF2B5EF4-FFF2-40B4-BE49-F238E27FC236}">
                <a16:creationId xmlns:a16="http://schemas.microsoft.com/office/drawing/2014/main" id="{F71243A9-D38A-8562-6BE9-B5463AF84F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7100000" flipV="1">
            <a:off x="6046637" y="2733350"/>
            <a:ext cx="415452" cy="989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072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52D33-8696-84CE-0B12-50871D677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7BDC2F83-1B59-676A-BAA3-6EB2350363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24E44EA-8BB9-4356-A6E2-F3B626433E95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1241" name="텍스트 개체 틀 1240">
            <a:extLst>
              <a:ext uri="{FF2B5EF4-FFF2-40B4-BE49-F238E27FC236}">
                <a16:creationId xmlns:a16="http://schemas.microsoft.com/office/drawing/2014/main" id="{272E8C22-12B2-F7CE-DB05-56BA333241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현상 및 개선기회</a:t>
            </a:r>
          </a:p>
        </p:txBody>
      </p:sp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B91FA041-72C3-1FE0-BBB6-C6EF0F1F1394}"/>
              </a:ext>
            </a:extLst>
          </p:cNvPr>
          <p:cNvGrpSpPr/>
          <p:nvPr/>
        </p:nvGrpSpPr>
        <p:grpSpPr>
          <a:xfrm>
            <a:off x="8161072" y="746467"/>
            <a:ext cx="3456000" cy="5806732"/>
            <a:chOff x="8161072" y="746467"/>
            <a:chExt cx="3456000" cy="5806732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E108FF0D-79B7-50BA-396B-5CAB724CFE8A}"/>
                </a:ext>
              </a:extLst>
            </p:cNvPr>
            <p:cNvSpPr/>
            <p:nvPr/>
          </p:nvSpPr>
          <p:spPr>
            <a:xfrm>
              <a:off x="8161072" y="4148488"/>
              <a:ext cx="3456000" cy="2404711"/>
            </a:xfrm>
            <a:prstGeom prst="roundRect">
              <a:avLst>
                <a:gd name="adj" fmla="val 3453"/>
              </a:avLst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17" dirty="0">
                <a:solidFill>
                  <a:srgbClr val="B96B6B"/>
                </a:solidFill>
              </a:endParaRPr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475ABC57-5B74-DDBC-9B91-05B3C155827C}"/>
                </a:ext>
              </a:extLst>
            </p:cNvPr>
            <p:cNvSpPr/>
            <p:nvPr/>
          </p:nvSpPr>
          <p:spPr>
            <a:xfrm>
              <a:off x="8161072" y="982134"/>
              <a:ext cx="3456000" cy="2988733"/>
            </a:xfrm>
            <a:prstGeom prst="roundRect">
              <a:avLst>
                <a:gd name="adj" fmla="val 3453"/>
              </a:avLst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17" dirty="0">
                <a:solidFill>
                  <a:srgbClr val="B96B6B"/>
                </a:solidFill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3BC2ACBD-F925-CA47-B5EC-9657B71A3714}"/>
                </a:ext>
              </a:extLst>
            </p:cNvPr>
            <p:cNvSpPr/>
            <p:nvPr/>
          </p:nvSpPr>
          <p:spPr>
            <a:xfrm>
              <a:off x="8984818" y="746467"/>
              <a:ext cx="1808508" cy="403394"/>
            </a:xfrm>
            <a:prstGeom prst="roundRect">
              <a:avLst>
                <a:gd name="adj" fmla="val 50000"/>
              </a:avLst>
            </a:prstGeom>
            <a:solidFill>
              <a:srgbClr val="0E46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고객 </a:t>
              </a:r>
              <a:r>
                <a:rPr lang="ko-KR" altLang="en-US" sz="1600" dirty="0" err="1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이탈률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증가</a:t>
              </a:r>
            </a:p>
          </p:txBody>
        </p:sp>
        <p:sp>
          <p:nvSpPr>
            <p:cNvPr id="1031" name="TextBox 1030">
              <a:extLst>
                <a:ext uri="{FF2B5EF4-FFF2-40B4-BE49-F238E27FC236}">
                  <a16:creationId xmlns:a16="http://schemas.microsoft.com/office/drawing/2014/main" id="{62070478-E492-3105-FE78-69DF278BBD1E}"/>
                </a:ext>
              </a:extLst>
            </p:cNvPr>
            <p:cNvSpPr txBox="1"/>
            <p:nvPr/>
          </p:nvSpPr>
          <p:spPr>
            <a:xfrm>
              <a:off x="8425817" y="1198102"/>
              <a:ext cx="29265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[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연도별 </a:t>
              </a:r>
              <a:r>
                <a:rPr lang="ko-KR" altLang="en-US" sz="1400" dirty="0" err="1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이탈률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(%)]</a:t>
              </a:r>
              <a:endPara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077" name="TextBox 1076">
              <a:extLst>
                <a:ext uri="{FF2B5EF4-FFF2-40B4-BE49-F238E27FC236}">
                  <a16:creationId xmlns:a16="http://schemas.microsoft.com/office/drawing/2014/main" id="{0B21D3B5-2690-6B1C-3A18-B9CC39C6B5BD}"/>
                </a:ext>
              </a:extLst>
            </p:cNvPr>
            <p:cNvSpPr txBox="1"/>
            <p:nvPr/>
          </p:nvSpPr>
          <p:spPr>
            <a:xfrm>
              <a:off x="8471181" y="3696089"/>
              <a:ext cx="279203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출처 </a:t>
              </a:r>
              <a:r>
                <a:rPr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: POSCO</a:t>
              </a:r>
              <a:r>
                <a:rPr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AI</a:t>
              </a:r>
              <a:r>
                <a:rPr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Big</a:t>
              </a:r>
              <a:r>
                <a:rPr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Data </a:t>
              </a:r>
              <a:r>
                <a:rPr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제공 </a:t>
              </a:r>
              <a:r>
                <a:rPr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Customer.csv</a:t>
              </a:r>
              <a:endPara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grpSp>
          <p:nvGrpSpPr>
            <p:cNvPr id="1244" name="그룹 1243">
              <a:extLst>
                <a:ext uri="{FF2B5EF4-FFF2-40B4-BE49-F238E27FC236}">
                  <a16:creationId xmlns:a16="http://schemas.microsoft.com/office/drawing/2014/main" id="{2383D9A7-FE03-5A5E-F86C-E652C4AB30CE}"/>
                </a:ext>
              </a:extLst>
            </p:cNvPr>
            <p:cNvGrpSpPr/>
            <p:nvPr/>
          </p:nvGrpSpPr>
          <p:grpSpPr>
            <a:xfrm>
              <a:off x="8357307" y="4240392"/>
              <a:ext cx="3063531" cy="2220903"/>
              <a:chOff x="8160611" y="4252698"/>
              <a:chExt cx="3063531" cy="2220903"/>
            </a:xfrm>
          </p:grpSpPr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B24A0AA-0B65-5A3C-0E2B-C278A4B30CB4}"/>
                  </a:ext>
                </a:extLst>
              </p:cNvPr>
              <p:cNvSpPr txBox="1"/>
              <p:nvPr/>
            </p:nvSpPr>
            <p:spPr>
              <a:xfrm>
                <a:off x="8174836" y="4252698"/>
                <a:ext cx="3049306" cy="10307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2025</a:t>
                </a:r>
                <a:r>
                  <a:rPr lang="ko-KR" altLang="en-US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년 </a:t>
                </a:r>
                <a:r>
                  <a:rPr lang="en-US" altLang="ko-KR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10</a:t>
                </a:r>
                <a:r>
                  <a:rPr lang="ko-KR" altLang="en-US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월 월별 </a:t>
                </a:r>
                <a:r>
                  <a:rPr lang="ko-KR" altLang="en-US" sz="1400" dirty="0" err="1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이탈률</a:t>
                </a:r>
                <a:r>
                  <a:rPr lang="ko-KR" altLang="en-US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 </a:t>
                </a:r>
                <a:r>
                  <a:rPr lang="en-US" altLang="ko-KR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13.8%</a:t>
                </a:r>
                <a:r>
                  <a:rPr lang="ko-KR" altLang="en-US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로 연중 최고치 기록</a:t>
                </a:r>
                <a:r>
                  <a:rPr lang="en-US" altLang="ko-KR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, </a:t>
                </a:r>
                <a:r>
                  <a:rPr lang="ko-KR" altLang="en-US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이탈 가속화에 대한 </a:t>
                </a:r>
                <a:r>
                  <a:rPr lang="ko-KR" altLang="en-US" sz="1400" dirty="0" err="1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선제적</a:t>
                </a:r>
                <a:r>
                  <a:rPr lang="ko-KR" altLang="en-US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 대응 필요</a:t>
                </a:r>
              </a:p>
            </p:txBody>
          </p:sp>
          <p:sp>
            <p:nvSpPr>
              <p:cNvPr id="1177" name="TextBox 1176">
                <a:extLst>
                  <a:ext uri="{FF2B5EF4-FFF2-40B4-BE49-F238E27FC236}">
                    <a16:creationId xmlns:a16="http://schemas.microsoft.com/office/drawing/2014/main" id="{5E30ACFC-D847-E2B2-99EE-14BD3D460008}"/>
                  </a:ext>
                </a:extLst>
              </p:cNvPr>
              <p:cNvSpPr txBox="1"/>
              <p:nvPr/>
            </p:nvSpPr>
            <p:spPr>
              <a:xfrm>
                <a:off x="8174836" y="5442870"/>
                <a:ext cx="3049306" cy="10307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New</a:t>
                </a:r>
                <a:r>
                  <a:rPr lang="ko-KR" altLang="en-US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 </a:t>
                </a:r>
                <a:r>
                  <a:rPr lang="en-US" altLang="ko-KR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LTV </a:t>
                </a:r>
                <a:r>
                  <a:rPr lang="ko-KR" altLang="en-US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모델 기반으로 </a:t>
                </a:r>
                <a:r>
                  <a:rPr lang="ko-KR" altLang="en-US" sz="1400" dirty="0">
                    <a:solidFill>
                      <a:srgbClr val="0022C3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이탈 고위험 고객</a:t>
                </a:r>
                <a:r>
                  <a:rPr lang="ko-KR" altLang="en-US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을 사전 식별하고</a:t>
                </a:r>
                <a:r>
                  <a:rPr lang="en-US" altLang="ko-KR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, </a:t>
                </a:r>
                <a:r>
                  <a:rPr lang="ko-KR" altLang="en-US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약정 만료 전 </a:t>
                </a:r>
                <a:r>
                  <a:rPr lang="ko-KR" altLang="en-US" sz="1400" dirty="0" err="1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선제적</a:t>
                </a:r>
                <a:r>
                  <a:rPr lang="ko-KR" altLang="en-US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 혜택 제공</a:t>
                </a:r>
                <a:r>
                  <a:rPr lang="en-US" altLang="ko-KR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 </a:t>
                </a:r>
                <a:r>
                  <a:rPr lang="ko-KR" altLang="en-US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등 </a:t>
                </a:r>
                <a:r>
                  <a:rPr lang="ko-KR" altLang="en-US" sz="1400" dirty="0" err="1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이탈률</a:t>
                </a:r>
                <a:r>
                  <a:rPr lang="ko-KR" altLang="en-US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 감소 도모</a:t>
                </a:r>
              </a:p>
            </p:txBody>
          </p:sp>
          <p:cxnSp>
            <p:nvCxnSpPr>
              <p:cNvPr id="1181" name="직선 연결선 1180">
                <a:extLst>
                  <a:ext uri="{FF2B5EF4-FFF2-40B4-BE49-F238E27FC236}">
                    <a16:creationId xmlns:a16="http://schemas.microsoft.com/office/drawing/2014/main" id="{B82E1BEB-51AB-54ED-FABA-1295AF3BF67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60611" y="5401191"/>
                <a:ext cx="2997032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3" name="화살표: 오른쪽 1232">
                <a:extLst>
                  <a:ext uri="{FF2B5EF4-FFF2-40B4-BE49-F238E27FC236}">
                    <a16:creationId xmlns:a16="http://schemas.microsoft.com/office/drawing/2014/main" id="{90F07D6D-F3B0-D541-325C-4D0FEEA26C9C}"/>
                  </a:ext>
                </a:extLst>
              </p:cNvPr>
              <p:cNvSpPr/>
              <p:nvPr/>
            </p:nvSpPr>
            <p:spPr>
              <a:xfrm rot="5400000">
                <a:off x="9479013" y="5074162"/>
                <a:ext cx="411420" cy="561453"/>
              </a:xfrm>
              <a:prstGeom prst="rightArrow">
                <a:avLst/>
              </a:prstGeom>
              <a:gradFill flip="none" rotWithShape="1">
                <a:gsLst>
                  <a:gs pos="44992">
                    <a:srgbClr val="E5DCDB"/>
                  </a:gs>
                  <a:gs pos="4000">
                    <a:srgbClr val="F7F3F3">
                      <a:alpha val="75000"/>
                    </a:srgbClr>
                  </a:gs>
                  <a:gs pos="100000">
                    <a:srgbClr val="CDBCBB"/>
                  </a:gs>
                </a:gsLst>
                <a:lin ang="2154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028" name="그룹 1027">
              <a:extLst>
                <a:ext uri="{FF2B5EF4-FFF2-40B4-BE49-F238E27FC236}">
                  <a16:creationId xmlns:a16="http://schemas.microsoft.com/office/drawing/2014/main" id="{C4B334E9-9E75-CA41-2D49-C3F076097D88}"/>
                </a:ext>
              </a:extLst>
            </p:cNvPr>
            <p:cNvGrpSpPr/>
            <p:nvPr/>
          </p:nvGrpSpPr>
          <p:grpSpPr>
            <a:xfrm>
              <a:off x="8528420" y="1655715"/>
              <a:ext cx="2721305" cy="1986173"/>
              <a:chOff x="8528420" y="1655715"/>
              <a:chExt cx="2721305" cy="1986173"/>
            </a:xfrm>
          </p:grpSpPr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1B8A26F2-CBE6-BC4D-6116-4291686D24E7}"/>
                  </a:ext>
                </a:extLst>
              </p:cNvPr>
              <p:cNvSpPr/>
              <p:nvPr/>
            </p:nvSpPr>
            <p:spPr>
              <a:xfrm>
                <a:off x="8528420" y="1655715"/>
                <a:ext cx="2721305" cy="19861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1A466F6-A932-6CED-0490-1D693822C1F7}"/>
                  </a:ext>
                </a:extLst>
              </p:cNvPr>
              <p:cNvSpPr txBox="1"/>
              <p:nvPr/>
            </p:nvSpPr>
            <p:spPr>
              <a:xfrm>
                <a:off x="10815395" y="3311954"/>
                <a:ext cx="32400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25</a:t>
                </a:r>
                <a:endParaRPr lang="ko-KR" altLang="en-US" sz="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E758940-67B1-0E08-B28F-516BFC534E39}"/>
                  </a:ext>
                </a:extLst>
              </p:cNvPr>
              <p:cNvSpPr txBox="1"/>
              <p:nvPr/>
            </p:nvSpPr>
            <p:spPr>
              <a:xfrm>
                <a:off x="8793195" y="3311954"/>
                <a:ext cx="32400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20</a:t>
                </a:r>
                <a:endParaRPr lang="ko-KR" altLang="en-US" sz="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9CF827A-2BF9-1A8F-E38D-5E606A31A7D4}"/>
                  </a:ext>
                </a:extLst>
              </p:cNvPr>
              <p:cNvSpPr txBox="1"/>
              <p:nvPr/>
            </p:nvSpPr>
            <p:spPr>
              <a:xfrm>
                <a:off x="9197635" y="3311954"/>
                <a:ext cx="32400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21</a:t>
                </a:r>
                <a:endParaRPr lang="ko-KR" altLang="en-US" sz="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4D91AF6-73F1-023E-E6FF-CB2E6ACBD44C}"/>
                  </a:ext>
                </a:extLst>
              </p:cNvPr>
              <p:cNvSpPr txBox="1"/>
              <p:nvPr/>
            </p:nvSpPr>
            <p:spPr>
              <a:xfrm>
                <a:off x="10410955" y="3311954"/>
                <a:ext cx="32400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24</a:t>
                </a:r>
                <a:endParaRPr lang="ko-KR" altLang="en-US" sz="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8254B5C2-3919-C162-F3C8-86D4ED88F55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01032" y="1850010"/>
                <a:ext cx="0" cy="1475703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7CCAB49-0AB4-A057-0B8C-8555F90E24FA}"/>
                  </a:ext>
                </a:extLst>
              </p:cNvPr>
              <p:cNvSpPr txBox="1"/>
              <p:nvPr/>
            </p:nvSpPr>
            <p:spPr>
              <a:xfrm>
                <a:off x="9602075" y="3311954"/>
                <a:ext cx="32400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22</a:t>
                </a:r>
                <a:endParaRPr lang="ko-KR" altLang="en-US" sz="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30785F0-BBBB-DDE5-BB5A-073F3A0557A7}"/>
                  </a:ext>
                </a:extLst>
              </p:cNvPr>
              <p:cNvSpPr txBox="1"/>
              <p:nvPr/>
            </p:nvSpPr>
            <p:spPr>
              <a:xfrm>
                <a:off x="10006515" y="3311954"/>
                <a:ext cx="32400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23</a:t>
                </a:r>
                <a:endParaRPr lang="ko-KR" altLang="en-US" sz="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CE5C4DA-5270-F0A2-E42C-72B18BB4A2C6}"/>
                  </a:ext>
                </a:extLst>
              </p:cNvPr>
              <p:cNvSpPr txBox="1"/>
              <p:nvPr/>
            </p:nvSpPr>
            <p:spPr>
              <a:xfrm>
                <a:off x="10727158" y="1878755"/>
                <a:ext cx="49018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E74C3C"/>
                    </a:solidFill>
                    <a:latin typeface="나눔스퀘어_ac ExtraBold" panose="020B0600000101010101" pitchFamily="50" charset="-127"/>
                    <a:ea typeface="나눔스퀘어_ac ExtraBold" panose="020B0600000101010101" pitchFamily="50" charset="-127"/>
                  </a:rPr>
                  <a:t>24.8</a:t>
                </a:r>
                <a:endParaRPr lang="ko-KR" altLang="en-US" sz="1000" dirty="0">
                  <a:solidFill>
                    <a:srgbClr val="E74C3C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560F806-3B1C-E763-6445-9852F6F9F902}"/>
                  </a:ext>
                </a:extLst>
              </p:cNvPr>
              <p:cNvSpPr txBox="1"/>
              <p:nvPr/>
            </p:nvSpPr>
            <p:spPr>
              <a:xfrm>
                <a:off x="8535549" y="3210604"/>
                <a:ext cx="31244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8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0</a:t>
                </a:r>
                <a:endParaRPr lang="ko-KR" altLang="en-US" sz="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71D84D9-1D29-F19D-D2EC-33CF441C9B6D}"/>
                  </a:ext>
                </a:extLst>
              </p:cNvPr>
              <p:cNvSpPr txBox="1"/>
              <p:nvPr/>
            </p:nvSpPr>
            <p:spPr>
              <a:xfrm>
                <a:off x="8535549" y="1751204"/>
                <a:ext cx="31244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8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30</a:t>
                </a:r>
                <a:endParaRPr lang="ko-KR" altLang="en-US" sz="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38AC6FA-F519-1209-3EA2-9A680183E6CF}"/>
                  </a:ext>
                </a:extLst>
              </p:cNvPr>
              <p:cNvSpPr txBox="1"/>
              <p:nvPr/>
            </p:nvSpPr>
            <p:spPr>
              <a:xfrm>
                <a:off x="8535549" y="2237671"/>
                <a:ext cx="31244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8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20</a:t>
                </a:r>
                <a:endParaRPr lang="ko-KR" altLang="en-US" sz="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C6AC6E4-F18A-FEF1-275F-64A4543DF499}"/>
                  </a:ext>
                </a:extLst>
              </p:cNvPr>
              <p:cNvSpPr txBox="1"/>
              <p:nvPr/>
            </p:nvSpPr>
            <p:spPr>
              <a:xfrm>
                <a:off x="8535549" y="2724138"/>
                <a:ext cx="31244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8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10</a:t>
                </a:r>
                <a:endParaRPr lang="ko-KR" altLang="en-US" sz="8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pic>
            <p:nvPicPr>
              <p:cNvPr id="35" name="그래픽 34" descr="시계 방향으로 굽은 화살표 단색으로 채워진">
                <a:extLst>
                  <a:ext uri="{FF2B5EF4-FFF2-40B4-BE49-F238E27FC236}">
                    <a16:creationId xmlns:a16="http://schemas.microsoft.com/office/drawing/2014/main" id="{79F02EFD-5B1B-F6E7-8578-8091E9CAD0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13500000" flipV="1">
                <a:off x="10126190" y="2255410"/>
                <a:ext cx="517151" cy="1449749"/>
              </a:xfrm>
              <a:prstGeom prst="rect">
                <a:avLst/>
              </a:prstGeom>
            </p:spPr>
          </p:pic>
          <p:sp>
            <p:nvSpPr>
              <p:cNvPr id="1068" name="직사각형 1067">
                <a:extLst>
                  <a:ext uri="{FF2B5EF4-FFF2-40B4-BE49-F238E27FC236}">
                    <a16:creationId xmlns:a16="http://schemas.microsoft.com/office/drawing/2014/main" id="{4E576DEE-966A-B2A8-BAC5-FC88B470AF9D}"/>
                  </a:ext>
                </a:extLst>
              </p:cNvPr>
              <p:cNvSpPr/>
              <p:nvPr/>
            </p:nvSpPr>
            <p:spPr>
              <a:xfrm rot="16200000">
                <a:off x="10380176" y="2633523"/>
                <a:ext cx="1177366" cy="211386"/>
              </a:xfrm>
              <a:prstGeom prst="rect">
                <a:avLst/>
              </a:prstGeom>
              <a:solidFill>
                <a:srgbClr val="D5272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69" name="TextBox 1068">
                <a:extLst>
                  <a:ext uri="{FF2B5EF4-FFF2-40B4-BE49-F238E27FC236}">
                    <a16:creationId xmlns:a16="http://schemas.microsoft.com/office/drawing/2014/main" id="{377E5589-5189-4EA8-74C9-1D1F4AF31F7D}"/>
                  </a:ext>
                </a:extLst>
              </p:cNvPr>
              <p:cNvSpPr txBox="1"/>
              <p:nvPr/>
            </p:nvSpPr>
            <p:spPr>
              <a:xfrm>
                <a:off x="9522775" y="3108538"/>
                <a:ext cx="49018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E74C3C"/>
                    </a:solidFill>
                    <a:latin typeface="나눔스퀘어_ac ExtraBold" panose="020B0600000101010101" pitchFamily="50" charset="-127"/>
                    <a:ea typeface="나눔스퀘어_ac ExtraBold" panose="020B0600000101010101" pitchFamily="50" charset="-127"/>
                  </a:rPr>
                  <a:t>0.0</a:t>
                </a:r>
                <a:endParaRPr lang="ko-KR" altLang="en-US" sz="1000" dirty="0">
                  <a:solidFill>
                    <a:srgbClr val="E74C3C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endParaRPr>
              </a:p>
            </p:txBody>
          </p: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9B6C6C93-FCCC-2D90-7C5B-61925DB943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01030" y="3325713"/>
                <a:ext cx="2282927" cy="0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F06C737-223F-6444-2739-3528556E2787}"/>
              </a:ext>
            </a:extLst>
          </p:cNvPr>
          <p:cNvGrpSpPr/>
          <p:nvPr/>
        </p:nvGrpSpPr>
        <p:grpSpPr>
          <a:xfrm>
            <a:off x="4368000" y="746467"/>
            <a:ext cx="3456000" cy="5806732"/>
            <a:chOff x="4369226" y="746467"/>
            <a:chExt cx="3456000" cy="5806732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80559AE4-5400-4C8B-526C-B0692943A0BD}"/>
                </a:ext>
              </a:extLst>
            </p:cNvPr>
            <p:cNvSpPr/>
            <p:nvPr/>
          </p:nvSpPr>
          <p:spPr>
            <a:xfrm>
              <a:off x="4369226" y="4148488"/>
              <a:ext cx="3456000" cy="2404711"/>
            </a:xfrm>
            <a:prstGeom prst="roundRect">
              <a:avLst>
                <a:gd name="adj" fmla="val 3453"/>
              </a:avLst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17" dirty="0">
                <a:solidFill>
                  <a:srgbClr val="B96B6B"/>
                </a:solidFill>
              </a:endParaRPr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265082F3-F68F-C528-284C-938C97421CFA}"/>
                </a:ext>
              </a:extLst>
            </p:cNvPr>
            <p:cNvSpPr/>
            <p:nvPr/>
          </p:nvSpPr>
          <p:spPr>
            <a:xfrm>
              <a:off x="4369226" y="982134"/>
              <a:ext cx="3456000" cy="2988733"/>
            </a:xfrm>
            <a:prstGeom prst="roundRect">
              <a:avLst>
                <a:gd name="adj" fmla="val 3453"/>
              </a:avLst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17" dirty="0">
                <a:solidFill>
                  <a:srgbClr val="B96B6B"/>
                </a:solidFill>
              </a:endParaRP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DE944604-C4F4-4E44-5C11-8694B2D0D8DA}"/>
                </a:ext>
              </a:extLst>
            </p:cNvPr>
            <p:cNvSpPr/>
            <p:nvPr/>
          </p:nvSpPr>
          <p:spPr>
            <a:xfrm>
              <a:off x="5192972" y="746467"/>
              <a:ext cx="1808508" cy="403394"/>
            </a:xfrm>
            <a:prstGeom prst="roundRect">
              <a:avLst>
                <a:gd name="adj" fmla="val 50000"/>
              </a:avLst>
            </a:prstGeom>
            <a:solidFill>
              <a:srgbClr val="0E46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LTV 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대표성 부족</a:t>
              </a:r>
            </a:p>
          </p:txBody>
        </p:sp>
        <p:sp>
          <p:nvSpPr>
            <p:cNvPr id="1079" name="TextBox 1078">
              <a:extLst>
                <a:ext uri="{FF2B5EF4-FFF2-40B4-BE49-F238E27FC236}">
                  <a16:creationId xmlns:a16="http://schemas.microsoft.com/office/drawing/2014/main" id="{8DA079DC-C0A2-E312-6F48-899499E197B6}"/>
                </a:ext>
              </a:extLst>
            </p:cNvPr>
            <p:cNvSpPr txBox="1"/>
            <p:nvPr/>
          </p:nvSpPr>
          <p:spPr>
            <a:xfrm>
              <a:off x="4754068" y="3696089"/>
              <a:ext cx="27980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출처 </a:t>
              </a:r>
              <a:r>
                <a:rPr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: POSCO</a:t>
              </a:r>
              <a:r>
                <a:rPr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AI</a:t>
              </a:r>
              <a:r>
                <a:rPr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Big</a:t>
              </a:r>
              <a:r>
                <a:rPr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Data </a:t>
              </a:r>
              <a:r>
                <a:rPr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제공 </a:t>
              </a:r>
              <a:r>
                <a:rPr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Customer.csv</a:t>
              </a:r>
              <a:endPara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174" name="TextBox 1173">
              <a:extLst>
                <a:ext uri="{FF2B5EF4-FFF2-40B4-BE49-F238E27FC236}">
                  <a16:creationId xmlns:a16="http://schemas.microsoft.com/office/drawing/2014/main" id="{9BEAF267-2BF2-428D-ACA6-9D9312EFE916}"/>
                </a:ext>
              </a:extLst>
            </p:cNvPr>
            <p:cNvSpPr txBox="1"/>
            <p:nvPr/>
          </p:nvSpPr>
          <p:spPr>
            <a:xfrm>
              <a:off x="4914769" y="1198102"/>
              <a:ext cx="23624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[LTV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와 변수 간 상관계수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]</a:t>
              </a:r>
              <a:endPara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cxnSp>
          <p:nvCxnSpPr>
            <p:cNvPr id="1180" name="직선 연결선 1179">
              <a:extLst>
                <a:ext uri="{FF2B5EF4-FFF2-40B4-BE49-F238E27FC236}">
                  <a16:creationId xmlns:a16="http://schemas.microsoft.com/office/drawing/2014/main" id="{2F17FCA6-14D8-0120-81D4-004EE3C9B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9211" y="5401191"/>
              <a:ext cx="2997032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43" name="그룹 1242">
              <a:extLst>
                <a:ext uri="{FF2B5EF4-FFF2-40B4-BE49-F238E27FC236}">
                  <a16:creationId xmlns:a16="http://schemas.microsoft.com/office/drawing/2014/main" id="{067DE15E-9851-7C5E-9D9E-0A7ADB4229E6}"/>
                </a:ext>
              </a:extLst>
            </p:cNvPr>
            <p:cNvGrpSpPr/>
            <p:nvPr/>
          </p:nvGrpSpPr>
          <p:grpSpPr>
            <a:xfrm>
              <a:off x="4572573" y="4240392"/>
              <a:ext cx="3049306" cy="2220903"/>
              <a:chOff x="4571347" y="4252698"/>
              <a:chExt cx="3049306" cy="2220903"/>
            </a:xfrm>
          </p:grpSpPr>
          <p:sp>
            <p:nvSpPr>
              <p:cNvPr id="1234" name="직사각형 1233">
                <a:extLst>
                  <a:ext uri="{FF2B5EF4-FFF2-40B4-BE49-F238E27FC236}">
                    <a16:creationId xmlns:a16="http://schemas.microsoft.com/office/drawing/2014/main" id="{57FB4E88-109A-2654-880C-7EF609A085F9}"/>
                  </a:ext>
                </a:extLst>
              </p:cNvPr>
              <p:cNvSpPr/>
              <p:nvPr/>
            </p:nvSpPr>
            <p:spPr>
              <a:xfrm>
                <a:off x="5004231" y="6226720"/>
                <a:ext cx="1082773" cy="182692"/>
              </a:xfrm>
              <a:prstGeom prst="rect">
                <a:avLst/>
              </a:prstGeom>
              <a:solidFill>
                <a:srgbClr val="FFC000">
                  <a:alpha val="3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07C15F7-2EB6-2296-D019-042AF543BFED}"/>
                  </a:ext>
                </a:extLst>
              </p:cNvPr>
              <p:cNvSpPr txBox="1"/>
              <p:nvPr/>
            </p:nvSpPr>
            <p:spPr>
              <a:xfrm>
                <a:off x="4571347" y="4252698"/>
                <a:ext cx="3049306" cy="10307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주요 변수와의 상관계수가 최대 </a:t>
                </a:r>
                <a:r>
                  <a:rPr lang="en-US" altLang="ko-KR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0.386</a:t>
                </a:r>
                <a:r>
                  <a:rPr lang="ko-KR" altLang="en-US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으로 현행 </a:t>
                </a:r>
                <a:r>
                  <a:rPr lang="en-US" altLang="ko-KR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LTV </a:t>
                </a:r>
                <a:r>
                  <a:rPr lang="ko-KR" altLang="en-US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식으로는 고객 가치를 정확히 측정하기 어려움</a:t>
                </a:r>
              </a:p>
            </p:txBody>
          </p:sp>
          <p:sp>
            <p:nvSpPr>
              <p:cNvPr id="1176" name="TextBox 1175">
                <a:extLst>
                  <a:ext uri="{FF2B5EF4-FFF2-40B4-BE49-F238E27FC236}">
                    <a16:creationId xmlns:a16="http://schemas.microsoft.com/office/drawing/2014/main" id="{3AF15B01-FAE4-E14B-BA3C-73B99D337A12}"/>
                  </a:ext>
                </a:extLst>
              </p:cNvPr>
              <p:cNvSpPr txBox="1"/>
              <p:nvPr/>
            </p:nvSpPr>
            <p:spPr>
              <a:xfrm>
                <a:off x="4571347" y="5442870"/>
                <a:ext cx="3049306" cy="10307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수익 변수 외에 </a:t>
                </a:r>
                <a:r>
                  <a:rPr lang="ko-KR" altLang="en-US" sz="1400" dirty="0">
                    <a:solidFill>
                      <a:srgbClr val="0022C3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이탈가능점수</a:t>
                </a:r>
                <a:r>
                  <a:rPr lang="en-US" altLang="ko-KR" sz="1400" dirty="0">
                    <a:solidFill>
                      <a:srgbClr val="0022C3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, </a:t>
                </a:r>
                <a:r>
                  <a:rPr lang="ko-KR" altLang="en-US" sz="1400" dirty="0">
                    <a:solidFill>
                      <a:srgbClr val="0022C3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고객 만족도</a:t>
                </a:r>
                <a:r>
                  <a:rPr lang="en-US" altLang="ko-KR" sz="1400" dirty="0">
                    <a:solidFill>
                      <a:srgbClr val="0022C3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, </a:t>
                </a:r>
                <a:r>
                  <a:rPr lang="ko-KR" altLang="en-US" sz="1400" dirty="0">
                    <a:solidFill>
                      <a:srgbClr val="0022C3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추천 횟수 등 변수</a:t>
                </a:r>
                <a:r>
                  <a:rPr lang="ko-KR" altLang="en-US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를 추가하여 설명력을 제고한 새 </a:t>
                </a:r>
                <a:r>
                  <a:rPr lang="en-US" altLang="ko-KR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LTV </a:t>
                </a:r>
                <a:r>
                  <a:rPr lang="ko-KR" altLang="en-US" sz="1400" dirty="0" err="1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산출식</a:t>
                </a:r>
                <a:r>
                  <a:rPr lang="ko-KR" altLang="en-US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 제안</a:t>
                </a:r>
              </a:p>
            </p:txBody>
          </p:sp>
          <p:sp>
            <p:nvSpPr>
              <p:cNvPr id="1232" name="화살표: 오른쪽 1231">
                <a:extLst>
                  <a:ext uri="{FF2B5EF4-FFF2-40B4-BE49-F238E27FC236}">
                    <a16:creationId xmlns:a16="http://schemas.microsoft.com/office/drawing/2014/main" id="{8D3817E2-FFAE-0E81-5B52-81D5DDDDE69E}"/>
                  </a:ext>
                </a:extLst>
              </p:cNvPr>
              <p:cNvSpPr/>
              <p:nvPr/>
            </p:nvSpPr>
            <p:spPr>
              <a:xfrm rot="5400000">
                <a:off x="5891516" y="5074161"/>
                <a:ext cx="411420" cy="561453"/>
              </a:xfrm>
              <a:prstGeom prst="rightArrow">
                <a:avLst/>
              </a:prstGeom>
              <a:gradFill flip="none" rotWithShape="1">
                <a:gsLst>
                  <a:gs pos="44992">
                    <a:srgbClr val="E5DCDB"/>
                  </a:gs>
                  <a:gs pos="4000">
                    <a:srgbClr val="F7F3F3">
                      <a:alpha val="75000"/>
                    </a:srgbClr>
                  </a:gs>
                  <a:gs pos="100000">
                    <a:srgbClr val="CDBCBB"/>
                  </a:gs>
                </a:gsLst>
                <a:lin ang="2154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2AED0609-F8D9-1CBD-3795-D7D1F1CE3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789125" y="1494366"/>
              <a:ext cx="2711451" cy="952500"/>
            </a:xfrm>
            <a:prstGeom prst="rect">
              <a:avLst/>
            </a:pr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80D92DC4-7456-FA1A-DC20-799D62CCC5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789125" y="2595033"/>
              <a:ext cx="2717800" cy="939800"/>
            </a:xfrm>
            <a:prstGeom prst="rect">
              <a:avLst/>
            </a:prstGeom>
          </p:spPr>
        </p:pic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00A47679-C775-72F5-778D-0A7AAB03CAC7}"/>
                </a:ext>
              </a:extLst>
            </p:cNvPr>
            <p:cNvSpPr txBox="1"/>
            <p:nvPr/>
          </p:nvSpPr>
          <p:spPr>
            <a:xfrm rot="16200000">
              <a:off x="4405938" y="2890291"/>
              <a:ext cx="5446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LTV</a:t>
              </a:r>
              <a:endPara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A5C931FA-A39B-EE04-9AB2-E95CB200817B}"/>
                </a:ext>
              </a:extLst>
            </p:cNvPr>
            <p:cNvSpPr txBox="1"/>
            <p:nvPr/>
          </p:nvSpPr>
          <p:spPr>
            <a:xfrm rot="16200000">
              <a:off x="4405939" y="1800208"/>
              <a:ext cx="5446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LTV</a:t>
              </a:r>
              <a:endPara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026" name="TextBox 1025">
              <a:extLst>
                <a:ext uri="{FF2B5EF4-FFF2-40B4-BE49-F238E27FC236}">
                  <a16:creationId xmlns:a16="http://schemas.microsoft.com/office/drawing/2014/main" id="{45248886-024B-8C73-04E1-6DC4CF89A806}"/>
                </a:ext>
              </a:extLst>
            </p:cNvPr>
            <p:cNvSpPr txBox="1"/>
            <p:nvPr/>
          </p:nvSpPr>
          <p:spPr>
            <a:xfrm>
              <a:off x="5816636" y="3501355"/>
              <a:ext cx="67005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총과금액</a:t>
              </a:r>
              <a:endPara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CDC3F9BC-E0D3-5A2E-2555-027F2A0A22E2}"/>
                </a:ext>
              </a:extLst>
            </p:cNvPr>
            <p:cNvSpPr txBox="1"/>
            <p:nvPr/>
          </p:nvSpPr>
          <p:spPr>
            <a:xfrm>
              <a:off x="5816636" y="2396456"/>
              <a:ext cx="67005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가입기간</a:t>
              </a:r>
              <a:endPara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8FAEDDB-304B-4F2E-B996-8022DE23808A}"/>
              </a:ext>
            </a:extLst>
          </p:cNvPr>
          <p:cNvGrpSpPr/>
          <p:nvPr/>
        </p:nvGrpSpPr>
        <p:grpSpPr>
          <a:xfrm>
            <a:off x="574929" y="746467"/>
            <a:ext cx="3456000" cy="5806895"/>
            <a:chOff x="779277" y="746467"/>
            <a:chExt cx="3456000" cy="5806895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8316B829-767E-D583-256C-CF37487DFB66}"/>
                </a:ext>
              </a:extLst>
            </p:cNvPr>
            <p:cNvSpPr/>
            <p:nvPr/>
          </p:nvSpPr>
          <p:spPr>
            <a:xfrm>
              <a:off x="779277" y="4148526"/>
              <a:ext cx="3456000" cy="2404836"/>
            </a:xfrm>
            <a:prstGeom prst="roundRect">
              <a:avLst>
                <a:gd name="adj" fmla="val 3453"/>
              </a:avLst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17" dirty="0">
                <a:solidFill>
                  <a:srgbClr val="B96B6B"/>
                </a:solidFill>
              </a:endParaRPr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535C2495-9CB7-FBCA-A2C8-ED7CB78BDA32}"/>
                </a:ext>
              </a:extLst>
            </p:cNvPr>
            <p:cNvSpPr/>
            <p:nvPr/>
          </p:nvSpPr>
          <p:spPr>
            <a:xfrm>
              <a:off x="779277" y="982134"/>
              <a:ext cx="3456000" cy="2988733"/>
            </a:xfrm>
            <a:prstGeom prst="roundRect">
              <a:avLst>
                <a:gd name="adj" fmla="val 3453"/>
              </a:avLst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17" dirty="0">
                <a:solidFill>
                  <a:srgbClr val="B96B6B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460D571-7218-D391-DE16-C80C66183C6D}"/>
                </a:ext>
              </a:extLst>
            </p:cNvPr>
            <p:cNvSpPr txBox="1"/>
            <p:nvPr/>
          </p:nvSpPr>
          <p:spPr>
            <a:xfrm>
              <a:off x="1077218" y="3696089"/>
              <a:ext cx="27980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출처 </a:t>
              </a:r>
              <a:r>
                <a:rPr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: POSCO</a:t>
              </a:r>
              <a:r>
                <a:rPr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AI</a:t>
              </a:r>
              <a:r>
                <a:rPr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Big</a:t>
              </a:r>
              <a:r>
                <a:rPr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Data </a:t>
              </a:r>
              <a:r>
                <a:rPr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제공 </a:t>
              </a:r>
              <a:r>
                <a:rPr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Customer.csv</a:t>
              </a:r>
              <a:endPara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grpSp>
          <p:nvGrpSpPr>
            <p:cNvPr id="1175" name="그룹 1174">
              <a:extLst>
                <a:ext uri="{FF2B5EF4-FFF2-40B4-BE49-F238E27FC236}">
                  <a16:creationId xmlns:a16="http://schemas.microsoft.com/office/drawing/2014/main" id="{15D10307-6A50-7E81-46CC-771AAF6569B6}"/>
                </a:ext>
              </a:extLst>
            </p:cNvPr>
            <p:cNvGrpSpPr/>
            <p:nvPr/>
          </p:nvGrpSpPr>
          <p:grpSpPr>
            <a:xfrm>
              <a:off x="1146625" y="1655715"/>
              <a:ext cx="2721305" cy="1986173"/>
              <a:chOff x="1146625" y="1799757"/>
              <a:chExt cx="2721305" cy="1825200"/>
            </a:xfrm>
          </p:grpSpPr>
          <p:grpSp>
            <p:nvGrpSpPr>
              <p:cNvPr id="1086" name="그룹 1085">
                <a:extLst>
                  <a:ext uri="{FF2B5EF4-FFF2-40B4-BE49-F238E27FC236}">
                    <a16:creationId xmlns:a16="http://schemas.microsoft.com/office/drawing/2014/main" id="{E0FC5565-D2D6-95D3-660A-1F1212DB3632}"/>
                  </a:ext>
                </a:extLst>
              </p:cNvPr>
              <p:cNvGrpSpPr/>
              <p:nvPr/>
            </p:nvGrpSpPr>
            <p:grpSpPr>
              <a:xfrm>
                <a:off x="1146625" y="1799757"/>
                <a:ext cx="2721305" cy="1825200"/>
                <a:chOff x="4734866" y="-2610929"/>
                <a:chExt cx="2721305" cy="1825200"/>
              </a:xfrm>
            </p:grpSpPr>
            <p:grpSp>
              <p:nvGrpSpPr>
                <p:cNvPr id="1088" name="그룹 1087">
                  <a:extLst>
                    <a:ext uri="{FF2B5EF4-FFF2-40B4-BE49-F238E27FC236}">
                      <a16:creationId xmlns:a16="http://schemas.microsoft.com/office/drawing/2014/main" id="{C905A7CB-0454-747B-1AAE-614039D92078}"/>
                    </a:ext>
                  </a:extLst>
                </p:cNvPr>
                <p:cNvGrpSpPr/>
                <p:nvPr/>
              </p:nvGrpSpPr>
              <p:grpSpPr>
                <a:xfrm>
                  <a:off x="4734866" y="-2610929"/>
                  <a:ext cx="2721305" cy="1825200"/>
                  <a:chOff x="4663428" y="1594174"/>
                  <a:chExt cx="2721305" cy="1825200"/>
                </a:xfrm>
              </p:grpSpPr>
              <p:sp>
                <p:nvSpPr>
                  <p:cNvPr id="1095" name="직사각형 1094">
                    <a:extLst>
                      <a:ext uri="{FF2B5EF4-FFF2-40B4-BE49-F238E27FC236}">
                        <a16:creationId xmlns:a16="http://schemas.microsoft.com/office/drawing/2014/main" id="{50C0835A-BFD1-E44E-228E-B1646DCB69F6}"/>
                      </a:ext>
                    </a:extLst>
                  </p:cNvPr>
                  <p:cNvSpPr/>
                  <p:nvPr/>
                </p:nvSpPr>
                <p:spPr>
                  <a:xfrm>
                    <a:off x="4663428" y="1594174"/>
                    <a:ext cx="2721305" cy="18252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grpSp>
                <p:nvGrpSpPr>
                  <p:cNvPr id="1096" name="그룹 1095">
                    <a:extLst>
                      <a:ext uri="{FF2B5EF4-FFF2-40B4-BE49-F238E27FC236}">
                        <a16:creationId xmlns:a16="http://schemas.microsoft.com/office/drawing/2014/main" id="{EBF7DC11-A4A2-F91D-A404-1054E98EB9B5}"/>
                      </a:ext>
                    </a:extLst>
                  </p:cNvPr>
                  <p:cNvGrpSpPr/>
                  <p:nvPr/>
                </p:nvGrpSpPr>
                <p:grpSpPr>
                  <a:xfrm>
                    <a:off x="4856957" y="1855599"/>
                    <a:ext cx="2334246" cy="1541433"/>
                    <a:chOff x="1949181" y="-998022"/>
                    <a:chExt cx="2334246" cy="1541433"/>
                  </a:xfrm>
                </p:grpSpPr>
                <p:sp>
                  <p:nvSpPr>
                    <p:cNvPr id="1097" name="TextBox 1096">
                      <a:extLst>
                        <a:ext uri="{FF2B5EF4-FFF2-40B4-BE49-F238E27FC236}">
                          <a16:creationId xmlns:a16="http://schemas.microsoft.com/office/drawing/2014/main" id="{A020A3E7-9FED-0577-0727-CAF75BD919F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59286" y="281801"/>
                      <a:ext cx="731520" cy="25391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ko-KR" sz="1050" dirty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2021</a:t>
                      </a:r>
                      <a:endParaRPr lang="ko-KR" altLang="en-US" sz="105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p:txBody>
                </p:sp>
                <p:sp>
                  <p:nvSpPr>
                    <p:cNvPr id="1098" name="TextBox 1097">
                      <a:extLst>
                        <a:ext uri="{FF2B5EF4-FFF2-40B4-BE49-F238E27FC236}">
                          <a16:creationId xmlns:a16="http://schemas.microsoft.com/office/drawing/2014/main" id="{371DE077-137C-BBBA-65AF-3909AE76793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44086" y="281801"/>
                      <a:ext cx="539341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ko-KR" sz="1050" dirty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2025</a:t>
                      </a:r>
                      <a:endParaRPr lang="ko-KR" altLang="en-US" sz="105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p:txBody>
                </p:sp>
                <p:grpSp>
                  <p:nvGrpSpPr>
                    <p:cNvPr id="1099" name="그룹 1098">
                      <a:extLst>
                        <a:ext uri="{FF2B5EF4-FFF2-40B4-BE49-F238E27FC236}">
                          <a16:creationId xmlns:a16="http://schemas.microsoft.com/office/drawing/2014/main" id="{F292867B-B654-86F5-BA89-85487A1CC50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49181" y="-998022"/>
                      <a:ext cx="2282927" cy="1541433"/>
                      <a:chOff x="1949181" y="-998022"/>
                      <a:chExt cx="2282927" cy="1541433"/>
                    </a:xfrm>
                  </p:grpSpPr>
                  <p:sp>
                    <p:nvSpPr>
                      <p:cNvPr id="1100" name="TextBox 1099">
                        <a:extLst>
                          <a:ext uri="{FF2B5EF4-FFF2-40B4-BE49-F238E27FC236}">
                            <a16:creationId xmlns:a16="http://schemas.microsoft.com/office/drawing/2014/main" id="{4BAE2447-76CC-E672-5DF7-F33310B0032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400713" y="281801"/>
                        <a:ext cx="731520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ko-KR" sz="1050" dirty="0">
                            <a:latin typeface="나눔스퀘어_ac Bold" panose="020B0600000101010101" pitchFamily="50" charset="-127"/>
                            <a:ea typeface="나눔스퀘어_ac Bold" panose="020B0600000101010101" pitchFamily="50" charset="-127"/>
                          </a:rPr>
                          <a:t>2022</a:t>
                        </a:r>
                        <a:endParaRPr lang="ko-KR" altLang="en-US" sz="1050" dirty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endParaRPr>
                      </a:p>
                    </p:txBody>
                  </p:sp>
                  <p:cxnSp>
                    <p:nvCxnSpPr>
                      <p:cNvPr id="1101" name="직선 연결선 1100">
                        <a:extLst>
                          <a:ext uri="{FF2B5EF4-FFF2-40B4-BE49-F238E27FC236}">
                            <a16:creationId xmlns:a16="http://schemas.microsoft.com/office/drawing/2014/main" id="{E7D26099-6E56-15E5-BDAF-8383D60010F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949181" y="260581"/>
                        <a:ext cx="2282927" cy="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102" name="TextBox 1101">
                        <a:extLst>
                          <a:ext uri="{FF2B5EF4-FFF2-40B4-BE49-F238E27FC236}">
                            <a16:creationId xmlns:a16="http://schemas.microsoft.com/office/drawing/2014/main" id="{F4A563ED-1D6C-6676-36ED-E38B4BE5562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855086" y="281801"/>
                        <a:ext cx="731520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ko-KR" sz="1050" dirty="0">
                            <a:latin typeface="나눔스퀘어_ac Bold" panose="020B0600000101010101" pitchFamily="50" charset="-127"/>
                            <a:ea typeface="나눔스퀘어_ac Bold" panose="020B0600000101010101" pitchFamily="50" charset="-127"/>
                          </a:rPr>
                          <a:t>2023</a:t>
                        </a:r>
                        <a:endParaRPr lang="ko-KR" altLang="en-US" sz="1050" dirty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1103" name="TextBox 1102">
                        <a:extLst>
                          <a:ext uri="{FF2B5EF4-FFF2-40B4-BE49-F238E27FC236}">
                            <a16:creationId xmlns:a16="http://schemas.microsoft.com/office/drawing/2014/main" id="{2A5B09B4-E388-71B6-FD1E-6326ADE7E39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303819" y="281801"/>
                        <a:ext cx="731520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ko-KR" sz="1050" dirty="0">
                            <a:latin typeface="나눔스퀘어_ac Bold" panose="020B0600000101010101" pitchFamily="50" charset="-127"/>
                            <a:ea typeface="나눔스퀘어_ac Bold" panose="020B0600000101010101" pitchFamily="50" charset="-127"/>
                          </a:rPr>
                          <a:t>2024</a:t>
                        </a:r>
                        <a:endParaRPr lang="ko-KR" altLang="en-US" sz="1050" dirty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endParaRPr>
                      </a:p>
                    </p:txBody>
                  </p:sp>
                  <p:grpSp>
                    <p:nvGrpSpPr>
                      <p:cNvPr id="1104" name="그룹 1103">
                        <a:extLst>
                          <a:ext uri="{FF2B5EF4-FFF2-40B4-BE49-F238E27FC236}">
                            <a16:creationId xmlns:a16="http://schemas.microsoft.com/office/drawing/2014/main" id="{0EA8299B-7B1F-3722-6C2B-A7AB6CD6EEC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099346" y="-998022"/>
                        <a:ext cx="1982596" cy="1258600"/>
                        <a:chOff x="2771589" y="-1556822"/>
                        <a:chExt cx="1982596" cy="1258600"/>
                      </a:xfrm>
                    </p:grpSpPr>
                    <p:sp>
                      <p:nvSpPr>
                        <p:cNvPr id="1105" name="직사각형 1104">
                          <a:extLst>
                            <a:ext uri="{FF2B5EF4-FFF2-40B4-BE49-F238E27FC236}">
                              <a16:creationId xmlns:a16="http://schemas.microsoft.com/office/drawing/2014/main" id="{645C41CC-CABF-DE7F-86C7-71787453099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6200000">
                          <a:off x="2247982" y="-1033215"/>
                          <a:ext cx="1258599" cy="211386"/>
                        </a:xfrm>
                        <a:prstGeom prst="rect">
                          <a:avLst/>
                        </a:prstGeom>
                        <a:solidFill>
                          <a:srgbClr val="0022C3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  <p:sp>
                      <p:nvSpPr>
                        <p:cNvPr id="1106" name="직사각형 1105">
                          <a:extLst>
                            <a:ext uri="{FF2B5EF4-FFF2-40B4-BE49-F238E27FC236}">
                              <a16:creationId xmlns:a16="http://schemas.microsoft.com/office/drawing/2014/main" id="{DDC56911-F41B-BD96-A8BA-C3BB9215201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6200000">
                          <a:off x="2722537" y="-1001463"/>
                          <a:ext cx="1195096" cy="211386"/>
                        </a:xfrm>
                        <a:prstGeom prst="rect">
                          <a:avLst/>
                        </a:prstGeom>
                        <a:solidFill>
                          <a:srgbClr val="0022C3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dirty="0"/>
                        </a:p>
                      </p:txBody>
                    </p:sp>
                    <p:sp>
                      <p:nvSpPr>
                        <p:cNvPr id="1107" name="직사각형 1106">
                          <a:extLst>
                            <a:ext uri="{FF2B5EF4-FFF2-40B4-BE49-F238E27FC236}">
                              <a16:creationId xmlns:a16="http://schemas.microsoft.com/office/drawing/2014/main" id="{04AC2BC0-4CB7-E992-E613-48D5AAF506D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6200000">
                          <a:off x="3205556" y="-961249"/>
                          <a:ext cx="1114664" cy="211386"/>
                        </a:xfrm>
                        <a:prstGeom prst="rect">
                          <a:avLst/>
                        </a:prstGeom>
                        <a:solidFill>
                          <a:srgbClr val="0022C3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dirty="0"/>
                        </a:p>
                      </p:txBody>
                    </p:sp>
                    <p:sp>
                      <p:nvSpPr>
                        <p:cNvPr id="1108" name="직사각형 1107">
                          <a:extLst>
                            <a:ext uri="{FF2B5EF4-FFF2-40B4-BE49-F238E27FC236}">
                              <a16:creationId xmlns:a16="http://schemas.microsoft.com/office/drawing/2014/main" id="{354E5FAF-911F-52F6-56D2-D00208121CD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6200000">
                          <a:off x="3680108" y="-929499"/>
                          <a:ext cx="1051164" cy="211386"/>
                        </a:xfrm>
                        <a:prstGeom prst="rect">
                          <a:avLst/>
                        </a:prstGeom>
                        <a:solidFill>
                          <a:srgbClr val="0022C3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dirty="0"/>
                        </a:p>
                      </p:txBody>
                    </p:sp>
                    <p:sp>
                      <p:nvSpPr>
                        <p:cNvPr id="1109" name="직사각형 1108">
                          <a:extLst>
                            <a:ext uri="{FF2B5EF4-FFF2-40B4-BE49-F238E27FC236}">
                              <a16:creationId xmlns:a16="http://schemas.microsoft.com/office/drawing/2014/main" id="{81039DAD-8E1F-3CC9-D6E1-EF88803458C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6200000">
                          <a:off x="4171593" y="-880815"/>
                          <a:ext cx="953798" cy="211386"/>
                        </a:xfrm>
                        <a:prstGeom prst="rect">
                          <a:avLst/>
                        </a:prstGeom>
                        <a:solidFill>
                          <a:srgbClr val="0022C3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dirty="0"/>
                        </a:p>
                      </p:txBody>
                    </p:sp>
                  </p:grpSp>
                </p:grpSp>
              </p:grpSp>
            </p:grpSp>
            <p:pic>
              <p:nvPicPr>
                <p:cNvPr id="1089" name="그래픽 1088" descr="시계 방향으로 굽은 화살표 단색으로 채워진">
                  <a:extLst>
                    <a:ext uri="{FF2B5EF4-FFF2-40B4-BE49-F238E27FC236}">
                      <a16:creationId xmlns:a16="http://schemas.microsoft.com/office/drawing/2014/main" id="{BFB426CE-7509-C8E9-CE3B-353A6BE731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 rot="17342067" flipV="1">
                  <a:off x="5805829" y="-2225143"/>
                  <a:ext cx="517151" cy="1449749"/>
                </a:xfrm>
                <a:prstGeom prst="rect">
                  <a:avLst/>
                </a:prstGeom>
              </p:spPr>
            </p:pic>
            <p:sp>
              <p:nvSpPr>
                <p:cNvPr id="1090" name="TextBox 1089">
                  <a:extLst>
                    <a:ext uri="{FF2B5EF4-FFF2-40B4-BE49-F238E27FC236}">
                      <a16:creationId xmlns:a16="http://schemas.microsoft.com/office/drawing/2014/main" id="{A340D886-F90F-ADCD-7640-4CC16DBE1FD0}"/>
                    </a:ext>
                  </a:extLst>
                </p:cNvPr>
                <p:cNvSpPr txBox="1"/>
                <p:nvPr/>
              </p:nvSpPr>
              <p:spPr>
                <a:xfrm>
                  <a:off x="6696840" y="-2232003"/>
                  <a:ext cx="554860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8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74,740</a:t>
                  </a:r>
                  <a:endPara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endParaRPr>
                </a:p>
              </p:txBody>
            </p:sp>
            <p:sp>
              <p:nvSpPr>
                <p:cNvPr id="1091" name="TextBox 1090">
                  <a:extLst>
                    <a:ext uri="{FF2B5EF4-FFF2-40B4-BE49-F238E27FC236}">
                      <a16:creationId xmlns:a16="http://schemas.microsoft.com/office/drawing/2014/main" id="{F6CF2DE5-DA5E-F597-2A11-2917687B3DC7}"/>
                    </a:ext>
                  </a:extLst>
                </p:cNvPr>
                <p:cNvSpPr txBox="1"/>
                <p:nvPr/>
              </p:nvSpPr>
              <p:spPr>
                <a:xfrm>
                  <a:off x="4927307" y="-2545270"/>
                  <a:ext cx="554860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8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85,132</a:t>
                  </a:r>
                  <a:endPara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endParaRPr>
                </a:p>
              </p:txBody>
            </p:sp>
            <p:sp>
              <p:nvSpPr>
                <p:cNvPr id="1092" name="TextBox 1091">
                  <a:extLst>
                    <a:ext uri="{FF2B5EF4-FFF2-40B4-BE49-F238E27FC236}">
                      <a16:creationId xmlns:a16="http://schemas.microsoft.com/office/drawing/2014/main" id="{91B7A8A6-7796-B317-9B46-C62FE90C7292}"/>
                    </a:ext>
                  </a:extLst>
                </p:cNvPr>
                <p:cNvSpPr txBox="1"/>
                <p:nvPr/>
              </p:nvSpPr>
              <p:spPr>
                <a:xfrm>
                  <a:off x="5357612" y="-2473554"/>
                  <a:ext cx="554860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8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83,388</a:t>
                  </a:r>
                  <a:endPara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endParaRPr>
                </a:p>
              </p:txBody>
            </p:sp>
            <p:sp>
              <p:nvSpPr>
                <p:cNvPr id="1093" name="TextBox 1092">
                  <a:extLst>
                    <a:ext uri="{FF2B5EF4-FFF2-40B4-BE49-F238E27FC236}">
                      <a16:creationId xmlns:a16="http://schemas.microsoft.com/office/drawing/2014/main" id="{1C3107B8-76CB-A228-FFA7-C2722B10CB19}"/>
                    </a:ext>
                  </a:extLst>
                </p:cNvPr>
                <p:cNvSpPr txBox="1"/>
                <p:nvPr/>
              </p:nvSpPr>
              <p:spPr>
                <a:xfrm>
                  <a:off x="5814812" y="-2392871"/>
                  <a:ext cx="554860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8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81,242</a:t>
                  </a:r>
                  <a:endPara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endParaRPr>
                </a:p>
              </p:txBody>
            </p:sp>
            <p:sp>
              <p:nvSpPr>
                <p:cNvPr id="1094" name="TextBox 1093">
                  <a:extLst>
                    <a:ext uri="{FF2B5EF4-FFF2-40B4-BE49-F238E27FC236}">
                      <a16:creationId xmlns:a16="http://schemas.microsoft.com/office/drawing/2014/main" id="{687BBA8A-46E3-DF8B-EF31-A9680349430D}"/>
                    </a:ext>
                  </a:extLst>
                </p:cNvPr>
                <p:cNvSpPr txBox="1"/>
                <p:nvPr/>
              </p:nvSpPr>
              <p:spPr>
                <a:xfrm>
                  <a:off x="6245118" y="-2330117"/>
                  <a:ext cx="554860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8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78,288</a:t>
                  </a:r>
                  <a:endPara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endParaRPr>
                </a:p>
              </p:txBody>
            </p:sp>
          </p:grpSp>
          <p:sp>
            <p:nvSpPr>
              <p:cNvPr id="1087" name="TextBox 1086">
                <a:extLst>
                  <a:ext uri="{FF2B5EF4-FFF2-40B4-BE49-F238E27FC236}">
                    <a16:creationId xmlns:a16="http://schemas.microsoft.com/office/drawing/2014/main" id="{9710824B-F5D5-34CA-4294-BC16F492559C}"/>
                  </a:ext>
                </a:extLst>
              </p:cNvPr>
              <p:cNvSpPr txBox="1"/>
              <p:nvPr/>
            </p:nvSpPr>
            <p:spPr>
              <a:xfrm>
                <a:off x="3098387" y="1949488"/>
                <a:ext cx="75644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>
                    <a:solidFill>
                      <a:srgbClr val="0022C3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12.2%</a:t>
                </a:r>
                <a:r>
                  <a:rPr lang="en-US" altLang="ko-KR" sz="1000" dirty="0">
                    <a:solidFill>
                      <a:srgbClr val="0022C3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sym typeface="Wingdings" panose="05000000000000000000" pitchFamily="2" charset="2"/>
                  </a:rPr>
                  <a:t> ↓</a:t>
                </a:r>
                <a:endParaRPr lang="ko-KR" altLang="en-US" sz="10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335F894-4265-5255-00E0-A8F2435832B6}"/>
                </a:ext>
              </a:extLst>
            </p:cNvPr>
            <p:cNvSpPr txBox="1"/>
            <p:nvPr/>
          </p:nvSpPr>
          <p:spPr>
            <a:xfrm>
              <a:off x="1489866" y="1400941"/>
              <a:ext cx="20348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(Average Revenue Per User) </a:t>
              </a:r>
              <a:endParaRPr lang="ko-KR" altLang="en-US" sz="10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173" name="TextBox 1172">
              <a:extLst>
                <a:ext uri="{FF2B5EF4-FFF2-40B4-BE49-F238E27FC236}">
                  <a16:creationId xmlns:a16="http://schemas.microsoft.com/office/drawing/2014/main" id="{00DEF808-3827-4E1F-D135-260700D152BD}"/>
                </a:ext>
              </a:extLst>
            </p:cNvPr>
            <p:cNvSpPr txBox="1"/>
            <p:nvPr/>
          </p:nvSpPr>
          <p:spPr>
            <a:xfrm>
              <a:off x="1326046" y="1198102"/>
              <a:ext cx="23624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[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월별 평균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ARPU (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원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)]</a:t>
              </a:r>
              <a:endPara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cxnSp>
          <p:nvCxnSpPr>
            <p:cNvPr id="1179" name="직선 연결선 1178">
              <a:extLst>
                <a:ext uri="{FF2B5EF4-FFF2-40B4-BE49-F238E27FC236}">
                  <a16:creationId xmlns:a16="http://schemas.microsoft.com/office/drawing/2014/main" id="{BB918A4C-0E77-01D4-6440-F65993EAD7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5111" y="5401191"/>
              <a:ext cx="2997032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42" name="그룹 1241">
              <a:extLst>
                <a:ext uri="{FF2B5EF4-FFF2-40B4-BE49-F238E27FC236}">
                  <a16:creationId xmlns:a16="http://schemas.microsoft.com/office/drawing/2014/main" id="{F28395AF-7788-A0E9-272C-DF8C035AEC98}"/>
                </a:ext>
              </a:extLst>
            </p:cNvPr>
            <p:cNvGrpSpPr/>
            <p:nvPr/>
          </p:nvGrpSpPr>
          <p:grpSpPr>
            <a:xfrm>
              <a:off x="982624" y="4240493"/>
              <a:ext cx="3049306" cy="1897738"/>
              <a:chOff x="991728" y="4252698"/>
              <a:chExt cx="3049306" cy="1897738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9BDDDB3-5816-99AE-C9E5-121BCD4E9161}"/>
                  </a:ext>
                </a:extLst>
              </p:cNvPr>
              <p:cNvSpPr txBox="1"/>
              <p:nvPr/>
            </p:nvSpPr>
            <p:spPr>
              <a:xfrm>
                <a:off x="991728" y="4252698"/>
                <a:ext cx="3049306" cy="10307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2021</a:t>
                </a:r>
                <a:r>
                  <a:rPr lang="ko-KR" altLang="en-US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년 대비 </a:t>
                </a:r>
                <a:r>
                  <a:rPr lang="en-US" altLang="ko-KR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2025</a:t>
                </a:r>
                <a:r>
                  <a:rPr lang="ko-KR" altLang="en-US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년 </a:t>
                </a:r>
                <a:r>
                  <a:rPr lang="en-US" altLang="ko-KR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ARPU 12.2% </a:t>
                </a:r>
                <a:r>
                  <a:rPr lang="ko-KR" altLang="en-US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하락으로</a:t>
                </a:r>
                <a:r>
                  <a:rPr lang="en-US" altLang="ko-KR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, </a:t>
                </a:r>
                <a:r>
                  <a:rPr lang="ko-KR" altLang="en-US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고객 </a:t>
                </a:r>
                <a:r>
                  <a:rPr lang="en-US" altLang="ko-KR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1</a:t>
                </a:r>
                <a:r>
                  <a:rPr lang="ko-KR" altLang="en-US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인당 매출이 매년 감소하는 추세를 보임</a:t>
                </a:r>
              </a:p>
            </p:txBody>
          </p:sp>
          <p:sp>
            <p:nvSpPr>
              <p:cNvPr id="1178" name="TextBox 1177">
                <a:extLst>
                  <a:ext uri="{FF2B5EF4-FFF2-40B4-BE49-F238E27FC236}">
                    <a16:creationId xmlns:a16="http://schemas.microsoft.com/office/drawing/2014/main" id="{AC7FA2C9-1736-FD60-E20D-98C7163A9188}"/>
                  </a:ext>
                </a:extLst>
              </p:cNvPr>
              <p:cNvSpPr txBox="1"/>
              <p:nvPr/>
            </p:nvSpPr>
            <p:spPr>
              <a:xfrm>
                <a:off x="991728" y="5442870"/>
                <a:ext cx="3049306" cy="707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400" dirty="0" err="1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고가치</a:t>
                </a:r>
                <a:r>
                  <a:rPr lang="ko-KR" altLang="en-US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 고객의 이탈 신호를 조기에 포착하고 선제적으로 대응</a:t>
                </a:r>
              </a:p>
            </p:txBody>
          </p:sp>
          <p:sp>
            <p:nvSpPr>
              <p:cNvPr id="1231" name="화살표: 오른쪽 1230">
                <a:extLst>
                  <a:ext uri="{FF2B5EF4-FFF2-40B4-BE49-F238E27FC236}">
                    <a16:creationId xmlns:a16="http://schemas.microsoft.com/office/drawing/2014/main" id="{8F5D5964-DAC9-C4BB-8BEB-FF02A1AB4053}"/>
                  </a:ext>
                </a:extLst>
              </p:cNvPr>
              <p:cNvSpPr/>
              <p:nvPr/>
            </p:nvSpPr>
            <p:spPr>
              <a:xfrm rot="5400000">
                <a:off x="2301567" y="5074160"/>
                <a:ext cx="411420" cy="561453"/>
              </a:xfrm>
              <a:prstGeom prst="rightArrow">
                <a:avLst/>
              </a:prstGeom>
              <a:gradFill flip="none" rotWithShape="1">
                <a:gsLst>
                  <a:gs pos="44992">
                    <a:srgbClr val="E5DCDB"/>
                  </a:gs>
                  <a:gs pos="4000">
                    <a:srgbClr val="F7F3F3">
                      <a:alpha val="75000"/>
                    </a:srgbClr>
                  </a:gs>
                  <a:gs pos="100000">
                    <a:srgbClr val="CDBCBB"/>
                  </a:gs>
                </a:gsLst>
                <a:lin ang="2154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6141AB0C-C4B3-B1DA-092F-E6394AAD3D1E}"/>
                </a:ext>
              </a:extLst>
            </p:cNvPr>
            <p:cNvSpPr/>
            <p:nvPr/>
          </p:nvSpPr>
          <p:spPr>
            <a:xfrm>
              <a:off x="1603023" y="746467"/>
              <a:ext cx="1808508" cy="403394"/>
            </a:xfrm>
            <a:prstGeom prst="roundRect">
              <a:avLst>
                <a:gd name="adj" fmla="val 50000"/>
              </a:avLst>
            </a:prstGeom>
            <a:solidFill>
              <a:srgbClr val="0E46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ARPU 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감소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3620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슬라이드 번호 개체 틀 34">
            <a:extLst>
              <a:ext uri="{FF2B5EF4-FFF2-40B4-BE49-F238E27FC236}">
                <a16:creationId xmlns:a16="http://schemas.microsoft.com/office/drawing/2014/main" id="{926D8963-6F01-C714-6F1A-F25075D77C1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24E44EA-8BB9-4356-A6E2-F3B626433E95}" type="slidenum">
              <a:rPr lang="ko-KR" altLang="en-US" smtClean="0"/>
              <a:pPr/>
              <a:t>6</a:t>
            </a:fld>
            <a:endParaRPr lang="ko-KR" altLang="en-US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0" name="텍스트 개체 틀 39">
            <a:extLst>
              <a:ext uri="{FF2B5EF4-FFF2-40B4-BE49-F238E27FC236}">
                <a16:creationId xmlns:a16="http://schemas.microsoft.com/office/drawing/2014/main" id="{D685CA2D-AAC5-58E1-BF51-81DE6E3107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현상 및 개선기회 </a:t>
            </a:r>
            <a:r>
              <a:rPr lang="en-US" altLang="ko-KR" sz="2000" dirty="0"/>
              <a:t>_</a:t>
            </a:r>
            <a:r>
              <a:rPr lang="ko-KR" altLang="en-US" sz="2000" dirty="0"/>
              <a:t>과제수행목표</a:t>
            </a: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85F72BC-371E-3ECF-8D3E-E320705FB998}"/>
              </a:ext>
            </a:extLst>
          </p:cNvPr>
          <p:cNvGrpSpPr/>
          <p:nvPr/>
        </p:nvGrpSpPr>
        <p:grpSpPr>
          <a:xfrm>
            <a:off x="678001" y="1178232"/>
            <a:ext cx="10818717" cy="4802648"/>
            <a:chOff x="1206500" y="939800"/>
            <a:chExt cx="10165136" cy="461010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9B3BB5C-5AB7-6B76-C666-924E1DBD038E}"/>
                </a:ext>
              </a:extLst>
            </p:cNvPr>
            <p:cNvSpPr/>
            <p:nvPr/>
          </p:nvSpPr>
          <p:spPr>
            <a:xfrm>
              <a:off x="1206500" y="939800"/>
              <a:ext cx="10165136" cy="73660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6E4EEA5-4B37-E9E9-6058-EF3B3D359469}"/>
                </a:ext>
              </a:extLst>
            </p:cNvPr>
            <p:cNvSpPr/>
            <p:nvPr/>
          </p:nvSpPr>
          <p:spPr>
            <a:xfrm rot="16200000">
              <a:off x="-265157" y="2411457"/>
              <a:ext cx="4610100" cy="1666786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2E11955-F2F4-A4CC-39DC-9984715AE2E8}"/>
              </a:ext>
            </a:extLst>
          </p:cNvPr>
          <p:cNvSpPr txBox="1"/>
          <p:nvPr/>
        </p:nvSpPr>
        <p:spPr>
          <a:xfrm>
            <a:off x="722299" y="1385330"/>
            <a:ext cx="1675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KPI</a:t>
            </a:r>
            <a:endParaRPr lang="ko-KR" altLang="en-US" sz="16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56A85B-045C-91BB-7AEA-B2302C680D31}"/>
              </a:ext>
            </a:extLst>
          </p:cNvPr>
          <p:cNvSpPr txBox="1"/>
          <p:nvPr/>
        </p:nvSpPr>
        <p:spPr>
          <a:xfrm>
            <a:off x="722299" y="2207550"/>
            <a:ext cx="1675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연 매출액</a:t>
            </a:r>
            <a:r>
              <a:rPr lang="en-US" altLang="ko-KR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(</a:t>
            </a:r>
            <a:r>
              <a:rPr lang="ko-KR" altLang="en-US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억원</a:t>
            </a:r>
            <a:r>
              <a:rPr lang="en-US" altLang="ko-KR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)</a:t>
            </a:r>
            <a:endParaRPr lang="ko-KR" altLang="en-US" sz="16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B62CA8-9AD8-1A16-A784-B4EFE3199E9E}"/>
              </a:ext>
            </a:extLst>
          </p:cNvPr>
          <p:cNvSpPr txBox="1"/>
          <p:nvPr/>
        </p:nvSpPr>
        <p:spPr>
          <a:xfrm>
            <a:off x="722299" y="3202030"/>
            <a:ext cx="1675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월 </a:t>
            </a:r>
            <a:r>
              <a:rPr lang="en-US" altLang="ko-KR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ARPU(</a:t>
            </a:r>
            <a:r>
              <a:rPr lang="ko-KR" altLang="en-US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원</a:t>
            </a:r>
            <a:r>
              <a:rPr lang="en-US" altLang="ko-KR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)</a:t>
            </a:r>
            <a:endParaRPr lang="ko-KR" altLang="en-US" sz="16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4D91FE-9F88-330E-CD35-37D2EDFA4298}"/>
              </a:ext>
            </a:extLst>
          </p:cNvPr>
          <p:cNvSpPr txBox="1"/>
          <p:nvPr/>
        </p:nvSpPr>
        <p:spPr>
          <a:xfrm>
            <a:off x="722299" y="4092202"/>
            <a:ext cx="16750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LTV </a:t>
            </a:r>
          </a:p>
          <a:p>
            <a:pPr algn="ctr"/>
            <a:r>
              <a:rPr lang="en-US" altLang="ko-KR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VIP </a:t>
            </a:r>
            <a:r>
              <a:rPr lang="ko-KR" altLang="en-US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등급 인원</a:t>
            </a:r>
            <a:r>
              <a:rPr lang="en-US" altLang="ko-KR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(</a:t>
            </a:r>
            <a:r>
              <a:rPr lang="ko-KR" altLang="en-US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명</a:t>
            </a:r>
            <a:r>
              <a:rPr lang="en-US" altLang="ko-KR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)</a:t>
            </a:r>
            <a:endParaRPr lang="ko-KR" altLang="en-US" sz="16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19FFAB-87DA-C1A1-045A-FEBAC1E31D28}"/>
              </a:ext>
            </a:extLst>
          </p:cNvPr>
          <p:cNvSpPr txBox="1"/>
          <p:nvPr/>
        </p:nvSpPr>
        <p:spPr>
          <a:xfrm>
            <a:off x="722299" y="5275100"/>
            <a:ext cx="1675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고객 </a:t>
            </a:r>
            <a:r>
              <a:rPr lang="ko-KR" altLang="en-US" sz="1600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이탈률</a:t>
            </a:r>
            <a:r>
              <a:rPr lang="en-US" altLang="ko-KR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(%)</a:t>
            </a:r>
            <a:endParaRPr lang="ko-KR" altLang="en-US" sz="16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78AF9E-3DCE-6073-FCC4-B53C3247445F}"/>
              </a:ext>
            </a:extLst>
          </p:cNvPr>
          <p:cNvSpPr txBox="1"/>
          <p:nvPr/>
        </p:nvSpPr>
        <p:spPr>
          <a:xfrm>
            <a:off x="5578204" y="1385330"/>
            <a:ext cx="1675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운용정의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1C29B01-65C8-8759-C812-AAA328B56644}"/>
              </a:ext>
            </a:extLst>
          </p:cNvPr>
          <p:cNvCxnSpPr>
            <a:cxnSpLocks/>
          </p:cNvCxnSpPr>
          <p:nvPr/>
        </p:nvCxnSpPr>
        <p:spPr>
          <a:xfrm>
            <a:off x="3741541" y="1178231"/>
            <a:ext cx="0" cy="480264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268E5105-017B-DB9C-B2FC-FDF352DD036C}"/>
              </a:ext>
            </a:extLst>
          </p:cNvPr>
          <p:cNvCxnSpPr>
            <a:cxnSpLocks/>
          </p:cNvCxnSpPr>
          <p:nvPr/>
        </p:nvCxnSpPr>
        <p:spPr>
          <a:xfrm>
            <a:off x="5005950" y="1178230"/>
            <a:ext cx="0" cy="480264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76A6DBC-C875-64D7-E57C-46758A13A66D}"/>
              </a:ext>
            </a:extLst>
          </p:cNvPr>
          <p:cNvCxnSpPr>
            <a:cxnSpLocks/>
          </p:cNvCxnSpPr>
          <p:nvPr/>
        </p:nvCxnSpPr>
        <p:spPr>
          <a:xfrm flipV="1">
            <a:off x="678000" y="2820967"/>
            <a:ext cx="10836000" cy="1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7CE8936-409E-EA39-D33E-92AEBBFF72E1}"/>
              </a:ext>
            </a:extLst>
          </p:cNvPr>
          <p:cNvCxnSpPr>
            <a:cxnSpLocks/>
          </p:cNvCxnSpPr>
          <p:nvPr/>
        </p:nvCxnSpPr>
        <p:spPr>
          <a:xfrm>
            <a:off x="678000" y="3853777"/>
            <a:ext cx="10836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7CD7C106-C42C-9B56-9309-7F714CB9A725}"/>
              </a:ext>
            </a:extLst>
          </p:cNvPr>
          <p:cNvCxnSpPr>
            <a:cxnSpLocks/>
          </p:cNvCxnSpPr>
          <p:nvPr/>
        </p:nvCxnSpPr>
        <p:spPr>
          <a:xfrm flipV="1">
            <a:off x="678000" y="4916668"/>
            <a:ext cx="10836000" cy="1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DD3BF79-1F5F-C0E4-768B-C217011CBE32}"/>
              </a:ext>
            </a:extLst>
          </p:cNvPr>
          <p:cNvSpPr txBox="1"/>
          <p:nvPr/>
        </p:nvSpPr>
        <p:spPr>
          <a:xfrm>
            <a:off x="8386547" y="2084439"/>
            <a:ext cx="2697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총과금액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+ </a:t>
            </a:r>
          </a:p>
          <a:p>
            <a:pPr algn="ctr"/>
            <a:r>
              <a:rPr lang="ko-KR" altLang="en-US" sz="16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총로밍사용료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+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데이터사용료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B07B1E4-2CB9-B5F1-B166-2C85F0CAFD73}"/>
                  </a:ext>
                </a:extLst>
              </p:cNvPr>
              <p:cNvSpPr txBox="1"/>
              <p:nvPr/>
            </p:nvSpPr>
            <p:spPr>
              <a:xfrm>
                <a:off x="8620640" y="3053002"/>
                <a:ext cx="2229457" cy="6354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  <a:ea typeface="나눔스퀘어_ac Bold" panose="020B0600000101010101" pitchFamily="50" charset="-127"/>
                            </a:rPr>
                          </m:ctrlPr>
                        </m:fPr>
                        <m:num>
                          <m:r>
                            <a:rPr lang="ko-KR" altLang="en-US" sz="1600" i="1">
                              <a:latin typeface="Cambria Math" panose="02040503050406030204" pitchFamily="18" charset="0"/>
                              <a:ea typeface="나눔스퀘어_ac Bold" panose="020B0600000101010101" pitchFamily="50" charset="-127"/>
                            </a:rPr>
                            <m:t>데이터</m:t>
                          </m:r>
                          <m:r>
                            <a:rPr lang="ko-KR" altLang="en-US" sz="1600" i="1" smtClean="0">
                              <a:latin typeface="Cambria Math" panose="02040503050406030204" pitchFamily="18" charset="0"/>
                              <a:ea typeface="나눔스퀘어_ac Bold" panose="020B0600000101010101" pitchFamily="50" charset="-127"/>
                            </a:rPr>
                            <m:t>사용료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나눔스퀘어_ac Bold" panose="020B0600000101010101" pitchFamily="50" charset="-127"/>
                            </a:rPr>
                            <m:t>+ </m:t>
                          </m:r>
                          <m:r>
                            <a:rPr lang="ko-KR" altLang="en-US" sz="1600" i="1">
                              <a:latin typeface="Cambria Math" panose="02040503050406030204" pitchFamily="18" charset="0"/>
                              <a:ea typeface="나눔스퀘어_ac Bold" panose="020B0600000101010101" pitchFamily="50" charset="-127"/>
                            </a:rPr>
                            <m:t>총로밍</m:t>
                          </m:r>
                          <m:r>
                            <a:rPr lang="ko-KR" altLang="en-US" sz="1600" i="1" smtClean="0">
                              <a:latin typeface="Cambria Math" panose="02040503050406030204" pitchFamily="18" charset="0"/>
                              <a:ea typeface="나눔스퀘어_ac Bold" panose="020B0600000101010101" pitchFamily="50" charset="-127"/>
                            </a:rPr>
                            <m:t>료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나눔스퀘어_ac Bold" panose="020B0600000101010101" pitchFamily="50" charset="-127"/>
                            </a:rPr>
                            <m:t>+ </m:t>
                          </m:r>
                          <m:r>
                            <a:rPr lang="ko-KR" altLang="en-US" sz="1600" i="1">
                              <a:latin typeface="Cambria Math" panose="02040503050406030204" pitchFamily="18" charset="0"/>
                              <a:ea typeface="나눔스퀘어_ac Bold" panose="020B0600000101010101" pitchFamily="50" charset="-127"/>
                            </a:rPr>
                            <m:t>총과금액</m:t>
                          </m:r>
                        </m:num>
                        <m:den>
                          <m:r>
                            <a:rPr lang="ko-KR" altLang="en-US" sz="1600" i="1">
                              <a:latin typeface="Cambria Math" panose="02040503050406030204" pitchFamily="18" charset="0"/>
                              <a:ea typeface="나눔스퀘어_ac Bold" panose="020B0600000101010101" pitchFamily="50" charset="-127"/>
                            </a:rPr>
                            <m:t>가입기간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나눔스퀘어_ac Bold" panose="020B0600000101010101" pitchFamily="50" charset="-127"/>
                            </a:rPr>
                            <m:t>(</m:t>
                          </m:r>
                          <m:r>
                            <a:rPr lang="ko-KR" altLang="en-US" sz="1600" i="1">
                              <a:latin typeface="Cambria Math" panose="02040503050406030204" pitchFamily="18" charset="0"/>
                              <a:ea typeface="나눔스퀘어_ac Bold" panose="020B0600000101010101" pitchFamily="50" charset="-127"/>
                            </a:rPr>
                            <m:t>월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나눔스퀘어_ac Bold" panose="020B0600000101010101" pitchFamily="50" charset="-127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B07B1E4-2CB9-B5F1-B166-2C85F0CAF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0640" y="3053002"/>
                <a:ext cx="2229457" cy="635495"/>
              </a:xfrm>
              <a:prstGeom prst="rect">
                <a:avLst/>
              </a:prstGeom>
              <a:blipFill>
                <a:blip r:embed="rId2"/>
                <a:stretch>
                  <a:fillRect l="-18852" r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0064E11-71FC-F55B-5DAC-A8C7F096658A}"/>
              </a:ext>
            </a:extLst>
          </p:cNvPr>
          <p:cNvSpPr txBox="1"/>
          <p:nvPr/>
        </p:nvSpPr>
        <p:spPr>
          <a:xfrm>
            <a:off x="2461877" y="1295084"/>
            <a:ext cx="1258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현재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70062E-458B-96C3-E344-0995D0FC426D}"/>
              </a:ext>
            </a:extLst>
          </p:cNvPr>
          <p:cNvSpPr txBox="1"/>
          <p:nvPr/>
        </p:nvSpPr>
        <p:spPr>
          <a:xfrm>
            <a:off x="2461877" y="2207548"/>
            <a:ext cx="1258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48.3</a:t>
            </a:r>
            <a:endParaRPr lang="ko-KR" alt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C18509-5583-9FE0-1CDD-9A0BB2FB5FED}"/>
              </a:ext>
            </a:extLst>
          </p:cNvPr>
          <p:cNvSpPr txBox="1"/>
          <p:nvPr/>
        </p:nvSpPr>
        <p:spPr>
          <a:xfrm>
            <a:off x="2461877" y="3202029"/>
            <a:ext cx="1258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66,415</a:t>
            </a:r>
            <a:endParaRPr lang="ko-KR" alt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D0B9243-47D8-ECE9-320A-BCFB80EA2A6A}"/>
              </a:ext>
            </a:extLst>
          </p:cNvPr>
          <p:cNvSpPr txBox="1"/>
          <p:nvPr/>
        </p:nvSpPr>
        <p:spPr>
          <a:xfrm>
            <a:off x="2461877" y="4215312"/>
            <a:ext cx="1258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1373</a:t>
            </a:r>
            <a:endParaRPr lang="ko-KR" altLang="en-US" sz="1600" baseline="30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1DB55E7-5335-5931-0D26-A9980C3D5551}"/>
              </a:ext>
            </a:extLst>
          </p:cNvPr>
          <p:cNvSpPr txBox="1"/>
          <p:nvPr/>
        </p:nvSpPr>
        <p:spPr>
          <a:xfrm>
            <a:off x="2461877" y="5275099"/>
            <a:ext cx="1258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24.8</a:t>
            </a:r>
            <a:endParaRPr lang="ko-KR" alt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D5683B-2FBD-B120-60F7-E6464906E8F6}"/>
              </a:ext>
            </a:extLst>
          </p:cNvPr>
          <p:cNvSpPr txBox="1"/>
          <p:nvPr/>
        </p:nvSpPr>
        <p:spPr>
          <a:xfrm>
            <a:off x="3674341" y="1295084"/>
            <a:ext cx="13843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목표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E2B8E16-1350-E24E-5322-021F4BD01724}"/>
              </a:ext>
            </a:extLst>
          </p:cNvPr>
          <p:cNvSpPr txBox="1"/>
          <p:nvPr/>
        </p:nvSpPr>
        <p:spPr>
          <a:xfrm>
            <a:off x="3674341" y="1584595"/>
            <a:ext cx="1384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(26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년 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12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월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endParaRPr lang="ko-KR" altLang="en-US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9B3111E-95DC-4CD9-092D-5D59BFA0374C}"/>
              </a:ext>
            </a:extLst>
          </p:cNvPr>
          <p:cNvSpPr txBox="1"/>
          <p:nvPr/>
        </p:nvSpPr>
        <p:spPr>
          <a:xfrm>
            <a:off x="3734485" y="3202029"/>
            <a:ext cx="12640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BE4A32"/>
                </a:solidFill>
                <a:effectLst>
                  <a:outerShdw blurRad="50800" dist="38100" dir="2700000" algn="tl" rotWithShape="0">
                    <a:schemeClr val="bg2">
                      <a:lumMod val="50000"/>
                      <a:alpha val="40000"/>
                    </a:schemeClr>
                  </a:outerShdw>
                </a:effectLst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69,735</a:t>
            </a:r>
            <a:endParaRPr lang="ko-KR" altLang="en-US" sz="1600" dirty="0">
              <a:solidFill>
                <a:srgbClr val="BE4A32"/>
              </a:solidFill>
              <a:effectLst>
                <a:outerShdw blurRad="50800" dist="38100" dir="2700000" algn="tl" rotWithShape="0">
                  <a:schemeClr val="bg2">
                    <a:lumMod val="50000"/>
                    <a:alpha val="40000"/>
                  </a:schemeClr>
                </a:outerShdw>
              </a:effectLst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7F9C31F-E80E-C776-3FB3-DADB141BFDB0}"/>
              </a:ext>
            </a:extLst>
          </p:cNvPr>
          <p:cNvSpPr txBox="1"/>
          <p:nvPr/>
        </p:nvSpPr>
        <p:spPr>
          <a:xfrm>
            <a:off x="3641037" y="4215312"/>
            <a:ext cx="14509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BE4A32"/>
                </a:solidFill>
                <a:effectLst>
                  <a:outerShdw blurRad="50800" dist="38100" dir="2700000" algn="tl" rotWithShape="0">
                    <a:schemeClr val="bg2">
                      <a:lumMod val="50000"/>
                      <a:alpha val="40000"/>
                    </a:schemeClr>
                  </a:outerShdw>
                </a:effectLst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1800</a:t>
            </a:r>
            <a:endParaRPr lang="ko-KR" altLang="en-US" sz="1600" dirty="0">
              <a:solidFill>
                <a:srgbClr val="BE4A32"/>
              </a:solidFill>
              <a:effectLst>
                <a:outerShdw blurRad="50800" dist="38100" dir="2700000" algn="tl" rotWithShape="0">
                  <a:schemeClr val="bg2">
                    <a:lumMod val="50000"/>
                    <a:alpha val="40000"/>
                  </a:schemeClr>
                </a:outerShdw>
              </a:effectLst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558DCE3-4414-D31C-EB2A-32E388153F00}"/>
              </a:ext>
            </a:extLst>
          </p:cNvPr>
          <p:cNvSpPr txBox="1"/>
          <p:nvPr/>
        </p:nvSpPr>
        <p:spPr>
          <a:xfrm>
            <a:off x="3870998" y="5275099"/>
            <a:ext cx="991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BE4A32"/>
                </a:solidFill>
                <a:effectLst>
                  <a:outerShdw blurRad="50800" dist="38100" dir="2700000" algn="tl" rotWithShape="0">
                    <a:schemeClr val="bg2">
                      <a:lumMod val="50000"/>
                      <a:alpha val="40000"/>
                    </a:schemeClr>
                  </a:outerShdw>
                </a:effectLst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2.5</a:t>
            </a:r>
            <a:endParaRPr lang="ko-KR" altLang="en-US" sz="1600" dirty="0">
              <a:solidFill>
                <a:srgbClr val="BE4A32"/>
              </a:solidFill>
              <a:effectLst>
                <a:outerShdw blurRad="50800" dist="38100" dir="2700000" algn="tl" rotWithShape="0">
                  <a:schemeClr val="bg2">
                    <a:lumMod val="50000"/>
                    <a:alpha val="40000"/>
                  </a:schemeClr>
                </a:outerShdw>
              </a:effectLst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63939ED-26A6-CF6F-6612-D798E278AD0A}"/>
              </a:ext>
            </a:extLst>
          </p:cNvPr>
          <p:cNvSpPr txBox="1"/>
          <p:nvPr/>
        </p:nvSpPr>
        <p:spPr>
          <a:xfrm>
            <a:off x="3734485" y="2207548"/>
            <a:ext cx="12640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BE4A32"/>
                </a:solidFill>
                <a:effectLst>
                  <a:outerShdw blurRad="50800" dist="38100" dir="2700000" algn="tl" rotWithShape="0">
                    <a:schemeClr val="bg2">
                      <a:lumMod val="50000"/>
                      <a:alpha val="40000"/>
                    </a:schemeClr>
                  </a:outerShdw>
                </a:effectLst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60.0</a:t>
            </a:r>
            <a:endParaRPr lang="ko-KR" altLang="en-US" sz="1600" dirty="0">
              <a:solidFill>
                <a:srgbClr val="BE4A32"/>
              </a:solidFill>
              <a:effectLst>
                <a:outerShdw blurRad="50800" dist="38100" dir="2700000" algn="tl" rotWithShape="0">
                  <a:schemeClr val="bg2">
                    <a:lumMod val="50000"/>
                    <a:alpha val="40000"/>
                  </a:schemeClr>
                </a:outerShdw>
              </a:effectLst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490B880-36EB-E1C5-3E19-3AE6CD9CB603}"/>
                  </a:ext>
                </a:extLst>
              </p:cNvPr>
              <p:cNvSpPr txBox="1"/>
              <p:nvPr/>
            </p:nvSpPr>
            <p:spPr>
              <a:xfrm>
                <a:off x="8668773" y="5126640"/>
                <a:ext cx="2133191" cy="6235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나눔스퀘어_ac Bold" panose="020B0600000101010101" pitchFamily="50" charset="-127"/>
                            </a:rPr>
                          </m:ctrlPr>
                        </m:fPr>
                        <m:num>
                          <m:r>
                            <a:rPr lang="ko-KR" altLang="en-US" sz="1600" i="1">
                              <a:latin typeface="Cambria Math" panose="02040503050406030204" pitchFamily="18" charset="0"/>
                              <a:ea typeface="나눔스퀘어_ac Bold" panose="020B0600000101010101" pitchFamily="50" charset="-127"/>
                            </a:rPr>
                            <m:t>이탈한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나눔스퀘어_ac Bold" panose="020B0600000101010101" pitchFamily="50" charset="-127"/>
                            </a:rPr>
                            <m:t> </m:t>
                          </m:r>
                          <m:r>
                            <a:rPr lang="ko-KR" altLang="en-US" sz="1600" i="1">
                              <a:latin typeface="Cambria Math" panose="02040503050406030204" pitchFamily="18" charset="0"/>
                              <a:ea typeface="나눔스퀘어_ac Bold" panose="020B0600000101010101" pitchFamily="50" charset="-127"/>
                            </a:rPr>
                            <m:t>고객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나눔스퀘어_ac Bold" panose="020B0600000101010101" pitchFamily="50" charset="-127"/>
                            </a:rPr>
                            <m:t> </m:t>
                          </m:r>
                          <m:r>
                            <a:rPr lang="ko-KR" altLang="en-US" sz="1600" i="1">
                              <a:latin typeface="Cambria Math" panose="02040503050406030204" pitchFamily="18" charset="0"/>
                              <a:ea typeface="나눔스퀘어_ac Bold" panose="020B0600000101010101" pitchFamily="50" charset="-127"/>
                            </a:rPr>
                            <m:t>수</m:t>
                          </m:r>
                        </m:num>
                        <m:den>
                          <m:r>
                            <a:rPr lang="ko-KR" altLang="en-US" sz="1600" i="1">
                              <a:latin typeface="Cambria Math" panose="02040503050406030204" pitchFamily="18" charset="0"/>
                              <a:ea typeface="나눔스퀘어_ac Bold" panose="020B0600000101010101" pitchFamily="50" charset="-127"/>
                            </a:rPr>
                            <m:t>총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나눔스퀘어_ac Bold" panose="020B0600000101010101" pitchFamily="50" charset="-127"/>
                            </a:rPr>
                            <m:t> </m:t>
                          </m:r>
                          <m:r>
                            <a:rPr lang="ko-KR" altLang="en-US" sz="1600" i="1">
                              <a:latin typeface="Cambria Math" panose="02040503050406030204" pitchFamily="18" charset="0"/>
                              <a:ea typeface="나눔스퀘어_ac Bold" panose="020B0600000101010101" pitchFamily="50" charset="-127"/>
                            </a:rPr>
                            <m:t>이용고객</m:t>
                          </m:r>
                        </m:den>
                      </m:f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</m:t>
                      </m:r>
                    </m:oMath>
                  </m:oMathPara>
                </a14:m>
                <a:endPara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490B880-36EB-E1C5-3E19-3AE6CD9CB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773" y="5126640"/>
                <a:ext cx="2133191" cy="6235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C724B41-9DFB-5157-4C0F-C01BD98D4983}"/>
              </a:ext>
            </a:extLst>
          </p:cNvPr>
          <p:cNvSpPr txBox="1"/>
          <p:nvPr/>
        </p:nvSpPr>
        <p:spPr>
          <a:xfrm>
            <a:off x="2461877" y="1584595"/>
            <a:ext cx="12584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(25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년 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12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월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endParaRPr lang="ko-KR" altLang="en-US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5F8B1E-B0B5-B625-8147-E7D4B3608264}"/>
              </a:ext>
            </a:extLst>
          </p:cNvPr>
          <p:cNvSpPr txBox="1"/>
          <p:nvPr/>
        </p:nvSpPr>
        <p:spPr>
          <a:xfrm>
            <a:off x="8897857" y="1385329"/>
            <a:ext cx="1675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산출식</a:t>
            </a:r>
            <a:endParaRPr lang="ko-KR" altLang="en-US" sz="16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C3A1BD3-BB9F-4873-42EF-6D5A53D81396}"/>
              </a:ext>
            </a:extLst>
          </p:cNvPr>
          <p:cNvCxnSpPr>
            <a:cxnSpLocks/>
          </p:cNvCxnSpPr>
          <p:nvPr/>
        </p:nvCxnSpPr>
        <p:spPr>
          <a:xfrm>
            <a:off x="7809059" y="1178232"/>
            <a:ext cx="0" cy="480264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B86BC7D-EDC4-2099-9AD1-F0E286846A35}"/>
              </a:ext>
            </a:extLst>
          </p:cNvPr>
          <p:cNvSpPr txBox="1"/>
          <p:nvPr/>
        </p:nvSpPr>
        <p:spPr>
          <a:xfrm>
            <a:off x="5066893" y="2207548"/>
            <a:ext cx="2697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당사의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년 총 매출을 합한 값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0F1BFA-EF36-0C72-1D74-1E379CF9175A}"/>
              </a:ext>
            </a:extLst>
          </p:cNvPr>
          <p:cNvSpPr txBox="1"/>
          <p:nvPr/>
        </p:nvSpPr>
        <p:spPr>
          <a:xfrm>
            <a:off x="4932012" y="3040207"/>
            <a:ext cx="2967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당사 서비스를 이용하는 고객 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인당 발생하는 월평균 매출액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1B839A-2F49-B013-CE8F-08465B4423AF}"/>
              </a:ext>
            </a:extLst>
          </p:cNvPr>
          <p:cNvSpPr txBox="1"/>
          <p:nvPr/>
        </p:nvSpPr>
        <p:spPr>
          <a:xfrm>
            <a:off x="5066893" y="4092202"/>
            <a:ext cx="2697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신규 고객 생애가치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(LTV) </a:t>
            </a:r>
          </a:p>
          <a:p>
            <a:pPr algn="ctr"/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산출 모델의 예측 정확도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9E37B5-7B9B-6C91-3D94-AD3ED85C7500}"/>
              </a:ext>
            </a:extLst>
          </p:cNvPr>
          <p:cNvSpPr txBox="1"/>
          <p:nvPr/>
        </p:nvSpPr>
        <p:spPr>
          <a:xfrm>
            <a:off x="4932012" y="5166188"/>
            <a:ext cx="2967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당사 전체 이용 고객 중 서비스를 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해지하거나 이탈한 고객의 비율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B005E57-1390-45A6-DF2A-2D11E286C2B0}"/>
                  </a:ext>
                </a:extLst>
              </p:cNvPr>
              <p:cNvSpPr txBox="1"/>
              <p:nvPr/>
            </p:nvSpPr>
            <p:spPr>
              <a:xfrm>
                <a:off x="8019798" y="4251989"/>
                <a:ext cx="3431141" cy="2652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𝐿𝑇𝑉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𝑖𝑚𝑝𝑟𝑜𝑣𝑒𝑑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=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  <a:ea typeface="나눔스퀘어_ac Bold" panose="020B0600000101010101" pitchFamily="50" charset="-127"/>
                      </a:rPr>
                      <m:t>과</m:t>
                    </m:r>
                    <m:r>
                      <a:rPr lang="ko-KR" altLang="en-US" sz="1600" i="1" smtClean="0">
                        <a:latin typeface="Cambria Math" panose="02040503050406030204" pitchFamily="18" charset="0"/>
                        <a:ea typeface="나눔스퀘어_ac Bold" panose="020B0600000101010101" pitchFamily="50" charset="-127"/>
                      </a:rPr>
                      <m:t>거</m:t>
                    </m:r>
                    <m:r>
                      <a:rPr lang="ko-KR" altLang="en-US" sz="1600" i="1">
                        <a:latin typeface="Cambria Math" panose="02040503050406030204" pitchFamily="18" charset="0"/>
                        <a:ea typeface="나눔스퀘어_ac Bold" panose="020B0600000101010101" pitchFamily="50" charset="-127"/>
                      </a:rPr>
                      <m:t>수</m:t>
                    </m:r>
                    <m:r>
                      <a:rPr lang="ko-KR" altLang="en-US" sz="1600" i="1" smtClean="0">
                        <a:latin typeface="Cambria Math" panose="02040503050406030204" pitchFamily="18" charset="0"/>
                        <a:ea typeface="나눔스퀘어_ac Bold" panose="020B0600000101010101" pitchFamily="50" charset="-127"/>
                      </a:rPr>
                      <m:t>익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나눔스퀘어_ac Bold" panose="020B0600000101010101" pitchFamily="50" charset="-127"/>
                      </a:rPr>
                      <m:t>+</m:t>
                    </m:r>
                    <m:r>
                      <a:rPr lang="ko-KR" altLang="en-US" sz="1600" i="1" smtClean="0">
                        <a:latin typeface="Cambria Math" panose="02040503050406030204" pitchFamily="18" charset="0"/>
                        <a:ea typeface="나눔스퀘어_ac Bold" panose="020B0600000101010101" pitchFamily="50" charset="-127"/>
                      </a:rPr>
                      <m:t>미</m:t>
                    </m:r>
                    <m:r>
                      <a:rPr lang="ko-KR" altLang="en-US" sz="1600" i="1">
                        <a:latin typeface="Cambria Math" panose="02040503050406030204" pitchFamily="18" charset="0"/>
                        <a:ea typeface="나눔스퀘어_ac Bold" panose="020B0600000101010101" pitchFamily="50" charset="-127"/>
                      </a:rPr>
                      <m:t>래</m:t>
                    </m:r>
                    <m:r>
                      <a:rPr lang="ko-KR" altLang="en-US" sz="1600" i="1" smtClean="0">
                        <a:latin typeface="Cambria Math" panose="02040503050406030204" pitchFamily="18" charset="0"/>
                        <a:ea typeface="나눔스퀘어_ac Bold" panose="020B0600000101010101" pitchFamily="50" charset="-127"/>
                      </a:rPr>
                      <m:t>추</m:t>
                    </m:r>
                    <m:r>
                      <a:rPr lang="ko-KR" altLang="en-US" sz="1600" i="1">
                        <a:latin typeface="Cambria Math" panose="02040503050406030204" pitchFamily="18" charset="0"/>
                        <a:ea typeface="나눔스퀘어_ac Bold" panose="020B0600000101010101" pitchFamily="50" charset="-127"/>
                      </a:rPr>
                      <m:t>정</m:t>
                    </m:r>
                    <m:r>
                      <a:rPr lang="ko-KR" altLang="en-US" sz="1600" i="1" smtClean="0">
                        <a:latin typeface="Cambria Math" panose="02040503050406030204" pitchFamily="18" charset="0"/>
                        <a:ea typeface="나눔스퀘어_ac Bold" panose="020B0600000101010101" pitchFamily="50" charset="-127"/>
                      </a:rPr>
                      <m:t>수</m:t>
                    </m:r>
                    <m:r>
                      <a:rPr lang="ko-KR" altLang="en-US" sz="1600" i="1">
                        <a:latin typeface="Cambria Math" panose="02040503050406030204" pitchFamily="18" charset="0"/>
                        <a:ea typeface="나눔스퀘어_ac Bold" panose="020B0600000101010101" pitchFamily="50" charset="-127"/>
                      </a:rPr>
                      <m:t>익</m:t>
                    </m:r>
                  </m:oMath>
                </a14:m>
                <a:endPara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B005E57-1390-45A6-DF2A-2D11E286C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9798" y="4251989"/>
                <a:ext cx="3431141" cy="265201"/>
              </a:xfrm>
              <a:prstGeom prst="rect">
                <a:avLst/>
              </a:prstGeom>
              <a:blipFill>
                <a:blip r:embed="rId4"/>
                <a:stretch>
                  <a:fillRect l="-2135" t="-23256" b="-418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084221E-7D34-B13A-DFD5-1069507D774F}"/>
              </a:ext>
            </a:extLst>
          </p:cNvPr>
          <p:cNvCxnSpPr>
            <a:cxnSpLocks/>
          </p:cNvCxnSpPr>
          <p:nvPr/>
        </p:nvCxnSpPr>
        <p:spPr>
          <a:xfrm flipV="1">
            <a:off x="678000" y="5980879"/>
            <a:ext cx="10836000" cy="1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9490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8169D-E9C1-E05E-EFB0-ECB32D784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6FF5C680-7C06-43C1-FBDE-F945CFB7FE9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24E44EA-8BB9-4356-A6E2-F3B626433E95}" type="slidenum">
              <a:rPr lang="ko-KR" altLang="en-US" smtClean="0"/>
              <a:pPr/>
              <a:t>7</a:t>
            </a:fld>
            <a:endParaRPr lang="ko-KR" altLang="en-US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6C572B99-D6E2-0A9B-ADA8-5C8EF158AD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분석계획</a:t>
            </a:r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FCEE3D79-913F-5D51-BDFB-898EB5C5BB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514506"/>
              </p:ext>
            </p:extLst>
          </p:nvPr>
        </p:nvGraphicFramePr>
        <p:xfrm>
          <a:off x="601963" y="1340535"/>
          <a:ext cx="10988074" cy="518400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2203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4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1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91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91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indent="0" algn="ctr"/>
                      <a:r>
                        <a:rPr sz="1600" kern="1200" dirty="0" err="1">
                          <a:solidFill>
                            <a:srgbClr val="000000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</a:rPr>
                        <a:t>목적</a:t>
                      </a:r>
                      <a:endParaRPr lang="ko-KR" altLang="en-US" sz="1600" kern="1200" dirty="0">
                        <a:solidFill>
                          <a:srgbClr val="000000"/>
                        </a:solidFill>
                        <a:latin typeface="나눔스퀘어_ac ExtraBold" panose="020B0600000101010101" pitchFamily="50" charset="-127"/>
                        <a:ea typeface="나눔스퀘어_ac ExtraBol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600" kern="1200" dirty="0" err="1">
                          <a:solidFill>
                            <a:srgbClr val="000000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</a:rPr>
                        <a:t>분석방법</a:t>
                      </a:r>
                      <a:endParaRPr lang="ko-KR" altLang="en-US" sz="1600" kern="1200" dirty="0">
                        <a:solidFill>
                          <a:srgbClr val="000000"/>
                        </a:solidFill>
                        <a:latin typeface="나눔스퀘어_ac ExtraBold" panose="020B0600000101010101" pitchFamily="50" charset="-127"/>
                        <a:ea typeface="나눔스퀘어_ac ExtraBol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600" kern="1200" dirty="0" err="1">
                          <a:solidFill>
                            <a:srgbClr val="000000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</a:rPr>
                        <a:t>주요</a:t>
                      </a:r>
                      <a:r>
                        <a:rPr sz="1600" kern="1200" dirty="0">
                          <a:solidFill>
                            <a:srgbClr val="000000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</a:rPr>
                        <a:t> </a:t>
                      </a:r>
                      <a:r>
                        <a:rPr sz="1600" kern="1200" dirty="0" err="1">
                          <a:solidFill>
                            <a:srgbClr val="000000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</a:rPr>
                        <a:t>내용</a:t>
                      </a:r>
                      <a:endParaRPr lang="ko-KR" altLang="en-US" sz="1600" kern="1200" dirty="0">
                        <a:solidFill>
                          <a:srgbClr val="000000"/>
                        </a:solidFill>
                        <a:latin typeface="나눔스퀘어_ac ExtraBold" panose="020B0600000101010101" pitchFamily="50" charset="-127"/>
                        <a:ea typeface="나눔스퀘어_ac ExtraBol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600" kern="1200" dirty="0" err="1">
                          <a:solidFill>
                            <a:srgbClr val="000000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</a:rPr>
                        <a:t>담당자</a:t>
                      </a:r>
                      <a:endParaRPr lang="ko-KR" altLang="en-US" sz="1600" kern="1200" dirty="0">
                        <a:solidFill>
                          <a:srgbClr val="000000"/>
                        </a:solidFill>
                        <a:latin typeface="나눔스퀘어_ac ExtraBold" panose="020B0600000101010101" pitchFamily="50" charset="-127"/>
                        <a:ea typeface="나눔스퀘어_ac ExtraBol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600" kern="1200" dirty="0" err="1">
                          <a:solidFill>
                            <a:srgbClr val="000000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</a:rPr>
                        <a:t>일정</a:t>
                      </a:r>
                      <a:endParaRPr lang="ko-KR" altLang="en-US" sz="1600" kern="1200" dirty="0">
                        <a:solidFill>
                          <a:srgbClr val="000000"/>
                        </a:solidFill>
                        <a:latin typeface="나눔스퀘어_ac ExtraBold" panose="020B0600000101010101" pitchFamily="50" charset="-127"/>
                        <a:ea typeface="나눔스퀘어_ac ExtraBol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pPr marL="0" indent="0" algn="ctr"/>
                      <a:r>
                        <a:rPr sz="1600" kern="1200" dirty="0" err="1">
                          <a:solidFill>
                            <a:srgbClr val="000000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</a:rPr>
                        <a:t>고객</a:t>
                      </a:r>
                      <a:r>
                        <a:rPr sz="1600" kern="1200" dirty="0">
                          <a:solidFill>
                            <a:srgbClr val="000000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</a:rPr>
                        <a:t> </a:t>
                      </a:r>
                      <a:r>
                        <a:rPr sz="1600" kern="1200" dirty="0" err="1">
                          <a:solidFill>
                            <a:srgbClr val="000000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</a:rPr>
                        <a:t>특성</a:t>
                      </a:r>
                      <a:r>
                        <a:rPr sz="1600" kern="1200" dirty="0">
                          <a:solidFill>
                            <a:srgbClr val="000000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</a:rPr>
                        <a:t> </a:t>
                      </a:r>
                      <a:r>
                        <a:rPr sz="1600" kern="1200" dirty="0" err="1">
                          <a:solidFill>
                            <a:srgbClr val="000000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</a:rPr>
                        <a:t>확인</a:t>
                      </a:r>
                      <a:endParaRPr lang="ko-KR" altLang="en-US" sz="1600" kern="1200" dirty="0">
                        <a:solidFill>
                          <a:srgbClr val="000000"/>
                        </a:solidFill>
                        <a:latin typeface="나눔스퀘어_ac ExtraBold" panose="020B0600000101010101" pitchFamily="50" charset="-127"/>
                        <a:ea typeface="나눔스퀘어_ac ExtraBol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400" kern="1200" dirty="0" err="1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히스토그램</a:t>
                      </a:r>
                      <a:r>
                        <a:rPr lang="en-US" sz="1400" kern="1200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, </a:t>
                      </a:r>
                      <a:r>
                        <a:rPr sz="1400" kern="1200" dirty="0" err="1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막대그래프</a:t>
                      </a:r>
                      <a:r>
                        <a:rPr lang="en-US" altLang="ko-KR" sz="1400" kern="1200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,</a:t>
                      </a:r>
                    </a:p>
                    <a:p>
                      <a:pPr marL="0" indent="0" algn="ctr"/>
                      <a:r>
                        <a:rPr lang="ko-KR" altLang="en-US" sz="1400" kern="1200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파이차트</a:t>
                      </a:r>
                      <a:endParaRPr lang="en-US" altLang="ko-KR" sz="1400" kern="1200" dirty="0">
                        <a:solidFill>
                          <a:srgbClr val="000000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endParaRPr lang="ko-KR" altLang="en-US" sz="14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ko-KR" altLang="en-US" sz="1400" kern="1200" dirty="0" err="1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이환우</a:t>
                      </a:r>
                      <a:endParaRPr lang="ko-KR" altLang="en-US" sz="1400" kern="1200" dirty="0">
                        <a:solidFill>
                          <a:srgbClr val="000000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indent="0" algn="ctr"/>
                      <a:r>
                        <a:rPr sz="1400" kern="120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03</a:t>
                      </a:r>
                      <a:r>
                        <a:rPr lang="en-US" sz="1400" kern="120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.</a:t>
                      </a:r>
                      <a:r>
                        <a:rPr sz="1400" kern="120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2</a:t>
                      </a:r>
                      <a:r>
                        <a:rPr lang="en-US" sz="1400" kern="120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2</a:t>
                      </a:r>
                      <a:endParaRPr lang="en-US" sz="1400" kern="1200" dirty="0">
                        <a:solidFill>
                          <a:srgbClr val="000000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altLang="ko-KR" sz="1600" dirty="0"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</a:rPr>
                        <a:t>ARPU </a:t>
                      </a:r>
                      <a:r>
                        <a:rPr lang="ko-KR" altLang="en-US" sz="1600" dirty="0"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</a:rPr>
                        <a:t>분석으로 </a:t>
                      </a:r>
                      <a:endParaRPr lang="en-US" altLang="ko-KR" sz="1600" dirty="0">
                        <a:latin typeface="나눔스퀘어_ac ExtraBold" panose="020B0600000101010101" pitchFamily="50" charset="-127"/>
                        <a:ea typeface="나눔스퀘어_ac ExtraBold" panose="020B0600000101010101" pitchFamily="50" charset="-127"/>
                      </a:endParaRPr>
                    </a:p>
                    <a:p>
                      <a:pPr marL="0" indent="0" algn="ctr"/>
                      <a:r>
                        <a:rPr lang="ko-KR" altLang="en-US" sz="1600" dirty="0"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</a:rPr>
                        <a:t>개선방안 도출</a:t>
                      </a:r>
                      <a:endParaRPr lang="en-US" altLang="ko-KR" sz="1600" dirty="0">
                        <a:latin typeface="나눔스퀘어_ac ExtraBold" panose="020B0600000101010101" pitchFamily="50" charset="-127"/>
                        <a:ea typeface="나눔스퀘어_ac ExtraBol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히스토그램</a:t>
                      </a:r>
                      <a:r>
                        <a:rPr lang="en-US" altLang="ko-KR" sz="1400" kern="1200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, </a:t>
                      </a:r>
                      <a:r>
                        <a:rPr lang="ko-KR" altLang="en-US" sz="1400" kern="1200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막대그래프</a:t>
                      </a:r>
                      <a:r>
                        <a:rPr lang="en-US" altLang="ko-KR" sz="1400" kern="1200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,</a:t>
                      </a:r>
                    </a:p>
                    <a:p>
                      <a:pPr marL="0" indent="0" algn="ctr"/>
                      <a:r>
                        <a:rPr lang="ko-KR" altLang="en-US" sz="1400" kern="1200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연관분석</a:t>
                      </a:r>
                      <a:endParaRPr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endParaRPr lang="en-US" altLang="ko-KR" sz="1400" kern="1200" dirty="0">
                        <a:solidFill>
                          <a:srgbClr val="000000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400" kern="1200" dirty="0" err="1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윤희경</a:t>
                      </a:r>
                      <a:r>
                        <a:rPr sz="1400" kern="1200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altLang="ko-KR" sz="1600" kern="1200" dirty="0">
                          <a:solidFill>
                            <a:srgbClr val="000000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</a:rPr>
                        <a:t>LTV</a:t>
                      </a:r>
                      <a:r>
                        <a:rPr lang="ko-KR" altLang="en-US" sz="1600" kern="1200" dirty="0">
                          <a:solidFill>
                            <a:srgbClr val="000000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</a:rPr>
                        <a:t> </a:t>
                      </a:r>
                      <a:r>
                        <a:rPr lang="ko-KR" altLang="en-US" sz="1600" kern="1200" dirty="0" err="1">
                          <a:solidFill>
                            <a:srgbClr val="000000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</a:rPr>
                        <a:t>산출식</a:t>
                      </a:r>
                      <a:r>
                        <a:rPr lang="ko-KR" altLang="en-US" sz="1600" kern="1200" dirty="0">
                          <a:solidFill>
                            <a:srgbClr val="000000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</a:rPr>
                        <a:t> 개선을 통한</a:t>
                      </a:r>
                      <a:endParaRPr lang="en-US" altLang="ko-KR" sz="1600" kern="1200" dirty="0">
                        <a:solidFill>
                          <a:srgbClr val="000000"/>
                        </a:solidFill>
                        <a:latin typeface="나눔스퀘어_ac ExtraBold" panose="020B0600000101010101" pitchFamily="50" charset="-127"/>
                        <a:ea typeface="나눔스퀘어_ac ExtraBold" panose="020B0600000101010101" pitchFamily="50" charset="-127"/>
                      </a:endParaRPr>
                    </a:p>
                    <a:p>
                      <a:pPr marL="0" indent="0" algn="ctr"/>
                      <a:r>
                        <a:rPr lang="ko-KR" altLang="en-US" sz="1600" kern="1200" dirty="0">
                          <a:solidFill>
                            <a:srgbClr val="000000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</a:rPr>
                        <a:t>고객 등급 분류 정밀화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400" kern="1200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B</a:t>
                      </a:r>
                      <a:r>
                        <a:rPr lang="en-US" sz="1400" kern="1200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ar</a:t>
                      </a:r>
                      <a:r>
                        <a:rPr sz="1400" kern="1200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Plot</a:t>
                      </a:r>
                      <a:r>
                        <a:rPr lang="en-US" altLang="ko-KR" sz="1400" kern="1200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,</a:t>
                      </a:r>
                      <a:r>
                        <a:rPr lang="ko-KR" altLang="en-US" sz="1400" kern="1200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</a:t>
                      </a:r>
                      <a:r>
                        <a:rPr lang="ko-KR" altLang="en-US" sz="1400" kern="1200" dirty="0" err="1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산점도</a:t>
                      </a:r>
                      <a:r>
                        <a:rPr lang="en-US" altLang="ko-KR" sz="1400" kern="1200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,</a:t>
                      </a:r>
                    </a:p>
                    <a:p>
                      <a:pPr marL="0" indent="0" algn="ctr"/>
                      <a:r>
                        <a:rPr lang="en-US" altLang="ko-KR" sz="1400" kern="1200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Box Plot, </a:t>
                      </a:r>
                      <a:r>
                        <a:rPr lang="ko-KR" altLang="en-US" sz="1400" kern="1200" dirty="0" err="1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카이제곱</a:t>
                      </a:r>
                      <a:r>
                        <a:rPr lang="ko-KR" altLang="en-US" sz="1400" kern="1200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검정</a:t>
                      </a:r>
                      <a:endParaRPr lang="en-US" sz="1400" kern="1200" dirty="0">
                        <a:solidFill>
                          <a:srgbClr val="000000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endParaRPr lang="ko-KR" altLang="en-US" sz="1400" kern="1200" dirty="0">
                        <a:solidFill>
                          <a:srgbClr val="000000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ko-KR" altLang="en-US" sz="1400" kern="1200" dirty="0" err="1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박중호</a:t>
                      </a:r>
                      <a:endParaRPr lang="ko-KR" altLang="en-US" sz="1400" kern="1200" dirty="0">
                        <a:solidFill>
                          <a:srgbClr val="000000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03.23</a:t>
                      </a:r>
                      <a:endParaRPr lang="en-US" altLang="ko-KR" sz="1400" kern="1200" dirty="0">
                        <a:solidFill>
                          <a:srgbClr val="000000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72000"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ko-KR" altLang="en-US" sz="1600" dirty="0"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</a:rPr>
                        <a:t>고객 이탈 예측 </a:t>
                      </a:r>
                      <a:endParaRPr lang="en-US" altLang="ko-KR" sz="1600" dirty="0">
                        <a:latin typeface="나눔스퀘어_ac ExtraBold" panose="020B0600000101010101" pitchFamily="50" charset="-127"/>
                        <a:ea typeface="나눔스퀘어_ac ExtraBold" panose="020B0600000101010101" pitchFamily="50" charset="-127"/>
                      </a:endParaRPr>
                    </a:p>
                    <a:p>
                      <a:pPr marL="0" indent="0" algn="ctr"/>
                      <a:r>
                        <a:rPr lang="ko-KR" altLang="en-US" sz="1600" dirty="0"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</a:rPr>
                        <a:t>모델 개발을 통한</a:t>
                      </a:r>
                      <a:endParaRPr lang="en-US" altLang="ko-KR" sz="1600" dirty="0">
                        <a:latin typeface="나눔스퀘어_ac ExtraBold" panose="020B0600000101010101" pitchFamily="50" charset="-127"/>
                        <a:ea typeface="나눔스퀘어_ac ExtraBold" panose="020B0600000101010101" pitchFamily="50" charset="-127"/>
                      </a:endParaRPr>
                    </a:p>
                    <a:p>
                      <a:pPr marL="0" indent="0" algn="ctr"/>
                      <a:r>
                        <a:rPr lang="ko-KR" altLang="en-US" sz="1600" dirty="0" err="1"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</a:rPr>
                        <a:t>선제적</a:t>
                      </a:r>
                      <a:r>
                        <a:rPr lang="ko-KR" altLang="en-US" sz="1600" dirty="0"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</a:rPr>
                        <a:t> 이탈 방어</a:t>
                      </a:r>
                      <a:endParaRPr lang="ko-KR" altLang="en-US" sz="1600" kern="1200" dirty="0">
                        <a:solidFill>
                          <a:srgbClr val="000000"/>
                        </a:solidFill>
                        <a:latin typeface="나눔스퀘어_ac ExtraBold" panose="020B0600000101010101" pitchFamily="50" charset="-127"/>
                        <a:ea typeface="나눔스퀘어_ac ExtraBol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ko-KR" altLang="en-US" sz="1400" kern="1200" dirty="0" err="1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카이제곱</a:t>
                      </a:r>
                      <a:r>
                        <a:rPr lang="ko-KR" altLang="en-US" sz="1400" kern="1200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검정</a:t>
                      </a:r>
                      <a:r>
                        <a:rPr lang="en-US" altLang="ko-KR" sz="1400" kern="1200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, </a:t>
                      </a:r>
                    </a:p>
                    <a:p>
                      <a:pPr marL="0" indent="0" algn="ctr"/>
                      <a:r>
                        <a:rPr lang="en-US" altLang="ko-KR" sz="1400" kern="1200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T-test, ANOVA</a:t>
                      </a:r>
                    </a:p>
                    <a:p>
                      <a:pPr marL="0" indent="0" algn="ctr"/>
                      <a:r>
                        <a:rPr lang="ko-KR" altLang="en-US" sz="1400" kern="1200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로지스틱 회귀분석</a:t>
                      </a:r>
                      <a:r>
                        <a:rPr lang="en-US" altLang="ko-KR" sz="1400" kern="1200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,</a:t>
                      </a:r>
                    </a:p>
                    <a:p>
                      <a:pPr marL="0" indent="0" algn="ctr"/>
                      <a:r>
                        <a:rPr lang="ko-KR" altLang="en-US" sz="1400" kern="1200" dirty="0" err="1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랜덤포레스트</a:t>
                      </a:r>
                      <a:r>
                        <a:rPr lang="en-US" altLang="ko-KR" sz="1400" kern="1200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,</a:t>
                      </a:r>
                      <a:r>
                        <a:rPr lang="ko-KR" altLang="en-US" sz="1400" kern="1200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</a:t>
                      </a:r>
                      <a:r>
                        <a:rPr lang="en-US" altLang="ko-KR" sz="1400" kern="1200" dirty="0" err="1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XGBoost</a:t>
                      </a:r>
                      <a:r>
                        <a:rPr lang="en-US" altLang="ko-KR" sz="1400" kern="1200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,</a:t>
                      </a:r>
                      <a:r>
                        <a:rPr lang="ko-KR" altLang="en-US" sz="1400" kern="1200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</a:t>
                      </a:r>
                      <a:r>
                        <a:rPr lang="en-US" altLang="ko-KR" sz="1400" kern="1200" dirty="0" err="1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LightGBM</a:t>
                      </a:r>
                      <a:r>
                        <a:rPr lang="en-US" altLang="ko-KR" sz="1400" kern="1200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,</a:t>
                      </a:r>
                      <a:r>
                        <a:rPr lang="ko-KR" altLang="en-US" sz="1400" kern="1200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군집분석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indent="0" algn="ctr"/>
                      <a:endParaRPr lang="ko-KR" altLang="en-US" sz="1400" kern="1200" dirty="0">
                        <a:solidFill>
                          <a:srgbClr val="000000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ko-KR" altLang="en-US" sz="1400" kern="1200" dirty="0" err="1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김정완</a:t>
                      </a:r>
                      <a:endParaRPr lang="ko-KR" altLang="en-US" sz="1400" kern="1200" dirty="0">
                        <a:solidFill>
                          <a:srgbClr val="000000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03.24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97200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ko-KR" altLang="en-US" sz="1400" kern="1200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윤지희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0E348DE0-BAC9-AAF4-FDA7-0C20AC31E504}"/>
              </a:ext>
            </a:extLst>
          </p:cNvPr>
          <p:cNvGrpSpPr/>
          <p:nvPr/>
        </p:nvGrpSpPr>
        <p:grpSpPr>
          <a:xfrm>
            <a:off x="732835" y="756075"/>
            <a:ext cx="3708307" cy="399235"/>
            <a:chOff x="1346293" y="-667611"/>
            <a:chExt cx="3708307" cy="399235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F306BEAF-2981-27C9-8C8F-8784D03B9A21}"/>
                </a:ext>
              </a:extLst>
            </p:cNvPr>
            <p:cNvSpPr/>
            <p:nvPr/>
          </p:nvSpPr>
          <p:spPr>
            <a:xfrm>
              <a:off x="1346293" y="-667611"/>
              <a:ext cx="3708307" cy="399235"/>
            </a:xfrm>
            <a:prstGeom prst="roundRect">
              <a:avLst>
                <a:gd name="adj" fmla="val 34028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674493A-FCE3-952A-7EA5-F094AEA914EE}"/>
                </a:ext>
              </a:extLst>
            </p:cNvPr>
            <p:cNvSpPr txBox="1"/>
            <p:nvPr/>
          </p:nvSpPr>
          <p:spPr>
            <a:xfrm>
              <a:off x="1375176" y="-621882"/>
              <a:ext cx="365910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 err="1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Charge_data</a:t>
              </a:r>
              <a:r>
                <a:rPr lang="en-US" altLang="ko-KR" sz="1400" dirty="0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(</a:t>
              </a:r>
              <a:r>
                <a:rPr lang="ko-KR" altLang="en-US" sz="1400" dirty="0" err="1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과금액</a:t>
              </a:r>
              <a:r>
                <a:rPr lang="ko-KR" altLang="en-US" sz="1400" dirty="0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 정보</a:t>
              </a:r>
              <a:r>
                <a:rPr lang="en-US" altLang="ko-KR" sz="1400" dirty="0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)  </a:t>
              </a:r>
              <a:r>
                <a:rPr lang="en-US" altLang="ko-KR" sz="1400" dirty="0">
                  <a:solidFill>
                    <a:srgbClr val="0022C3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291,334</a:t>
              </a:r>
              <a:r>
                <a:rPr lang="ko-KR" altLang="en-US" sz="1400" dirty="0">
                  <a:solidFill>
                    <a:srgbClr val="0022C3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행 </a:t>
              </a:r>
              <a:r>
                <a:rPr lang="en-US" altLang="ko-KR" sz="1400" dirty="0">
                  <a:solidFill>
                    <a:srgbClr val="0022C3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× 3</a:t>
              </a:r>
              <a:r>
                <a:rPr lang="ko-KR" altLang="en-US" sz="1400" dirty="0">
                  <a:solidFill>
                    <a:srgbClr val="0022C3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열</a:t>
              </a:r>
              <a:endParaRPr lang="en-US" altLang="ko-KR" sz="1400" dirty="0">
                <a:solidFill>
                  <a:srgbClr val="0022C3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2604C58F-5A4B-FC4A-074B-AB3C06505D75}"/>
              </a:ext>
            </a:extLst>
          </p:cNvPr>
          <p:cNvGrpSpPr/>
          <p:nvPr/>
        </p:nvGrpSpPr>
        <p:grpSpPr>
          <a:xfrm>
            <a:off x="4688819" y="756075"/>
            <a:ext cx="3708307" cy="399235"/>
            <a:chOff x="1346293" y="-667611"/>
            <a:chExt cx="3708307" cy="399235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ABE1ED77-F1A4-1303-D92F-51C9B5EEF9B6}"/>
                </a:ext>
              </a:extLst>
            </p:cNvPr>
            <p:cNvSpPr/>
            <p:nvPr/>
          </p:nvSpPr>
          <p:spPr>
            <a:xfrm>
              <a:off x="1346293" y="-667611"/>
              <a:ext cx="3708307" cy="399235"/>
            </a:xfrm>
            <a:prstGeom prst="roundRect">
              <a:avLst>
                <a:gd name="adj" fmla="val 34028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A13B66F-645F-6C86-E987-3664B351E6EF}"/>
                </a:ext>
              </a:extLst>
            </p:cNvPr>
            <p:cNvSpPr txBox="1"/>
            <p:nvPr/>
          </p:nvSpPr>
          <p:spPr>
            <a:xfrm>
              <a:off x="1375176" y="-621882"/>
              <a:ext cx="365910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 err="1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Customer_data</a:t>
              </a:r>
              <a:r>
                <a:rPr lang="en-US" altLang="ko-KR" sz="1400" dirty="0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(</a:t>
              </a:r>
              <a:r>
                <a:rPr lang="ko-KR" altLang="en-US" sz="1400" dirty="0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고객 정보</a:t>
              </a:r>
              <a:r>
                <a:rPr lang="en-US" altLang="ko-KR" sz="1400" dirty="0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)  </a:t>
              </a:r>
              <a:r>
                <a:rPr lang="en-US" altLang="ko-KR" sz="1400" dirty="0">
                  <a:solidFill>
                    <a:srgbClr val="0022C3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6,863</a:t>
              </a:r>
              <a:r>
                <a:rPr lang="ko-KR" altLang="en-US" sz="1400" dirty="0">
                  <a:solidFill>
                    <a:srgbClr val="0022C3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행 </a:t>
              </a:r>
              <a:r>
                <a:rPr lang="en-US" altLang="ko-KR" sz="1400" dirty="0">
                  <a:solidFill>
                    <a:srgbClr val="0022C3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× 25</a:t>
              </a:r>
              <a:r>
                <a:rPr lang="ko-KR" altLang="en-US" sz="1400" dirty="0">
                  <a:solidFill>
                    <a:srgbClr val="0022C3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열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D9B8BDE-1A15-4334-E6BC-5EF02D993EF8}"/>
              </a:ext>
            </a:extLst>
          </p:cNvPr>
          <p:cNvSpPr txBox="1"/>
          <p:nvPr/>
        </p:nvSpPr>
        <p:spPr>
          <a:xfrm>
            <a:off x="4916421" y="1756600"/>
            <a:ext cx="4111831" cy="707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인구통계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서비스 이용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이탈 고객 특성의 분포를 확인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이탈 고객과 유지 고객 간 기초적인 차이를 탐색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EB1418-DA94-AAC8-A086-E0754B54F6AA}"/>
              </a:ext>
            </a:extLst>
          </p:cNvPr>
          <p:cNvSpPr txBox="1"/>
          <p:nvPr/>
        </p:nvSpPr>
        <p:spPr>
          <a:xfrm>
            <a:off x="4916421" y="2719127"/>
            <a:ext cx="4111831" cy="707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ARPU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</a:t>
            </a:r>
            <a:r>
              <a:rPr lang="ko-KR" altLang="en-US" sz="14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이탈률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데이터사용량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서비스 수 비교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부가서비스 조합들의 연관분석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1EB6E-56DD-CF9C-9A5D-0BA7A3F32422}"/>
              </a:ext>
            </a:extLst>
          </p:cNvPr>
          <p:cNvSpPr txBox="1"/>
          <p:nvPr/>
        </p:nvSpPr>
        <p:spPr>
          <a:xfrm>
            <a:off x="4916421" y="3941536"/>
            <a:ext cx="4256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이탈가능점수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만족도 등 변수를 추가하여 </a:t>
            </a:r>
            <a:r>
              <a:rPr lang="ko-KR" altLang="en-US" sz="14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산출식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개선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BA4FEC-E795-E5B4-BC0B-F5136FDCBDA4}"/>
              </a:ext>
            </a:extLst>
          </p:cNvPr>
          <p:cNvSpPr txBox="1"/>
          <p:nvPr/>
        </p:nvSpPr>
        <p:spPr>
          <a:xfrm>
            <a:off x="4916421" y="4990689"/>
            <a:ext cx="4256455" cy="1030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이탈 관련 변수 선정</a:t>
            </a:r>
            <a:endParaRPr lang="en-US" altLang="ko-KR" sz="1400" b="1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모델링으로 고객이탈예측함수 도출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군집분석을 통한 고객 맞춤 전략 수립</a:t>
            </a:r>
          </a:p>
        </p:txBody>
      </p:sp>
    </p:spTree>
    <p:extLst>
      <p:ext uri="{BB962C8B-B14F-4D97-AF65-F5344CB8AC3E}">
        <p14:creationId xmlns:p14="http://schemas.microsoft.com/office/powerpoint/2010/main" val="1146398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19188-A374-FA57-8158-E4BC1FF7D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7481A25-96B4-B891-DD8B-A9F8F049047D}"/>
              </a:ext>
            </a:extLst>
          </p:cNvPr>
          <p:cNvSpPr/>
          <p:nvPr/>
        </p:nvSpPr>
        <p:spPr>
          <a:xfrm>
            <a:off x="523274" y="3763478"/>
            <a:ext cx="11145453" cy="2214000"/>
          </a:xfrm>
          <a:prstGeom prst="roundRect">
            <a:avLst>
              <a:gd name="adj" fmla="val 3453"/>
            </a:avLst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17" dirty="0">
              <a:solidFill>
                <a:srgbClr val="B96B6B"/>
              </a:solidFill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91A60D-718A-469A-58AC-BB670C429F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분석결과</a:t>
            </a:r>
            <a:r>
              <a:rPr lang="en-US" altLang="ko-KR" dirty="0"/>
              <a:t> </a:t>
            </a:r>
            <a:r>
              <a:rPr lang="en-US" altLang="ko-KR" sz="2000" dirty="0"/>
              <a:t>_</a:t>
            </a:r>
            <a:r>
              <a:rPr lang="ko-KR" altLang="en-US" sz="2000" dirty="0"/>
              <a:t>고객특성확인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70DDC18-A175-697D-534B-B6F3B6D90907}"/>
              </a:ext>
            </a:extLst>
          </p:cNvPr>
          <p:cNvGrpSpPr/>
          <p:nvPr/>
        </p:nvGrpSpPr>
        <p:grpSpPr>
          <a:xfrm>
            <a:off x="510330" y="3755993"/>
            <a:ext cx="1702800" cy="403394"/>
            <a:chOff x="808566" y="891998"/>
            <a:chExt cx="1392767" cy="403394"/>
          </a:xfrm>
        </p:grpSpPr>
        <p:sp>
          <p:nvSpPr>
            <p:cNvPr id="20" name="사각형: 둥근 한쪽 모서리 19">
              <a:extLst>
                <a:ext uri="{FF2B5EF4-FFF2-40B4-BE49-F238E27FC236}">
                  <a16:creationId xmlns:a16="http://schemas.microsoft.com/office/drawing/2014/main" id="{B06A0271-30AB-F57B-7762-F676C2C61B83}"/>
                </a:ext>
              </a:extLst>
            </p:cNvPr>
            <p:cNvSpPr/>
            <p:nvPr/>
          </p:nvSpPr>
          <p:spPr>
            <a:xfrm flipV="1">
              <a:off x="808566" y="892612"/>
              <a:ext cx="1392767" cy="402167"/>
            </a:xfrm>
            <a:prstGeom prst="round1Rect">
              <a:avLst>
                <a:gd name="adj" fmla="val 50000"/>
              </a:avLst>
            </a:prstGeom>
            <a:solidFill>
              <a:srgbClr val="0E46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325D4878-FD3A-544A-A0E0-E6E0991FA088}"/>
                </a:ext>
              </a:extLst>
            </p:cNvPr>
            <p:cNvSpPr/>
            <p:nvPr/>
          </p:nvSpPr>
          <p:spPr>
            <a:xfrm>
              <a:off x="943479" y="891998"/>
              <a:ext cx="1122940" cy="40339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서비스 이용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39E35EF8-A938-A3AA-C8E4-AF322C1DBBF7}"/>
              </a:ext>
            </a:extLst>
          </p:cNvPr>
          <p:cNvSpPr txBox="1"/>
          <p:nvPr/>
        </p:nvSpPr>
        <p:spPr>
          <a:xfrm>
            <a:off x="946926" y="-740481"/>
            <a:ext cx="10406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rPr>
              <a:t>GRAD = ['#D9E6F6', '#B3CEDF', '#78A9C7', '#4984B0', '#225B92']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_ac Bold" panose="020B0600000101010101" pitchFamily="50" charset="-127"/>
              <a:ea typeface="나눔스퀘어_ac Bold" panose="020B0600000101010101" pitchFamily="50" charset="-127"/>
              <a:cs typeface="+mn-cs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C6E76DE-C720-830D-46A2-DC69F4F506C0}"/>
              </a:ext>
            </a:extLst>
          </p:cNvPr>
          <p:cNvSpPr txBox="1"/>
          <p:nvPr/>
        </p:nvSpPr>
        <p:spPr>
          <a:xfrm>
            <a:off x="5600776" y="737054"/>
            <a:ext cx="1972223" cy="307777"/>
          </a:xfrm>
          <a:prstGeom prst="rect">
            <a:avLst/>
          </a:prstGeom>
          <a:solidFill>
            <a:srgbClr val="D9E6F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연령대 분포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6C3E472-3316-F17C-4189-60D14449EA87}"/>
              </a:ext>
            </a:extLst>
          </p:cNvPr>
          <p:cNvSpPr txBox="1"/>
          <p:nvPr/>
        </p:nvSpPr>
        <p:spPr>
          <a:xfrm>
            <a:off x="8664649" y="737054"/>
            <a:ext cx="1972223" cy="307777"/>
          </a:xfrm>
          <a:prstGeom prst="rect">
            <a:avLst/>
          </a:prstGeom>
          <a:solidFill>
            <a:srgbClr val="D9E6F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결혼여부 분포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37F85BD-12A1-E471-13BC-5BF65200B2A6}"/>
              </a:ext>
            </a:extLst>
          </p:cNvPr>
          <p:cNvSpPr txBox="1"/>
          <p:nvPr/>
        </p:nvSpPr>
        <p:spPr>
          <a:xfrm>
            <a:off x="2358838" y="737054"/>
            <a:ext cx="1972223" cy="307777"/>
          </a:xfrm>
          <a:prstGeom prst="rect">
            <a:avLst/>
          </a:prstGeom>
          <a:solidFill>
            <a:srgbClr val="D9E6F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성별 분포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34" name="그림 133">
            <a:extLst>
              <a:ext uri="{FF2B5EF4-FFF2-40B4-BE49-F238E27FC236}">
                <a16:creationId xmlns:a16="http://schemas.microsoft.com/office/drawing/2014/main" id="{15D7A45E-10C2-3849-64EE-6E4C63171FD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05443" y="1120305"/>
            <a:ext cx="3132095" cy="1841762"/>
          </a:xfrm>
          <a:prstGeom prst="rect">
            <a:avLst/>
          </a:prstGeom>
        </p:spPr>
      </p:pic>
      <p:pic>
        <p:nvPicPr>
          <p:cNvPr id="135" name="그림 134">
            <a:extLst>
              <a:ext uri="{FF2B5EF4-FFF2-40B4-BE49-F238E27FC236}">
                <a16:creationId xmlns:a16="http://schemas.microsoft.com/office/drawing/2014/main" id="{3D49F9DE-1B8F-30F4-31D2-C884B8A41D9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875091" y="1120305"/>
            <a:ext cx="3095985" cy="183065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5FCB3FD-CBB0-C2BD-10B1-E149138E90B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93980" y="1149351"/>
            <a:ext cx="2375458" cy="17758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F79B037-2F6C-B013-2882-78F097E2B149}"/>
              </a:ext>
            </a:extLst>
          </p:cNvPr>
          <p:cNvSpPr txBox="1"/>
          <p:nvPr/>
        </p:nvSpPr>
        <p:spPr>
          <a:xfrm>
            <a:off x="5494898" y="3834532"/>
            <a:ext cx="1972223" cy="307777"/>
          </a:xfrm>
          <a:prstGeom prst="rect">
            <a:avLst/>
          </a:prstGeom>
          <a:solidFill>
            <a:srgbClr val="D9E6F6"/>
          </a:solidFill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ko-KR" altLang="en-US" sz="14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부가서비스 </a:t>
            </a:r>
            <a:r>
              <a:rPr lang="ko-KR" altLang="en-US" sz="1400" dirty="0" err="1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가입률</a:t>
            </a:r>
            <a:r>
              <a:rPr lang="en-US" altLang="ko-KR" sz="14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(%)</a:t>
            </a:r>
            <a:endParaRPr lang="ko-KR" altLang="en-US" sz="1400" dirty="0">
              <a:solidFill>
                <a:prstClr val="black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336CBC-D807-96FC-AB2C-D0DD45827415}"/>
              </a:ext>
            </a:extLst>
          </p:cNvPr>
          <p:cNvSpPr txBox="1"/>
          <p:nvPr/>
        </p:nvSpPr>
        <p:spPr>
          <a:xfrm>
            <a:off x="8664649" y="3834532"/>
            <a:ext cx="1972223" cy="307777"/>
          </a:xfrm>
          <a:prstGeom prst="rect">
            <a:avLst/>
          </a:prstGeom>
          <a:solidFill>
            <a:srgbClr val="D9E6F6"/>
          </a:solidFill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ko-KR" altLang="en-US" sz="14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가입기간 분포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8D9835-655F-C06B-BA5B-B4C7E088E40C}"/>
              </a:ext>
            </a:extLst>
          </p:cNvPr>
          <p:cNvSpPr txBox="1"/>
          <p:nvPr/>
        </p:nvSpPr>
        <p:spPr>
          <a:xfrm>
            <a:off x="2358838" y="3834532"/>
            <a:ext cx="1972223" cy="307777"/>
          </a:xfrm>
          <a:prstGeom prst="rect">
            <a:avLst/>
          </a:prstGeom>
          <a:solidFill>
            <a:srgbClr val="D9E6F6"/>
          </a:solidFill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ko-KR" altLang="en-US" sz="1400" dirty="0" err="1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과금방식별</a:t>
            </a:r>
            <a:r>
              <a:rPr lang="ko-KR" altLang="en-US" sz="14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고객 수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37EDFE5-926B-D947-E968-59B2F69A5B11}"/>
              </a:ext>
            </a:extLst>
          </p:cNvPr>
          <p:cNvSpPr/>
          <p:nvPr/>
        </p:nvSpPr>
        <p:spPr>
          <a:xfrm>
            <a:off x="523274" y="683395"/>
            <a:ext cx="11145453" cy="2213810"/>
          </a:xfrm>
          <a:prstGeom prst="roundRect">
            <a:avLst>
              <a:gd name="adj" fmla="val 3453"/>
            </a:avLst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17" dirty="0">
              <a:solidFill>
                <a:srgbClr val="B96B6B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9225B6B-8EFD-56EF-6D29-C18386CCE1E7}"/>
              </a:ext>
            </a:extLst>
          </p:cNvPr>
          <p:cNvGrpSpPr/>
          <p:nvPr/>
        </p:nvGrpSpPr>
        <p:grpSpPr>
          <a:xfrm>
            <a:off x="510330" y="660301"/>
            <a:ext cx="1702800" cy="403394"/>
            <a:chOff x="808566" y="891998"/>
            <a:chExt cx="1392767" cy="403394"/>
          </a:xfrm>
        </p:grpSpPr>
        <p:sp>
          <p:nvSpPr>
            <p:cNvPr id="16" name="사각형: 둥근 한쪽 모서리 15">
              <a:extLst>
                <a:ext uri="{FF2B5EF4-FFF2-40B4-BE49-F238E27FC236}">
                  <a16:creationId xmlns:a16="http://schemas.microsoft.com/office/drawing/2014/main" id="{49F4F1A7-1D32-1D87-72CF-06A3CD694380}"/>
                </a:ext>
              </a:extLst>
            </p:cNvPr>
            <p:cNvSpPr/>
            <p:nvPr/>
          </p:nvSpPr>
          <p:spPr>
            <a:xfrm flipV="1">
              <a:off x="808566" y="892612"/>
              <a:ext cx="1392767" cy="402167"/>
            </a:xfrm>
            <a:prstGeom prst="round1Rect">
              <a:avLst>
                <a:gd name="adj" fmla="val 50000"/>
              </a:avLst>
            </a:prstGeom>
            <a:solidFill>
              <a:srgbClr val="0E46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D00A23A2-F36C-B460-F928-7EA1EAF7CB67}"/>
                </a:ext>
              </a:extLst>
            </p:cNvPr>
            <p:cNvSpPr/>
            <p:nvPr/>
          </p:nvSpPr>
          <p:spPr>
            <a:xfrm>
              <a:off x="994522" y="891998"/>
              <a:ext cx="1020855" cy="40339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인구통계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631A064E-0F62-C3AB-F016-CAD481EE5326}"/>
              </a:ext>
            </a:extLst>
          </p:cNvPr>
          <p:cNvGrpSpPr/>
          <p:nvPr/>
        </p:nvGrpSpPr>
        <p:grpSpPr>
          <a:xfrm>
            <a:off x="1177972" y="2995142"/>
            <a:ext cx="9836056" cy="571740"/>
            <a:chOff x="2005882" y="2957844"/>
            <a:chExt cx="8941869" cy="571740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F3A4A913-4CCD-9AAE-01EB-1A2D6A66B4C8}"/>
                </a:ext>
              </a:extLst>
            </p:cNvPr>
            <p:cNvSpPr/>
            <p:nvPr/>
          </p:nvSpPr>
          <p:spPr>
            <a:xfrm>
              <a:off x="2005882" y="2957844"/>
              <a:ext cx="8941869" cy="57174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B803845-2A18-46AA-4002-E408AC82F2E7}"/>
                </a:ext>
              </a:extLst>
            </p:cNvPr>
            <p:cNvSpPr txBox="1"/>
            <p:nvPr/>
          </p:nvSpPr>
          <p:spPr>
            <a:xfrm>
              <a:off x="2176783" y="3074437"/>
              <a:ext cx="860006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+mn-cs"/>
                </a:rPr>
                <a:t>성별 균형이 고르며</a:t>
              </a: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+mn-cs"/>
                </a:rPr>
                <a:t>, </a:t>
              </a: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22C3"/>
                  </a:solidFill>
                  <a:effectLst/>
                  <a:uLnTx/>
                  <a:uFillTx/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+mn-cs"/>
                </a:rPr>
                <a:t>60</a:t>
              </a: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22C3"/>
                  </a:solidFill>
                  <a:effectLst/>
                  <a:uLnTx/>
                  <a:uFillTx/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+mn-cs"/>
                </a:rPr>
                <a:t>대 이상 </a:t>
              </a: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+mn-cs"/>
                </a:rPr>
                <a:t>비중</a:t>
              </a: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+mn-cs"/>
                </a:rPr>
                <a:t>(23.6%</a:t>
              </a:r>
              <a:r>
                <a:rPr lang="en-US" altLang="ko-KR" sz="16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)</a:t>
              </a: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+mn-cs"/>
                </a:rPr>
                <a:t> 가장 높고 </a:t>
              </a: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22C3"/>
                  </a:solidFill>
                  <a:effectLst/>
                  <a:uLnTx/>
                  <a:uFillTx/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+mn-cs"/>
                </a:rPr>
                <a:t>미혼 고객</a:t>
              </a: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+mn-cs"/>
                </a:rPr>
                <a:t>이 </a:t>
              </a: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+mn-cs"/>
                </a:rPr>
                <a:t>56.8%</a:t>
              </a: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+mn-cs"/>
                </a:rPr>
                <a:t>로 과반을 차지함</a:t>
              </a: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75570FEB-EC35-DA7C-AB22-561397A42298}"/>
              </a:ext>
            </a:extLst>
          </p:cNvPr>
          <p:cNvGrpSpPr/>
          <p:nvPr/>
        </p:nvGrpSpPr>
        <p:grpSpPr>
          <a:xfrm>
            <a:off x="1177972" y="6094477"/>
            <a:ext cx="9836056" cy="571740"/>
            <a:chOff x="1558788" y="6086055"/>
            <a:chExt cx="9836056" cy="571740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DB67FA5A-D46A-F3F3-8EB1-7FAF651DC144}"/>
                </a:ext>
              </a:extLst>
            </p:cNvPr>
            <p:cNvSpPr/>
            <p:nvPr/>
          </p:nvSpPr>
          <p:spPr>
            <a:xfrm>
              <a:off x="1558788" y="6086055"/>
              <a:ext cx="9836056" cy="57174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452EF0D-C622-2448-BFBF-E5A3F5407452}"/>
                </a:ext>
              </a:extLst>
            </p:cNvPr>
            <p:cNvSpPr txBox="1"/>
            <p:nvPr/>
          </p:nvSpPr>
          <p:spPr>
            <a:xfrm>
              <a:off x="2176783" y="6202648"/>
              <a:ext cx="860006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+mn-cs"/>
                </a:rPr>
                <a:t>계좌이체 과금 고객이 가장 많으며</a:t>
              </a: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+mn-cs"/>
                </a:rPr>
                <a:t> </a:t>
              </a:r>
              <a:r>
                <a:rPr kumimoji="0" lang="ko-KR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+mn-cs"/>
                </a:rPr>
                <a:t>데이터무제한</a:t>
              </a: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+mn-cs"/>
                </a:rPr>
                <a:t> </a:t>
              </a:r>
              <a:r>
                <a:rPr kumimoji="0" lang="ko-KR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+mn-cs"/>
                </a:rPr>
                <a:t>가입률이</a:t>
              </a: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+mn-cs"/>
                </a:rPr>
                <a:t> 가장 크고</a:t>
              </a: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+mn-cs"/>
                </a:rPr>
                <a:t> </a:t>
              </a: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22C3"/>
                  </a:solidFill>
                  <a:effectLst/>
                  <a:uLnTx/>
                  <a:uFillTx/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+mn-cs"/>
                </a:rPr>
                <a:t>평균 가입기간은 </a:t>
              </a: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22C3"/>
                  </a:solidFill>
                  <a:effectLst/>
                  <a:uLnTx/>
                  <a:uFillTx/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+mn-cs"/>
                </a:rPr>
                <a:t>53.5</a:t>
              </a: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22C3"/>
                  </a:solidFill>
                  <a:effectLst/>
                  <a:uLnTx/>
                  <a:uFillTx/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+mn-cs"/>
                </a:rPr>
                <a:t>개월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E86B58E7-57DF-0C05-1F43-AF6AA245BDB3}"/>
              </a:ext>
            </a:extLst>
          </p:cNvPr>
          <p:cNvSpPr txBox="1"/>
          <p:nvPr/>
        </p:nvSpPr>
        <p:spPr>
          <a:xfrm>
            <a:off x="8922084" y="1931398"/>
            <a:ext cx="721593" cy="307777"/>
          </a:xfrm>
          <a:prstGeom prst="rect">
            <a:avLst/>
          </a:prstGeom>
          <a:solidFill>
            <a:srgbClr val="225B9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rPr>
              <a:t>56.8%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스퀘어_ac Bold" panose="020B0600000101010101" pitchFamily="50" charset="-127"/>
              <a:ea typeface="나눔스퀘어_ac Bold" panose="020B0600000101010101" pitchFamily="50" charset="-127"/>
              <a:cs typeface="+mn-cs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043884-27BD-52D9-B61E-21635DB2A6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24E44EA-8BB9-4356-A6E2-F3B626433E95}" type="slidenum">
              <a:rPr lang="ko-KR" altLang="en-US" smtClean="0"/>
              <a:pPr/>
              <a:t>8</a:t>
            </a:fld>
            <a:endParaRPr lang="ko-KR" altLang="en-US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2604D67B-13A6-1655-03BD-9B4FB6041DDA}"/>
              </a:ext>
            </a:extLst>
          </p:cNvPr>
          <p:cNvGrpSpPr/>
          <p:nvPr/>
        </p:nvGrpSpPr>
        <p:grpSpPr>
          <a:xfrm>
            <a:off x="1700736" y="3977368"/>
            <a:ext cx="2920881" cy="1933179"/>
            <a:chOff x="1700736" y="3967743"/>
            <a:chExt cx="2920881" cy="1933179"/>
          </a:xfrm>
        </p:grpSpPr>
        <p:pic>
          <p:nvPicPr>
            <p:cNvPr id="129" name="그림 128">
              <a:extLst>
                <a:ext uri="{FF2B5EF4-FFF2-40B4-BE49-F238E27FC236}">
                  <a16:creationId xmlns:a16="http://schemas.microsoft.com/office/drawing/2014/main" id="{54C5CE2A-2DE2-EE06-129E-AABCF8437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997075" y="4248149"/>
              <a:ext cx="2614613" cy="1400175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0AC1268-32F7-30C6-294F-CA05B42A3182}"/>
                </a:ext>
              </a:extLst>
            </p:cNvPr>
            <p:cNvSpPr txBox="1"/>
            <p:nvPr/>
          </p:nvSpPr>
          <p:spPr>
            <a:xfrm>
              <a:off x="2139191" y="5661503"/>
              <a:ext cx="61175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계좌이체</a:t>
              </a:r>
              <a:endParaRPr lang="en-US" altLang="ko-KR" sz="9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50A493E-E44F-DBD5-337C-B7F0FF95F682}"/>
                </a:ext>
              </a:extLst>
            </p:cNvPr>
            <p:cNvSpPr txBox="1"/>
            <p:nvPr/>
          </p:nvSpPr>
          <p:spPr>
            <a:xfrm>
              <a:off x="2994853" y="5661503"/>
              <a:ext cx="61175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신용카드</a:t>
              </a:r>
              <a:endParaRPr lang="en-US" altLang="ko-KR" sz="9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9A5AC11-2873-2A26-19B5-EBF13BB39214}"/>
                </a:ext>
              </a:extLst>
            </p:cNvPr>
            <p:cNvSpPr txBox="1"/>
            <p:nvPr/>
          </p:nvSpPr>
          <p:spPr>
            <a:xfrm>
              <a:off x="3850516" y="5661503"/>
              <a:ext cx="61175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전자결제</a:t>
              </a:r>
              <a:endParaRPr lang="en-US" altLang="ko-KR" sz="9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246EA9E-54C6-44B3-6A48-34D9F97199CA}"/>
                </a:ext>
              </a:extLst>
            </p:cNvPr>
            <p:cNvSpPr txBox="1"/>
            <p:nvPr/>
          </p:nvSpPr>
          <p:spPr>
            <a:xfrm rot="16200000">
              <a:off x="872646" y="4795833"/>
              <a:ext cx="19331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고객 수 </a:t>
              </a:r>
              <a:r>
                <a:rPr lang="en-US" altLang="ko-KR" sz="12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(</a:t>
              </a:r>
              <a:r>
                <a:rPr lang="ko-KR" altLang="en-US" sz="12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명</a:t>
              </a:r>
              <a:r>
                <a:rPr lang="en-US" altLang="ko-KR" sz="12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)</a:t>
              </a: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9C7A68AC-AAAA-6665-7FD9-663E175802D5}"/>
                </a:ext>
              </a:extLst>
            </p:cNvPr>
            <p:cNvSpPr/>
            <p:nvPr/>
          </p:nvSpPr>
          <p:spPr>
            <a:xfrm>
              <a:off x="1972017" y="4211319"/>
              <a:ext cx="2649600" cy="1441335"/>
            </a:xfrm>
            <a:prstGeom prst="rect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7F3BD69F-CE6D-2F7C-7463-AFACACFCB445}"/>
              </a:ext>
            </a:extLst>
          </p:cNvPr>
          <p:cNvGrpSpPr/>
          <p:nvPr/>
        </p:nvGrpSpPr>
        <p:grpSpPr>
          <a:xfrm>
            <a:off x="4799536" y="3977368"/>
            <a:ext cx="2932224" cy="2027532"/>
            <a:chOff x="4799536" y="3967743"/>
            <a:chExt cx="2932224" cy="2027532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1CBD9654-8C69-76D6-7B15-A47AA0568F37}"/>
                </a:ext>
              </a:extLst>
            </p:cNvPr>
            <p:cNvGrpSpPr/>
            <p:nvPr/>
          </p:nvGrpSpPr>
          <p:grpSpPr>
            <a:xfrm>
              <a:off x="5102225" y="4238625"/>
              <a:ext cx="2603500" cy="1756650"/>
              <a:chOff x="5102225" y="4238625"/>
              <a:chExt cx="2603500" cy="1756650"/>
            </a:xfrm>
          </p:grpSpPr>
          <p:pic>
            <p:nvPicPr>
              <p:cNvPr id="128" name="그림 127">
                <a:extLst>
                  <a:ext uri="{FF2B5EF4-FFF2-40B4-BE49-F238E27FC236}">
                    <a16:creationId xmlns:a16="http://schemas.microsoft.com/office/drawing/2014/main" id="{71A1226E-CB1D-C9AD-659C-D680B3BF1B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5102225" y="4238625"/>
                <a:ext cx="2603500" cy="1403350"/>
              </a:xfrm>
              <a:prstGeom prst="rect">
                <a:avLst/>
              </a:prstGeom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6FA5D7-A454-42AF-D61F-275CDDA707B1}"/>
                  </a:ext>
                </a:extLst>
              </p:cNvPr>
              <p:cNvSpPr txBox="1"/>
              <p:nvPr/>
            </p:nvSpPr>
            <p:spPr>
              <a:xfrm>
                <a:off x="5168776" y="5625943"/>
                <a:ext cx="6117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9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데이터</a:t>
                </a:r>
                <a:endParaRPr lang="en-US" altLang="ko-KR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9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무제한</a:t>
                </a:r>
                <a:endParaRPr lang="en-US" altLang="ko-KR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A497C37-A9A0-52CA-10C4-B65CCA75D3C4}"/>
                  </a:ext>
                </a:extLst>
              </p:cNvPr>
              <p:cNvSpPr txBox="1"/>
              <p:nvPr/>
            </p:nvSpPr>
            <p:spPr>
              <a:xfrm>
                <a:off x="5798484" y="5625943"/>
                <a:ext cx="6117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9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보안</a:t>
                </a:r>
                <a:endParaRPr lang="en-US" altLang="ko-KR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9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서비스</a:t>
                </a:r>
                <a:endParaRPr lang="en-US" altLang="ko-KR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242884F-3646-30D0-1F08-0D1910111B8E}"/>
                  </a:ext>
                </a:extLst>
              </p:cNvPr>
              <p:cNvSpPr txBox="1"/>
              <p:nvPr/>
            </p:nvSpPr>
            <p:spPr>
              <a:xfrm>
                <a:off x="6428192" y="5625943"/>
                <a:ext cx="6117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9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백업</a:t>
                </a:r>
                <a:endParaRPr lang="en-US" altLang="ko-KR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9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서비스</a:t>
                </a:r>
                <a:endParaRPr lang="en-US" altLang="ko-KR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F31B0B3-0114-CEC1-7D6B-6A6B2C673FBC}"/>
                  </a:ext>
                </a:extLst>
              </p:cNvPr>
              <p:cNvSpPr txBox="1"/>
              <p:nvPr/>
            </p:nvSpPr>
            <p:spPr>
              <a:xfrm>
                <a:off x="7057901" y="5625943"/>
                <a:ext cx="6117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9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기술지원</a:t>
                </a:r>
                <a:endParaRPr lang="en-US" altLang="ko-KR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9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서비스</a:t>
                </a:r>
                <a:endParaRPr lang="en-US" altLang="ko-KR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</p:grp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023F35C5-33EB-7581-258A-8F587029ACFB}"/>
                </a:ext>
              </a:extLst>
            </p:cNvPr>
            <p:cNvSpPr/>
            <p:nvPr/>
          </p:nvSpPr>
          <p:spPr>
            <a:xfrm>
              <a:off x="5080977" y="4211319"/>
              <a:ext cx="2650783" cy="1441335"/>
            </a:xfrm>
            <a:prstGeom prst="rect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0D9AB09-9E87-AA0C-69FE-E9DDBCE0F0FE}"/>
                </a:ext>
              </a:extLst>
            </p:cNvPr>
            <p:cNvSpPr txBox="1"/>
            <p:nvPr/>
          </p:nvSpPr>
          <p:spPr>
            <a:xfrm rot="16200000">
              <a:off x="3971446" y="4795833"/>
              <a:ext cx="19331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dirty="0" err="1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가입률</a:t>
              </a:r>
              <a:r>
                <a:rPr lang="en-US" altLang="ko-KR" sz="12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(%)</a:t>
              </a: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8CB38A44-6E84-B934-A3CA-4AF33CD9BC3F}"/>
              </a:ext>
            </a:extLst>
          </p:cNvPr>
          <p:cNvGrpSpPr/>
          <p:nvPr/>
        </p:nvGrpSpPr>
        <p:grpSpPr>
          <a:xfrm>
            <a:off x="7864475" y="4220944"/>
            <a:ext cx="3129492" cy="1653922"/>
            <a:chOff x="7864475" y="4211319"/>
            <a:chExt cx="3129492" cy="1653922"/>
          </a:xfrm>
        </p:grpSpPr>
        <p:pic>
          <p:nvPicPr>
            <p:cNvPr id="130" name="그림 129">
              <a:extLst>
                <a:ext uri="{FF2B5EF4-FFF2-40B4-BE49-F238E27FC236}">
                  <a16:creationId xmlns:a16="http://schemas.microsoft.com/office/drawing/2014/main" id="{62C286CE-E5CF-A278-CA3E-29F6A5788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343900" y="4237566"/>
              <a:ext cx="2650067" cy="1409700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B31B02C-F8A7-B99B-9DA4-CB32003C829D}"/>
                </a:ext>
              </a:extLst>
            </p:cNvPr>
            <p:cNvSpPr txBox="1"/>
            <p:nvPr/>
          </p:nvSpPr>
          <p:spPr>
            <a:xfrm>
              <a:off x="8409393" y="5634409"/>
              <a:ext cx="61175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20</a:t>
              </a:r>
              <a:r>
                <a:rPr lang="ko-KR" altLang="en-US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개월</a:t>
              </a:r>
              <a:endParaRPr lang="en-US" altLang="ko-KR" sz="9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16AEEB4-F503-213D-987E-F28620B9F8E1}"/>
                </a:ext>
              </a:extLst>
            </p:cNvPr>
            <p:cNvSpPr txBox="1"/>
            <p:nvPr/>
          </p:nvSpPr>
          <p:spPr>
            <a:xfrm>
              <a:off x="9003471" y="5634409"/>
              <a:ext cx="61175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40</a:t>
              </a:r>
              <a:r>
                <a:rPr lang="ko-KR" altLang="en-US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개월</a:t>
              </a:r>
              <a:endParaRPr lang="en-US" altLang="ko-KR" sz="9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2205F8E-1586-CA62-7E3F-829F22315870}"/>
                </a:ext>
              </a:extLst>
            </p:cNvPr>
            <p:cNvSpPr txBox="1"/>
            <p:nvPr/>
          </p:nvSpPr>
          <p:spPr>
            <a:xfrm>
              <a:off x="9597549" y="5634409"/>
              <a:ext cx="61175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60</a:t>
              </a:r>
              <a:r>
                <a:rPr lang="ko-KR" altLang="en-US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개월</a:t>
              </a:r>
              <a:endParaRPr lang="en-US" altLang="ko-KR" sz="9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2A2859A-6F4D-7016-A5AE-44E351CE5434}"/>
                </a:ext>
              </a:extLst>
            </p:cNvPr>
            <p:cNvSpPr txBox="1"/>
            <p:nvPr/>
          </p:nvSpPr>
          <p:spPr>
            <a:xfrm>
              <a:off x="10191627" y="5634409"/>
              <a:ext cx="61175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80</a:t>
              </a:r>
              <a:r>
                <a:rPr lang="ko-KR" altLang="en-US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개월</a:t>
              </a:r>
              <a:endParaRPr lang="en-US" altLang="ko-KR" sz="9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DF8BACE-2D8A-0FB1-DDE3-B8BAECC66D11}"/>
                </a:ext>
              </a:extLst>
            </p:cNvPr>
            <p:cNvSpPr txBox="1"/>
            <p:nvPr/>
          </p:nvSpPr>
          <p:spPr>
            <a:xfrm>
              <a:off x="7864475" y="5507409"/>
              <a:ext cx="50579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0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CC65CB8-EE79-8F8F-CECA-607641C8DA68}"/>
                </a:ext>
              </a:extLst>
            </p:cNvPr>
            <p:cNvSpPr txBox="1"/>
            <p:nvPr/>
          </p:nvSpPr>
          <p:spPr>
            <a:xfrm>
              <a:off x="7864475" y="4360176"/>
              <a:ext cx="50579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600</a:t>
              </a:r>
              <a:r>
                <a:rPr lang="ko-KR" altLang="en-US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명</a:t>
              </a:r>
              <a:endParaRPr lang="en-US" altLang="ko-KR" sz="9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E9E4600-342D-5E61-2BC9-B12527824CEE}"/>
                </a:ext>
              </a:extLst>
            </p:cNvPr>
            <p:cNvSpPr/>
            <p:nvPr/>
          </p:nvSpPr>
          <p:spPr>
            <a:xfrm>
              <a:off x="8332177" y="4211319"/>
              <a:ext cx="2650783" cy="1441335"/>
            </a:xfrm>
            <a:prstGeom prst="rect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31DB57F-6AB1-711D-9C33-F7A60B070415}"/>
                </a:ext>
              </a:extLst>
            </p:cNvPr>
            <p:cNvSpPr txBox="1"/>
            <p:nvPr/>
          </p:nvSpPr>
          <p:spPr>
            <a:xfrm>
              <a:off x="7864475" y="4742587"/>
              <a:ext cx="50579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400</a:t>
              </a:r>
              <a:r>
                <a:rPr lang="ko-KR" altLang="en-US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명</a:t>
              </a:r>
              <a:endParaRPr lang="en-US" altLang="ko-KR" sz="9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8CBD25C-616B-9FAA-027E-FE644E34E75B}"/>
                </a:ext>
              </a:extLst>
            </p:cNvPr>
            <p:cNvSpPr txBox="1"/>
            <p:nvPr/>
          </p:nvSpPr>
          <p:spPr>
            <a:xfrm>
              <a:off x="7864475" y="5124998"/>
              <a:ext cx="50579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200</a:t>
              </a:r>
              <a:r>
                <a:rPr lang="ko-KR" altLang="en-US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명</a:t>
              </a:r>
              <a:endParaRPr lang="en-US" altLang="ko-KR" sz="9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pic>
        <p:nvPicPr>
          <p:cNvPr id="62" name="그래픽 61" descr="갈매기형 화살표 단색으로 채워진">
            <a:extLst>
              <a:ext uri="{FF2B5EF4-FFF2-40B4-BE49-F238E27FC236}">
                <a16:creationId xmlns:a16="http://schemas.microsoft.com/office/drawing/2014/main" id="{3C4153B2-2BFC-994E-4BD8-2B86B073FA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6670" y="2952550"/>
            <a:ext cx="656924" cy="656924"/>
          </a:xfrm>
          <a:prstGeom prst="rect">
            <a:avLst/>
          </a:prstGeom>
        </p:spPr>
      </p:pic>
      <p:pic>
        <p:nvPicPr>
          <p:cNvPr id="63" name="그래픽 62" descr="갈매기형 화살표 단색으로 채워진">
            <a:extLst>
              <a:ext uri="{FF2B5EF4-FFF2-40B4-BE49-F238E27FC236}">
                <a16:creationId xmlns:a16="http://schemas.microsoft.com/office/drawing/2014/main" id="{C2905A48-7FEF-6715-ADD2-DD7E22D8F2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6670" y="6051885"/>
            <a:ext cx="656924" cy="65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498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9898CC-FE3A-8084-3211-00E63DCF1F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분석결과 </a:t>
            </a:r>
            <a:r>
              <a:rPr lang="en-US" altLang="ko-KR" sz="2000" dirty="0"/>
              <a:t>_ARPU </a:t>
            </a:r>
            <a:r>
              <a:rPr lang="ko-KR" altLang="en-US" sz="2000" dirty="0"/>
              <a:t>분석을 통한 수익성 향상</a:t>
            </a:r>
            <a:endParaRPr lang="ko-KR" altLang="en-US" dirty="0"/>
          </a:p>
        </p:txBody>
      </p:sp>
      <p:sp>
        <p:nvSpPr>
          <p:cNvPr id="82" name="슬라이드 번호 개체 틀 81">
            <a:extLst>
              <a:ext uri="{FF2B5EF4-FFF2-40B4-BE49-F238E27FC236}">
                <a16:creationId xmlns:a16="http://schemas.microsoft.com/office/drawing/2014/main" id="{2EDA8B0C-7DE6-2E30-9DA4-F9ADD018A0D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24E44EA-8BB9-4356-A6E2-F3B626433E95}" type="slidenum">
              <a:rPr lang="ko-KR" altLang="en-US" smtClean="0"/>
              <a:pPr/>
              <a:t>9</a:t>
            </a:fld>
            <a:endParaRPr lang="ko-KR" altLang="en-US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F754568-B584-D5E8-1E08-EA485A20D5C4}"/>
              </a:ext>
            </a:extLst>
          </p:cNvPr>
          <p:cNvGrpSpPr/>
          <p:nvPr/>
        </p:nvGrpSpPr>
        <p:grpSpPr>
          <a:xfrm>
            <a:off x="1354785" y="930095"/>
            <a:ext cx="3728707" cy="338554"/>
            <a:chOff x="1354785" y="930095"/>
            <a:chExt cx="3728707" cy="338554"/>
          </a:xfrm>
        </p:grpSpPr>
        <p:cxnSp>
          <p:nvCxnSpPr>
            <p:cNvPr id="104" name="직선 연결선 103">
              <a:extLst>
                <a:ext uri="{FF2B5EF4-FFF2-40B4-BE49-F238E27FC236}">
                  <a16:creationId xmlns:a16="http://schemas.microsoft.com/office/drawing/2014/main" id="{A344B269-63D8-D4B6-D5B7-255DD2DF01B6}"/>
                </a:ext>
              </a:extLst>
            </p:cNvPr>
            <p:cNvCxnSpPr>
              <a:cxnSpLocks/>
            </p:cNvCxnSpPr>
            <p:nvPr/>
          </p:nvCxnSpPr>
          <p:spPr>
            <a:xfrm>
              <a:off x="1354785" y="1099372"/>
              <a:ext cx="3728707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F3E2715-37A0-92D5-4455-97C625798495}"/>
                </a:ext>
              </a:extLst>
            </p:cNvPr>
            <p:cNvSpPr txBox="1"/>
            <p:nvPr/>
          </p:nvSpPr>
          <p:spPr>
            <a:xfrm>
              <a:off x="1906625" y="930095"/>
              <a:ext cx="2625028" cy="338554"/>
            </a:xfrm>
            <a:prstGeom prst="rect">
              <a:avLst/>
            </a:prstGeom>
            <a:solidFill>
              <a:srgbClr val="D9E6F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6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이탈 전 평균 </a:t>
              </a:r>
              <a:r>
                <a:rPr lang="en-US" altLang="ko-KR" sz="16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ARPU </a:t>
              </a:r>
              <a:r>
                <a:rPr lang="ko-KR" altLang="en-US" sz="16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추이</a:t>
              </a:r>
              <a:endParaRPr lang="en-US" altLang="ko-KR" sz="16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9960A57-72C1-C553-582C-E6BF381242F4}"/>
              </a:ext>
            </a:extLst>
          </p:cNvPr>
          <p:cNvGrpSpPr/>
          <p:nvPr/>
        </p:nvGrpSpPr>
        <p:grpSpPr>
          <a:xfrm>
            <a:off x="552134" y="4543320"/>
            <a:ext cx="5334009" cy="829545"/>
            <a:chOff x="729757" y="4763010"/>
            <a:chExt cx="3312000" cy="829545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F20FD397-C4C5-A30C-0353-159A1707F047}"/>
                </a:ext>
              </a:extLst>
            </p:cNvPr>
            <p:cNvSpPr/>
            <p:nvPr/>
          </p:nvSpPr>
          <p:spPr>
            <a:xfrm>
              <a:off x="729757" y="4763010"/>
              <a:ext cx="3312000" cy="829545"/>
            </a:xfrm>
            <a:prstGeom prst="roundRect">
              <a:avLst>
                <a:gd name="adj" fmla="val 3187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40AE31A-B85B-93FE-B01F-F196CD10E93B}"/>
                </a:ext>
              </a:extLst>
            </p:cNvPr>
            <p:cNvSpPr txBox="1"/>
            <p:nvPr/>
          </p:nvSpPr>
          <p:spPr>
            <a:xfrm>
              <a:off x="765757" y="4844678"/>
              <a:ext cx="3240000" cy="666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  <a:defRPr/>
              </a:pPr>
              <a:r>
                <a:rPr lang="ko-KR" altLang="en-US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이탈자들의 </a:t>
              </a:r>
              <a:r>
                <a:rPr lang="en-US" altLang="ko-KR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ARPU</a:t>
              </a:r>
              <a:r>
                <a:rPr lang="ko-KR" altLang="en-US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를 분석한 결과 수개월 전부터 </a:t>
              </a:r>
              <a:r>
                <a:rPr lang="en-US" altLang="ko-KR" sz="1600" kern="1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ARPU</a:t>
              </a:r>
              <a:r>
                <a:rPr lang="ko-KR" altLang="en-US" sz="1600" kern="1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가 감소</a:t>
              </a:r>
              <a:r>
                <a:rPr lang="ko-KR" altLang="en-US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하는 추세를 보임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DF18DB47-414B-0D99-7FD7-DF973BF2C7A7}"/>
              </a:ext>
            </a:extLst>
          </p:cNvPr>
          <p:cNvGrpSpPr/>
          <p:nvPr/>
        </p:nvGrpSpPr>
        <p:grpSpPr>
          <a:xfrm>
            <a:off x="552134" y="5573466"/>
            <a:ext cx="5334009" cy="829545"/>
            <a:chOff x="729757" y="4763010"/>
            <a:chExt cx="3312000" cy="829545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F803E09B-FBBF-4F32-B752-18F7A56B3DE2}"/>
                </a:ext>
              </a:extLst>
            </p:cNvPr>
            <p:cNvSpPr/>
            <p:nvPr/>
          </p:nvSpPr>
          <p:spPr>
            <a:xfrm>
              <a:off x="729757" y="4763010"/>
              <a:ext cx="3312000" cy="829545"/>
            </a:xfrm>
            <a:prstGeom prst="roundRect">
              <a:avLst>
                <a:gd name="adj" fmla="val 31875"/>
              </a:avLst>
            </a:prstGeom>
            <a:solidFill>
              <a:schemeClr val="bg2">
                <a:lumMod val="75000"/>
                <a:alpha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5F6DEC3-8EC7-C3A3-CEF3-6D9BA60532AA}"/>
                </a:ext>
              </a:extLst>
            </p:cNvPr>
            <p:cNvSpPr txBox="1"/>
            <p:nvPr/>
          </p:nvSpPr>
          <p:spPr>
            <a:xfrm>
              <a:off x="765757" y="4844678"/>
              <a:ext cx="3240000" cy="666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just">
                <a:lnSpc>
                  <a:spcPct val="120000"/>
                </a:lnSpc>
                <a:defRPr/>
              </a:pPr>
              <a:r>
                <a:rPr lang="en-US" altLang="ko-KR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ARPU</a:t>
              </a:r>
              <a:r>
                <a:rPr lang="ko-KR" altLang="en-US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가 낮아진 고객에게는 같은 요금제지만 고객의 요구사항을 충족시키는 </a:t>
              </a:r>
              <a:r>
                <a:rPr lang="en-US" altLang="ko-KR" sz="1600" kern="1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'</a:t>
              </a:r>
              <a:r>
                <a:rPr lang="ko-KR" altLang="en-US" sz="1600" kern="1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최적 요금제</a:t>
              </a:r>
              <a:r>
                <a:rPr lang="en-US" altLang="ko-KR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'</a:t>
              </a:r>
              <a:r>
                <a:rPr lang="ko-KR" altLang="en-US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를 추전하여 완전한 이탈 방지</a:t>
              </a:r>
              <a:endParaRPr lang="en-US" altLang="ko-KR" sz="1600" kern="1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9B309FD-C00A-4ED5-507F-BD8C3093A2A1}"/>
              </a:ext>
            </a:extLst>
          </p:cNvPr>
          <p:cNvGrpSpPr/>
          <p:nvPr/>
        </p:nvGrpSpPr>
        <p:grpSpPr>
          <a:xfrm>
            <a:off x="782140" y="-988111"/>
            <a:ext cx="662228" cy="608170"/>
            <a:chOff x="3991007" y="-767978"/>
            <a:chExt cx="662228" cy="608170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A1FF467-8CA8-6BDD-4851-03A12246E371}"/>
                </a:ext>
              </a:extLst>
            </p:cNvPr>
            <p:cNvSpPr txBox="1"/>
            <p:nvPr/>
          </p:nvSpPr>
          <p:spPr>
            <a:xfrm>
              <a:off x="4248952" y="-587004"/>
              <a:ext cx="40428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주의</a:t>
              </a:r>
              <a:endParaRPr lang="en-US" altLang="ko-KR" sz="10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E81A667-D95C-9C92-288C-AC629FB6D899}"/>
                </a:ext>
              </a:extLst>
            </p:cNvPr>
            <p:cNvSpPr txBox="1"/>
            <p:nvPr/>
          </p:nvSpPr>
          <p:spPr>
            <a:xfrm>
              <a:off x="3991007" y="-505085"/>
              <a:ext cx="280939" cy="92881"/>
            </a:xfrm>
            <a:prstGeom prst="rect">
              <a:avLst/>
            </a:prstGeom>
            <a:solidFill>
              <a:srgbClr val="EF9F27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altLang="ko-KR" sz="8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E219749-A6D7-EBEA-1E87-83AE9292CF74}"/>
                </a:ext>
              </a:extLst>
            </p:cNvPr>
            <p:cNvSpPr txBox="1"/>
            <p:nvPr/>
          </p:nvSpPr>
          <p:spPr>
            <a:xfrm>
              <a:off x="3991007" y="-324110"/>
              <a:ext cx="280939" cy="92881"/>
            </a:xfrm>
            <a:prstGeom prst="rect">
              <a:avLst/>
            </a:prstGeom>
            <a:solidFill>
              <a:srgbClr val="E24B4A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altLang="ko-KR" sz="8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30EC6DC-BD88-B878-07EF-5FBD15688BDE}"/>
                </a:ext>
              </a:extLst>
            </p:cNvPr>
            <p:cNvSpPr txBox="1"/>
            <p:nvPr/>
          </p:nvSpPr>
          <p:spPr>
            <a:xfrm>
              <a:off x="4248952" y="-406029"/>
              <a:ext cx="40428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위험</a:t>
              </a:r>
              <a:endParaRPr lang="en-US" altLang="ko-KR" sz="10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36C643F-789A-0602-AB28-1A36DAEEDBB2}"/>
                </a:ext>
              </a:extLst>
            </p:cNvPr>
            <p:cNvSpPr txBox="1"/>
            <p:nvPr/>
          </p:nvSpPr>
          <p:spPr>
            <a:xfrm>
              <a:off x="4248952" y="-767978"/>
              <a:ext cx="40428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안정</a:t>
              </a:r>
              <a:endParaRPr lang="en-US" altLang="ko-KR" sz="10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6689FD5-B350-EB23-35CB-F0909B384E7F}"/>
                </a:ext>
              </a:extLst>
            </p:cNvPr>
            <p:cNvSpPr txBox="1"/>
            <p:nvPr/>
          </p:nvSpPr>
          <p:spPr>
            <a:xfrm>
              <a:off x="3991007" y="-686059"/>
              <a:ext cx="280939" cy="92881"/>
            </a:xfrm>
            <a:prstGeom prst="rect">
              <a:avLst/>
            </a:prstGeom>
            <a:solidFill>
              <a:srgbClr val="85B7EB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altLang="ko-KR" sz="8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C68F0EFB-81D5-01EA-D3E4-2F3B6E6C3F1D}"/>
              </a:ext>
            </a:extLst>
          </p:cNvPr>
          <p:cNvGrpSpPr/>
          <p:nvPr/>
        </p:nvGrpSpPr>
        <p:grpSpPr>
          <a:xfrm>
            <a:off x="1064871" y="1525960"/>
            <a:ext cx="3919609" cy="2989621"/>
            <a:chOff x="1099336" y="1525960"/>
            <a:chExt cx="3699949" cy="2822079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891DCBAB-9327-3933-4165-059CF855436D}"/>
                </a:ext>
              </a:extLst>
            </p:cNvPr>
            <p:cNvGrpSpPr/>
            <p:nvPr/>
          </p:nvGrpSpPr>
          <p:grpSpPr>
            <a:xfrm>
              <a:off x="1099336" y="1604017"/>
              <a:ext cx="3699949" cy="2476962"/>
              <a:chOff x="743330" y="1413421"/>
              <a:chExt cx="2636804" cy="2526989"/>
            </a:xfrm>
          </p:grpSpPr>
          <p:pic>
            <p:nvPicPr>
              <p:cNvPr id="41" name="그림 40">
                <a:extLst>
                  <a:ext uri="{FF2B5EF4-FFF2-40B4-BE49-F238E27FC236}">
                    <a16:creationId xmlns:a16="http://schemas.microsoft.com/office/drawing/2014/main" id="{BCB0D915-7E77-AD1A-6F43-6BED4A239B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1185321" y="1413421"/>
                <a:ext cx="2194813" cy="2526989"/>
              </a:xfrm>
              <a:prstGeom prst="rect">
                <a:avLst/>
              </a:prstGeom>
            </p:spPr>
          </p:pic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9209172-A764-C2A7-34DB-B93D701D0C96}"/>
                  </a:ext>
                </a:extLst>
              </p:cNvPr>
              <p:cNvSpPr txBox="1"/>
              <p:nvPr/>
            </p:nvSpPr>
            <p:spPr>
              <a:xfrm rot="16200000">
                <a:off x="-144079" y="2473412"/>
                <a:ext cx="1972223" cy="1974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2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평균 </a:t>
                </a:r>
                <a:r>
                  <a:rPr lang="en-US" altLang="ko-KR" sz="12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ARPU (</a:t>
                </a:r>
                <a:r>
                  <a:rPr lang="ko-KR" altLang="en-US" sz="12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원</a:t>
                </a:r>
                <a:r>
                  <a:rPr lang="en-US" altLang="ko-KR" sz="12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)</a:t>
                </a: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3791D40-2575-418C-081E-F2952DF5B6F9}"/>
                </a:ext>
              </a:extLst>
            </p:cNvPr>
            <p:cNvSpPr txBox="1"/>
            <p:nvPr/>
          </p:nvSpPr>
          <p:spPr>
            <a:xfrm>
              <a:off x="4114949" y="3847520"/>
              <a:ext cx="574992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1~2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14C20F1-9F0A-A63D-3A4B-1608E1F20955}"/>
                </a:ext>
              </a:extLst>
            </p:cNvPr>
            <p:cNvSpPr txBox="1"/>
            <p:nvPr/>
          </p:nvSpPr>
          <p:spPr>
            <a:xfrm>
              <a:off x="3643587" y="3847520"/>
              <a:ext cx="574992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3~4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B4D4529-0D93-6A85-AFD3-78EC22C3F88F}"/>
                </a:ext>
              </a:extLst>
            </p:cNvPr>
            <p:cNvSpPr txBox="1"/>
            <p:nvPr/>
          </p:nvSpPr>
          <p:spPr>
            <a:xfrm>
              <a:off x="3172226" y="3847520"/>
              <a:ext cx="574992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5~6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96FB1AA-0055-A598-072C-69DB627BB8B6}"/>
                </a:ext>
              </a:extLst>
            </p:cNvPr>
            <p:cNvSpPr txBox="1"/>
            <p:nvPr/>
          </p:nvSpPr>
          <p:spPr>
            <a:xfrm>
              <a:off x="2700865" y="3847520"/>
              <a:ext cx="574992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7~8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25299ED-E1F2-7590-BD11-B35129257C1B}"/>
                </a:ext>
              </a:extLst>
            </p:cNvPr>
            <p:cNvSpPr txBox="1"/>
            <p:nvPr/>
          </p:nvSpPr>
          <p:spPr>
            <a:xfrm>
              <a:off x="2229504" y="3847520"/>
              <a:ext cx="574992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9~10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F49C89C-44F1-D9BF-6FEB-FFDD9B72A4A6}"/>
                </a:ext>
              </a:extLst>
            </p:cNvPr>
            <p:cNvSpPr txBox="1"/>
            <p:nvPr/>
          </p:nvSpPr>
          <p:spPr>
            <a:xfrm>
              <a:off x="1758143" y="3847520"/>
              <a:ext cx="574992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11~12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1A0903E-1DDB-A954-42CD-663D0F50F03E}"/>
                </a:ext>
              </a:extLst>
            </p:cNvPr>
            <p:cNvSpPr txBox="1"/>
            <p:nvPr/>
          </p:nvSpPr>
          <p:spPr>
            <a:xfrm>
              <a:off x="1249635" y="3583360"/>
              <a:ext cx="45961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86K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AC2F944-CDCB-FDD0-28D2-2D3CB5FA1DEC}"/>
                </a:ext>
              </a:extLst>
            </p:cNvPr>
            <p:cNvSpPr txBox="1"/>
            <p:nvPr/>
          </p:nvSpPr>
          <p:spPr>
            <a:xfrm>
              <a:off x="1249635" y="1525960"/>
              <a:ext cx="45961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102K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43884F7-A9BE-B7B6-4686-D3A6841882A3}"/>
                </a:ext>
              </a:extLst>
            </p:cNvPr>
            <p:cNvSpPr txBox="1"/>
            <p:nvPr/>
          </p:nvSpPr>
          <p:spPr>
            <a:xfrm>
              <a:off x="1249635" y="2040310"/>
              <a:ext cx="45961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98K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14AAC6E-B812-90B7-2278-2997FC18A63E}"/>
                </a:ext>
              </a:extLst>
            </p:cNvPr>
            <p:cNvSpPr txBox="1"/>
            <p:nvPr/>
          </p:nvSpPr>
          <p:spPr>
            <a:xfrm>
              <a:off x="1249635" y="2554660"/>
              <a:ext cx="45961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94K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B0537F7-C348-B0CD-85EF-F7FE49EDF1ED}"/>
                </a:ext>
              </a:extLst>
            </p:cNvPr>
            <p:cNvSpPr txBox="1"/>
            <p:nvPr/>
          </p:nvSpPr>
          <p:spPr>
            <a:xfrm>
              <a:off x="1249635" y="3069010"/>
              <a:ext cx="45961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90K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9B504FC-6E1D-B767-7B7F-020399CF6DFB}"/>
                </a:ext>
              </a:extLst>
            </p:cNvPr>
            <p:cNvSpPr txBox="1"/>
            <p:nvPr/>
          </p:nvSpPr>
          <p:spPr>
            <a:xfrm>
              <a:off x="1249635" y="1783135"/>
              <a:ext cx="45961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100K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64E06AB-A007-CD1D-73D1-930AC2B23252}"/>
                </a:ext>
              </a:extLst>
            </p:cNvPr>
            <p:cNvSpPr txBox="1"/>
            <p:nvPr/>
          </p:nvSpPr>
          <p:spPr>
            <a:xfrm>
              <a:off x="1249635" y="2297485"/>
              <a:ext cx="45961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96K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85F01F3-DC8E-CD9D-FA4B-8B22CB8CB091}"/>
                </a:ext>
              </a:extLst>
            </p:cNvPr>
            <p:cNvSpPr txBox="1"/>
            <p:nvPr/>
          </p:nvSpPr>
          <p:spPr>
            <a:xfrm>
              <a:off x="1249635" y="2811835"/>
              <a:ext cx="45961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92K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D7030FC-7D28-B034-47B9-140C80B8FCDE}"/>
                </a:ext>
              </a:extLst>
            </p:cNvPr>
            <p:cNvSpPr txBox="1"/>
            <p:nvPr/>
          </p:nvSpPr>
          <p:spPr>
            <a:xfrm>
              <a:off x="1249635" y="3326185"/>
              <a:ext cx="45961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88K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EF142BF-08D0-72BF-9447-17FA59BB50AF}"/>
                </a:ext>
              </a:extLst>
            </p:cNvPr>
            <p:cNvSpPr txBox="1"/>
            <p:nvPr/>
          </p:nvSpPr>
          <p:spPr>
            <a:xfrm>
              <a:off x="3026048" y="1662382"/>
              <a:ext cx="1633537" cy="50089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altLang="ko-KR" sz="8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346C0B8-DA17-742B-592D-6C9DBA195E72}"/>
                </a:ext>
              </a:extLst>
            </p:cNvPr>
            <p:cNvSpPr txBox="1"/>
            <p:nvPr/>
          </p:nvSpPr>
          <p:spPr>
            <a:xfrm>
              <a:off x="2597919" y="4071040"/>
              <a:ext cx="103804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이탈 전 </a:t>
              </a:r>
              <a:r>
                <a:rPr lang="en-US" altLang="ko-KR" sz="12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(</a:t>
              </a:r>
              <a:r>
                <a:rPr lang="ko-KR" altLang="en-US" sz="12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개월</a:t>
              </a:r>
              <a:r>
                <a:rPr lang="en-US" altLang="ko-KR" sz="12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)</a:t>
              </a:r>
            </a:p>
          </p:txBody>
        </p:sp>
      </p:grpSp>
      <p:sp>
        <p:nvSpPr>
          <p:cNvPr id="81" name="자유형: 도형 80">
            <a:extLst>
              <a:ext uri="{FF2B5EF4-FFF2-40B4-BE49-F238E27FC236}">
                <a16:creationId xmlns:a16="http://schemas.microsoft.com/office/drawing/2014/main" id="{01240EDC-6764-BC27-6AD4-DEFED78A2956}"/>
              </a:ext>
            </a:extLst>
          </p:cNvPr>
          <p:cNvSpPr/>
          <p:nvPr/>
        </p:nvSpPr>
        <p:spPr>
          <a:xfrm rot="7444524">
            <a:off x="3526633" y="2212860"/>
            <a:ext cx="861060" cy="1229532"/>
          </a:xfrm>
          <a:custGeom>
            <a:avLst/>
            <a:gdLst>
              <a:gd name="csX0" fmla="*/ 477085 w 954169"/>
              <a:gd name="csY0" fmla="*/ 0 h 704850"/>
              <a:gd name="csX1" fmla="*/ 954169 w 954169"/>
              <a:gd name="csY1" fmla="*/ 298450 h 704850"/>
              <a:gd name="csX2" fmla="*/ 674047 w 954169"/>
              <a:gd name="csY2" fmla="*/ 298450 h 704850"/>
              <a:gd name="csX3" fmla="*/ 954169 w 954169"/>
              <a:gd name="csY3" fmla="*/ 704850 h 704850"/>
              <a:gd name="csX4" fmla="*/ 0 w 954169"/>
              <a:gd name="csY4" fmla="*/ 704850 h 704850"/>
              <a:gd name="csX5" fmla="*/ 280124 w 954169"/>
              <a:gd name="csY5" fmla="*/ 298450 h 704850"/>
              <a:gd name="csX6" fmla="*/ 0 w 954169"/>
              <a:gd name="csY6" fmla="*/ 298450 h 704850"/>
              <a:gd name="csX0" fmla="*/ 497302 w 974386"/>
              <a:gd name="csY0" fmla="*/ 0 h 704850"/>
              <a:gd name="csX1" fmla="*/ 974386 w 974386"/>
              <a:gd name="csY1" fmla="*/ 298450 h 704850"/>
              <a:gd name="csX2" fmla="*/ 694264 w 974386"/>
              <a:gd name="csY2" fmla="*/ 298450 h 704850"/>
              <a:gd name="csX3" fmla="*/ 974386 w 974386"/>
              <a:gd name="csY3" fmla="*/ 704850 h 704850"/>
              <a:gd name="csX4" fmla="*/ 20217 w 974386"/>
              <a:gd name="csY4" fmla="*/ 704850 h 704850"/>
              <a:gd name="csX5" fmla="*/ 300341 w 974386"/>
              <a:gd name="csY5" fmla="*/ 298450 h 704850"/>
              <a:gd name="csX6" fmla="*/ 20217 w 974386"/>
              <a:gd name="csY6" fmla="*/ 298450 h 704850"/>
              <a:gd name="csX7" fmla="*/ 497302 w 974386"/>
              <a:gd name="csY7" fmla="*/ 0 h 704850"/>
              <a:gd name="csX0" fmla="*/ 477085 w 954169"/>
              <a:gd name="csY0" fmla="*/ 0 h 704850"/>
              <a:gd name="csX1" fmla="*/ 954169 w 954169"/>
              <a:gd name="csY1" fmla="*/ 298450 h 704850"/>
              <a:gd name="csX2" fmla="*/ 674047 w 954169"/>
              <a:gd name="csY2" fmla="*/ 298450 h 704850"/>
              <a:gd name="csX3" fmla="*/ 954169 w 954169"/>
              <a:gd name="csY3" fmla="*/ 704850 h 704850"/>
              <a:gd name="csX4" fmla="*/ 0 w 954169"/>
              <a:gd name="csY4" fmla="*/ 704850 h 704850"/>
              <a:gd name="csX5" fmla="*/ 280124 w 954169"/>
              <a:gd name="csY5" fmla="*/ 298450 h 704850"/>
              <a:gd name="csX6" fmla="*/ 0 w 954169"/>
              <a:gd name="csY6" fmla="*/ 298450 h 704850"/>
              <a:gd name="csX7" fmla="*/ 477085 w 954169"/>
              <a:gd name="csY7" fmla="*/ 0 h 704850"/>
              <a:gd name="csX0" fmla="*/ 477085 w 974386"/>
              <a:gd name="csY0" fmla="*/ 0 h 704850"/>
              <a:gd name="csX1" fmla="*/ 954169 w 974386"/>
              <a:gd name="csY1" fmla="*/ 298450 h 704850"/>
              <a:gd name="csX2" fmla="*/ 674047 w 974386"/>
              <a:gd name="csY2" fmla="*/ 298450 h 704850"/>
              <a:gd name="csX3" fmla="*/ 954169 w 974386"/>
              <a:gd name="csY3" fmla="*/ 704850 h 704850"/>
              <a:gd name="csX4" fmla="*/ 0 w 974386"/>
              <a:gd name="csY4" fmla="*/ 704850 h 704850"/>
              <a:gd name="csX5" fmla="*/ 280124 w 974386"/>
              <a:gd name="csY5" fmla="*/ 298450 h 704850"/>
              <a:gd name="csX6" fmla="*/ 0 w 974386"/>
              <a:gd name="csY6" fmla="*/ 298450 h 704850"/>
              <a:gd name="csX7" fmla="*/ 477085 w 974386"/>
              <a:gd name="csY7" fmla="*/ 0 h 704850"/>
              <a:gd name="csX0" fmla="*/ 477085 w 954169"/>
              <a:gd name="csY0" fmla="*/ 0 h 704850"/>
              <a:gd name="csX1" fmla="*/ 954169 w 954169"/>
              <a:gd name="csY1" fmla="*/ 298450 h 704850"/>
              <a:gd name="csX2" fmla="*/ 674047 w 954169"/>
              <a:gd name="csY2" fmla="*/ 298450 h 704850"/>
              <a:gd name="csX3" fmla="*/ 954169 w 954169"/>
              <a:gd name="csY3" fmla="*/ 704850 h 704850"/>
              <a:gd name="csX4" fmla="*/ 0 w 954169"/>
              <a:gd name="csY4" fmla="*/ 704850 h 704850"/>
              <a:gd name="csX5" fmla="*/ 280124 w 954169"/>
              <a:gd name="csY5" fmla="*/ 298450 h 704850"/>
              <a:gd name="csX6" fmla="*/ 0 w 954169"/>
              <a:gd name="csY6" fmla="*/ 298450 h 704850"/>
              <a:gd name="csX7" fmla="*/ 477085 w 954169"/>
              <a:gd name="csY7" fmla="*/ 0 h 704850"/>
              <a:gd name="csX0" fmla="*/ 477085 w 954169"/>
              <a:gd name="csY0" fmla="*/ 0 h 704850"/>
              <a:gd name="csX1" fmla="*/ 882329 w 954169"/>
              <a:gd name="csY1" fmla="*/ 296764 h 704850"/>
              <a:gd name="csX2" fmla="*/ 674047 w 954169"/>
              <a:gd name="csY2" fmla="*/ 298450 h 704850"/>
              <a:gd name="csX3" fmla="*/ 954169 w 954169"/>
              <a:gd name="csY3" fmla="*/ 704850 h 704850"/>
              <a:gd name="csX4" fmla="*/ 0 w 954169"/>
              <a:gd name="csY4" fmla="*/ 704850 h 704850"/>
              <a:gd name="csX5" fmla="*/ 280124 w 954169"/>
              <a:gd name="csY5" fmla="*/ 298450 h 704850"/>
              <a:gd name="csX6" fmla="*/ 0 w 954169"/>
              <a:gd name="csY6" fmla="*/ 298450 h 704850"/>
              <a:gd name="csX7" fmla="*/ 477085 w 954169"/>
              <a:gd name="csY7" fmla="*/ 0 h 704850"/>
              <a:gd name="csX0" fmla="*/ 477085 w 954169"/>
              <a:gd name="csY0" fmla="*/ 0 h 704850"/>
              <a:gd name="csX1" fmla="*/ 882329 w 954169"/>
              <a:gd name="csY1" fmla="*/ 296764 h 704850"/>
              <a:gd name="csX2" fmla="*/ 674047 w 954169"/>
              <a:gd name="csY2" fmla="*/ 298450 h 704850"/>
              <a:gd name="csX3" fmla="*/ 954169 w 954169"/>
              <a:gd name="csY3" fmla="*/ 704850 h 704850"/>
              <a:gd name="csX4" fmla="*/ 0 w 954169"/>
              <a:gd name="csY4" fmla="*/ 704850 h 704850"/>
              <a:gd name="csX5" fmla="*/ 280124 w 954169"/>
              <a:gd name="csY5" fmla="*/ 298450 h 704850"/>
              <a:gd name="csX6" fmla="*/ 79698 w 954169"/>
              <a:gd name="csY6" fmla="*/ 299329 h 704850"/>
              <a:gd name="csX7" fmla="*/ 477085 w 954169"/>
              <a:gd name="csY7" fmla="*/ 0 h 7048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54169" h="704850">
                <a:moveTo>
                  <a:pt x="477085" y="0"/>
                </a:moveTo>
                <a:lnTo>
                  <a:pt x="882329" y="296764"/>
                </a:lnTo>
                <a:lnTo>
                  <a:pt x="674047" y="298450"/>
                </a:lnTo>
                <a:cubicBezTo>
                  <a:pt x="674047" y="366183"/>
                  <a:pt x="740543" y="632884"/>
                  <a:pt x="954169" y="704850"/>
                </a:cubicBezTo>
                <a:lnTo>
                  <a:pt x="0" y="704850"/>
                </a:lnTo>
                <a:cubicBezTo>
                  <a:pt x="177643" y="632884"/>
                  <a:pt x="280124" y="366183"/>
                  <a:pt x="280124" y="298450"/>
                </a:cubicBezTo>
                <a:lnTo>
                  <a:pt x="79698" y="299329"/>
                </a:lnTo>
                <a:lnTo>
                  <a:pt x="477085" y="0"/>
                </a:lnTo>
                <a:close/>
              </a:path>
            </a:pathLst>
          </a:custGeom>
          <a:gradFill flip="none" rotWithShape="1">
            <a:gsLst>
              <a:gs pos="0">
                <a:srgbClr val="D52728">
                  <a:alpha val="0"/>
                </a:srgbClr>
              </a:gs>
              <a:gs pos="100000">
                <a:srgbClr val="D52728">
                  <a:alpha val="38000"/>
                  <a:lumMod val="93000"/>
                  <a:lumOff val="7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0C4FFF18-8661-BCE0-D2CA-52BF37310F9A}"/>
              </a:ext>
            </a:extLst>
          </p:cNvPr>
          <p:cNvSpPr/>
          <p:nvPr/>
        </p:nvSpPr>
        <p:spPr>
          <a:xfrm>
            <a:off x="442250" y="798896"/>
            <a:ext cx="5553776" cy="5890661"/>
          </a:xfrm>
          <a:prstGeom prst="roundRect">
            <a:avLst>
              <a:gd name="adj" fmla="val 3453"/>
            </a:avLst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17" dirty="0">
              <a:solidFill>
                <a:srgbClr val="B96B6B"/>
              </a:solidFill>
            </a:endParaRPr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5649269B-1BD3-B89C-E5BD-5CC850ECFEB8}"/>
              </a:ext>
            </a:extLst>
          </p:cNvPr>
          <p:cNvGrpSpPr/>
          <p:nvPr/>
        </p:nvGrpSpPr>
        <p:grpSpPr>
          <a:xfrm>
            <a:off x="6972562" y="1525960"/>
            <a:ext cx="3819612" cy="2651744"/>
            <a:chOff x="6452315" y="1553432"/>
            <a:chExt cx="3605556" cy="2503137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3A1B524F-63C8-52A7-C896-1EF156A3C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955367" y="1630680"/>
              <a:ext cx="3102504" cy="220472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7F8A948-3380-741F-9289-3E7FAB6A5F5B}"/>
                </a:ext>
              </a:extLst>
            </p:cNvPr>
            <p:cNvSpPr txBox="1"/>
            <p:nvPr/>
          </p:nvSpPr>
          <p:spPr>
            <a:xfrm rot="16200000">
              <a:off x="5604703" y="2592454"/>
              <a:ext cx="19722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평균 </a:t>
              </a:r>
              <a:r>
                <a:rPr lang="en-US" altLang="ko-KR" sz="12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ARPU (</a:t>
              </a:r>
              <a:r>
                <a:rPr lang="ko-KR" altLang="en-US" sz="12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원</a:t>
              </a:r>
              <a:r>
                <a:rPr lang="en-US" altLang="ko-KR" sz="12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)</a:t>
              </a: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AB07EF34-C64A-8B45-4714-460365B3B8AC}"/>
                </a:ext>
              </a:extLst>
            </p:cNvPr>
            <p:cNvGrpSpPr/>
            <p:nvPr/>
          </p:nvGrpSpPr>
          <p:grpSpPr>
            <a:xfrm>
              <a:off x="7034600" y="3825737"/>
              <a:ext cx="2905215" cy="230832"/>
              <a:chOff x="7009200" y="3748194"/>
              <a:chExt cx="2905215" cy="2308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0BABD71-59F9-7E15-B059-61662CF9B71B}"/>
                  </a:ext>
                </a:extLst>
              </p:cNvPr>
              <p:cNvSpPr txBox="1"/>
              <p:nvPr/>
            </p:nvSpPr>
            <p:spPr>
              <a:xfrm>
                <a:off x="7009200" y="3748194"/>
                <a:ext cx="432000" cy="2308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9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20</a:t>
                </a:r>
                <a:r>
                  <a:rPr lang="ko-KR" altLang="en-US" sz="9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대</a:t>
                </a:r>
                <a:endParaRPr lang="en-US" altLang="ko-KR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6937F0-FA94-AA36-5AD2-C4E894F39832}"/>
                  </a:ext>
                </a:extLst>
              </p:cNvPr>
              <p:cNvSpPr txBox="1"/>
              <p:nvPr/>
            </p:nvSpPr>
            <p:spPr>
              <a:xfrm>
                <a:off x="7421403" y="3748194"/>
                <a:ext cx="432000" cy="2308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9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30</a:t>
                </a:r>
                <a:r>
                  <a:rPr lang="ko-KR" altLang="en-US" sz="9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대</a:t>
                </a:r>
                <a:endParaRPr lang="en-US" altLang="ko-KR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729ADE-5926-F00E-00AC-CBEDB56601CA}"/>
                  </a:ext>
                </a:extLst>
              </p:cNvPr>
              <p:cNvSpPr txBox="1"/>
              <p:nvPr/>
            </p:nvSpPr>
            <p:spPr>
              <a:xfrm>
                <a:off x="8658012" y="3748194"/>
                <a:ext cx="432000" cy="2308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9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60</a:t>
                </a:r>
                <a:r>
                  <a:rPr lang="ko-KR" altLang="en-US" sz="9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대</a:t>
                </a:r>
                <a:endParaRPr lang="en-US" altLang="ko-KR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76A39A5-A6F7-CFAB-12C0-9D3C584FF460}"/>
                  </a:ext>
                </a:extLst>
              </p:cNvPr>
              <p:cNvSpPr txBox="1"/>
              <p:nvPr/>
            </p:nvSpPr>
            <p:spPr>
              <a:xfrm>
                <a:off x="9070215" y="3748194"/>
                <a:ext cx="432000" cy="2308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9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70</a:t>
                </a:r>
                <a:r>
                  <a:rPr lang="ko-KR" altLang="en-US" sz="9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대</a:t>
                </a:r>
                <a:endParaRPr lang="en-US" altLang="ko-KR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28A143-E829-AF43-99AD-F53797548BEE}"/>
                  </a:ext>
                </a:extLst>
              </p:cNvPr>
              <p:cNvSpPr txBox="1"/>
              <p:nvPr/>
            </p:nvSpPr>
            <p:spPr>
              <a:xfrm>
                <a:off x="9482415" y="3748194"/>
                <a:ext cx="432000" cy="2308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9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80</a:t>
                </a:r>
                <a:r>
                  <a:rPr lang="ko-KR" altLang="en-US" sz="9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대</a:t>
                </a:r>
                <a:endParaRPr lang="en-US" altLang="ko-KR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5040DCD-1E60-383A-9CB8-78407FE24B0B}"/>
                  </a:ext>
                </a:extLst>
              </p:cNvPr>
              <p:cNvSpPr txBox="1"/>
              <p:nvPr/>
            </p:nvSpPr>
            <p:spPr>
              <a:xfrm>
                <a:off x="7833606" y="3748194"/>
                <a:ext cx="432000" cy="2308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9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40</a:t>
                </a:r>
                <a:r>
                  <a:rPr lang="ko-KR" altLang="en-US" sz="9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대</a:t>
                </a:r>
                <a:endParaRPr lang="en-US" altLang="ko-KR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AF782CC-6864-E046-E8CF-6DA1AA47E785}"/>
                  </a:ext>
                </a:extLst>
              </p:cNvPr>
              <p:cNvSpPr txBox="1"/>
              <p:nvPr/>
            </p:nvSpPr>
            <p:spPr>
              <a:xfrm>
                <a:off x="8245809" y="3748194"/>
                <a:ext cx="432000" cy="2308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9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50</a:t>
                </a:r>
                <a:r>
                  <a:rPr lang="ko-KR" altLang="en-US" sz="9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대</a:t>
                </a:r>
                <a:endParaRPr lang="en-US" altLang="ko-KR" sz="9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D0E608E-B29E-9691-BA47-66416FBF6A31}"/>
                </a:ext>
              </a:extLst>
            </p:cNvPr>
            <p:cNvSpPr txBox="1"/>
            <p:nvPr/>
          </p:nvSpPr>
          <p:spPr>
            <a:xfrm>
              <a:off x="6553200" y="1553432"/>
              <a:ext cx="45961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110K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DF4ADFB-6110-2590-AEB4-44553E0E2744}"/>
                </a:ext>
              </a:extLst>
            </p:cNvPr>
            <p:cNvSpPr txBox="1"/>
            <p:nvPr/>
          </p:nvSpPr>
          <p:spPr>
            <a:xfrm>
              <a:off x="6553200" y="1986185"/>
              <a:ext cx="45961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100K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1782643-D393-0EB3-FB2B-387B766F8240}"/>
                </a:ext>
              </a:extLst>
            </p:cNvPr>
            <p:cNvSpPr txBox="1"/>
            <p:nvPr/>
          </p:nvSpPr>
          <p:spPr>
            <a:xfrm>
              <a:off x="6553200" y="2418938"/>
              <a:ext cx="45961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90K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D8CD0D1-1E34-EE0F-7AFB-C4BF0BF0C349}"/>
                </a:ext>
              </a:extLst>
            </p:cNvPr>
            <p:cNvSpPr txBox="1"/>
            <p:nvPr/>
          </p:nvSpPr>
          <p:spPr>
            <a:xfrm>
              <a:off x="6553200" y="2851691"/>
              <a:ext cx="45961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80K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7C9AFD4-44A0-09F8-C725-B834DD1C8D34}"/>
                </a:ext>
              </a:extLst>
            </p:cNvPr>
            <p:cNvSpPr txBox="1"/>
            <p:nvPr/>
          </p:nvSpPr>
          <p:spPr>
            <a:xfrm>
              <a:off x="6553200" y="3284444"/>
              <a:ext cx="45961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70K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A4AFAFA2-094D-E5E6-DCAD-34EC0B2BB3C1}"/>
                </a:ext>
              </a:extLst>
            </p:cNvPr>
            <p:cNvSpPr txBox="1"/>
            <p:nvPr/>
          </p:nvSpPr>
          <p:spPr>
            <a:xfrm>
              <a:off x="6553200" y="3717195"/>
              <a:ext cx="45961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60K</a:t>
              </a:r>
            </a:p>
          </p:txBody>
        </p:sp>
      </p:grp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D064A388-D577-580E-8752-EEB077C8C82C}"/>
              </a:ext>
            </a:extLst>
          </p:cNvPr>
          <p:cNvSpPr/>
          <p:nvPr/>
        </p:nvSpPr>
        <p:spPr>
          <a:xfrm>
            <a:off x="9749962" y="1973623"/>
            <a:ext cx="910844" cy="2181687"/>
          </a:xfrm>
          <a:prstGeom prst="rect">
            <a:avLst/>
          </a:prstGeom>
          <a:noFill/>
          <a:ln>
            <a:solidFill>
              <a:srgbClr val="0022C3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777636A9-6428-26A5-B1DF-21B427CB8D39}"/>
              </a:ext>
            </a:extLst>
          </p:cNvPr>
          <p:cNvGrpSpPr/>
          <p:nvPr/>
        </p:nvGrpSpPr>
        <p:grpSpPr>
          <a:xfrm>
            <a:off x="7107997" y="930095"/>
            <a:ext cx="3728707" cy="338554"/>
            <a:chOff x="8485188" y="963917"/>
            <a:chExt cx="3081576" cy="338554"/>
          </a:xfrm>
        </p:grpSpPr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BD53EDD5-D747-E14F-3C97-FB949E907D1E}"/>
                </a:ext>
              </a:extLst>
            </p:cNvPr>
            <p:cNvCxnSpPr>
              <a:cxnSpLocks/>
            </p:cNvCxnSpPr>
            <p:nvPr/>
          </p:nvCxnSpPr>
          <p:spPr>
            <a:xfrm>
              <a:off x="8485188" y="1133194"/>
              <a:ext cx="3081576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9989A28-E193-F83B-12F7-90748AE315AA}"/>
                </a:ext>
              </a:extLst>
            </p:cNvPr>
            <p:cNvSpPr txBox="1"/>
            <p:nvPr/>
          </p:nvSpPr>
          <p:spPr>
            <a:xfrm>
              <a:off x="9039865" y="963917"/>
              <a:ext cx="1972223" cy="338554"/>
            </a:xfrm>
            <a:prstGeom prst="rect">
              <a:avLst/>
            </a:prstGeom>
            <a:solidFill>
              <a:srgbClr val="D9E6F6"/>
            </a:solidFill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ko-KR" altLang="en-US" sz="16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연령대별 </a:t>
              </a:r>
              <a:r>
                <a:rPr lang="en-US" altLang="ko-KR" sz="16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ARPU</a:t>
              </a:r>
              <a:endParaRPr lang="ko-KR" altLang="en-US" sz="16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745B35FC-D40C-63B3-BC1C-EC0CC8EEFC9D}"/>
              </a:ext>
            </a:extLst>
          </p:cNvPr>
          <p:cNvGrpSpPr/>
          <p:nvPr/>
        </p:nvGrpSpPr>
        <p:grpSpPr>
          <a:xfrm>
            <a:off x="6305346" y="4543320"/>
            <a:ext cx="5334009" cy="829545"/>
            <a:chOff x="8411785" y="4738384"/>
            <a:chExt cx="3312000" cy="829545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AC985938-6006-E9C6-0520-345A0A4560A8}"/>
                </a:ext>
              </a:extLst>
            </p:cNvPr>
            <p:cNvSpPr/>
            <p:nvPr/>
          </p:nvSpPr>
          <p:spPr>
            <a:xfrm>
              <a:off x="8411785" y="4738384"/>
              <a:ext cx="3312000" cy="829545"/>
            </a:xfrm>
            <a:prstGeom prst="roundRect">
              <a:avLst>
                <a:gd name="adj" fmla="val 3187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A3A6A1B-8FA2-1189-F82B-FDA298E44E8D}"/>
                </a:ext>
              </a:extLst>
            </p:cNvPr>
            <p:cNvSpPr txBox="1"/>
            <p:nvPr/>
          </p:nvSpPr>
          <p:spPr>
            <a:xfrm>
              <a:off x="8447785" y="4820052"/>
              <a:ext cx="3240000" cy="666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en-US" altLang="ko-KR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60</a:t>
              </a:r>
              <a:r>
                <a:rPr lang="ko-KR" altLang="en-US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대 이후 </a:t>
              </a:r>
              <a:r>
                <a:rPr lang="en" altLang="ko-KR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ARPU</a:t>
              </a:r>
              <a:r>
                <a:rPr lang="ko-KR" altLang="en-US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가 뚜렷하게 증가하며</a:t>
              </a:r>
              <a:r>
                <a:rPr lang="en-US" altLang="ko-KR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, </a:t>
              </a:r>
              <a:r>
                <a:rPr lang="en-US" altLang="ko-KR" sz="1600" kern="1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70~80</a:t>
              </a:r>
              <a:r>
                <a:rPr lang="ko-KR" altLang="en-US" sz="1600" kern="1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대</a:t>
              </a:r>
              <a:r>
                <a:rPr lang="ko-KR" altLang="en-US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가 최고 수준으로 확인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B842D838-DDD4-6AF5-482F-5AA5DCB6D3F7}"/>
              </a:ext>
            </a:extLst>
          </p:cNvPr>
          <p:cNvGrpSpPr/>
          <p:nvPr/>
        </p:nvGrpSpPr>
        <p:grpSpPr>
          <a:xfrm>
            <a:off x="6305346" y="5602080"/>
            <a:ext cx="5334009" cy="829545"/>
            <a:chOff x="8281014" y="5496202"/>
            <a:chExt cx="3312000" cy="829545"/>
          </a:xfrm>
        </p:grpSpPr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064DC390-BE79-F206-B1DB-EC45D4B7863C}"/>
                </a:ext>
              </a:extLst>
            </p:cNvPr>
            <p:cNvSpPr/>
            <p:nvPr/>
          </p:nvSpPr>
          <p:spPr>
            <a:xfrm>
              <a:off x="8281014" y="5496202"/>
              <a:ext cx="3312000" cy="829545"/>
            </a:xfrm>
            <a:prstGeom prst="roundRect">
              <a:avLst>
                <a:gd name="adj" fmla="val 31875"/>
              </a:avLst>
            </a:prstGeom>
            <a:solidFill>
              <a:schemeClr val="bg2">
                <a:lumMod val="75000"/>
                <a:alpha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990B8F1-F7CA-CC60-F2B4-058D9140FE7D}"/>
                </a:ext>
              </a:extLst>
            </p:cNvPr>
            <p:cNvSpPr txBox="1"/>
            <p:nvPr/>
          </p:nvSpPr>
          <p:spPr>
            <a:xfrm>
              <a:off x="8317014" y="5577870"/>
              <a:ext cx="3240000" cy="666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ko-KR" altLang="en-US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시니어 전용 케어 서비스 건강 및 안심 서비스를 결합하여 장기 고객으로</a:t>
              </a:r>
              <a:r>
                <a:rPr lang="ko-KR" altLang="en-US" sz="1600" kern="1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 </a:t>
              </a:r>
              <a:r>
                <a:rPr lang="ko-KR" altLang="en-US" sz="1600" kern="100" dirty="0" err="1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락인</a:t>
              </a:r>
              <a:r>
                <a:rPr lang="en-US" altLang="ko-KR" sz="1600" kern="1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(Lock-in)</a:t>
              </a:r>
              <a:endParaRPr lang="ko-KR" altLang="en-US" sz="1600" kern="100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2DC63AE3-D7DA-80DF-E2EB-C7730C714FD4}"/>
              </a:ext>
            </a:extLst>
          </p:cNvPr>
          <p:cNvSpPr/>
          <p:nvPr/>
        </p:nvSpPr>
        <p:spPr>
          <a:xfrm>
            <a:off x="6194950" y="798896"/>
            <a:ext cx="5554800" cy="5890661"/>
          </a:xfrm>
          <a:prstGeom prst="roundRect">
            <a:avLst>
              <a:gd name="adj" fmla="val 3453"/>
            </a:avLst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17" dirty="0">
              <a:solidFill>
                <a:srgbClr val="B96B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5295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A78422-C3CD-8DF9-8F10-5F4F2D6F35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분석결과 </a:t>
            </a:r>
            <a:r>
              <a:rPr lang="en-US" altLang="ko-KR" sz="2000" dirty="0"/>
              <a:t>_ARPU </a:t>
            </a:r>
            <a:r>
              <a:rPr lang="ko-KR" altLang="en-US" sz="2000" dirty="0"/>
              <a:t>분석을 통한 수익성 향상</a:t>
            </a:r>
            <a:endParaRPr lang="ko-KR" altLang="en-US" dirty="0"/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6F603DF4-8809-9436-635E-08976BDEA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314980"/>
              </p:ext>
            </p:extLst>
          </p:nvPr>
        </p:nvGraphicFramePr>
        <p:xfrm>
          <a:off x="8362673" y="1630994"/>
          <a:ext cx="3302000" cy="1586427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202267">
                  <a:extLst>
                    <a:ext uri="{9D8B030D-6E8A-4147-A177-3AD203B41FA5}">
                      <a16:colId xmlns:a16="http://schemas.microsoft.com/office/drawing/2014/main" val="2879984572"/>
                    </a:ext>
                  </a:extLst>
                </a:gridCol>
                <a:gridCol w="1202267">
                  <a:extLst>
                    <a:ext uri="{9D8B030D-6E8A-4147-A177-3AD203B41FA5}">
                      <a16:colId xmlns:a16="http://schemas.microsoft.com/office/drawing/2014/main" val="3039440823"/>
                    </a:ext>
                  </a:extLst>
                </a:gridCol>
                <a:gridCol w="897466">
                  <a:extLst>
                    <a:ext uri="{9D8B030D-6E8A-4147-A177-3AD203B41FA5}">
                      <a16:colId xmlns:a16="http://schemas.microsoft.com/office/drawing/2014/main" val="275180132"/>
                    </a:ext>
                  </a:extLst>
                </a:gridCol>
              </a:tblGrid>
              <a:tr h="247373"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200" kern="100" dirty="0">
                          <a:solidFill>
                            <a:prstClr val="black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  <a:cs typeface="Times New Roman" panose="02020603050405020304" pitchFamily="18" charset="0"/>
                        </a:rPr>
                        <a:t>기존서비스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1200" b="0" kern="100" dirty="0">
                          <a:solidFill>
                            <a:prstClr val="black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200" b="0" kern="100" dirty="0">
                          <a:solidFill>
                            <a:prstClr val="black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  <a:cs typeface="Times New Roman" panose="02020603050405020304" pitchFamily="18" charset="0"/>
                        </a:rPr>
                        <a:t>추가서비스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200" b="0" kern="100" dirty="0">
                          <a:solidFill>
                            <a:prstClr val="black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  <a:cs typeface="Times New Roman" panose="02020603050405020304" pitchFamily="18" charset="0"/>
                        </a:rPr>
                        <a:t>향상도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916537"/>
                  </a:ext>
                </a:extLst>
              </a:tr>
              <a:tr h="429389"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200" kern="100" dirty="0">
                          <a:solidFill>
                            <a:prstClr val="black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  <a:cs typeface="Times New Roman" panose="02020603050405020304" pitchFamily="18" charset="0"/>
                        </a:rPr>
                        <a:t>백업 </a:t>
                      </a:r>
                      <a:r>
                        <a:rPr lang="en-US" altLang="ko-KR" sz="1200" kern="100" dirty="0">
                          <a:solidFill>
                            <a:prstClr val="black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ko-KR" altLang="en-US" sz="1200" kern="100" dirty="0">
                          <a:solidFill>
                            <a:prstClr val="black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  <a:cs typeface="Times New Roman" panose="02020603050405020304" pitchFamily="18" charset="0"/>
                        </a:rPr>
                        <a:t> 보안</a:t>
                      </a:r>
                      <a:endParaRPr lang="en-US" altLang="ko-KR" sz="1200" kern="100" dirty="0">
                        <a:solidFill>
                          <a:prstClr val="black"/>
                        </a:solidFill>
                        <a:latin typeface="나눔스퀘어_ac ExtraBold" panose="020B0600000101010101" pitchFamily="50" charset="-127"/>
                        <a:ea typeface="나눔스퀘어_ac Extra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200" kern="100" dirty="0">
                          <a:solidFill>
                            <a:prstClr val="black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Times New Roman" panose="02020603050405020304" pitchFamily="18" charset="0"/>
                        </a:rPr>
                        <a:t>기술지원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1200" kern="100" dirty="0">
                          <a:solidFill>
                            <a:srgbClr val="0022C3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  <a:cs typeface="Times New Roman" panose="02020603050405020304" pitchFamily="18" charset="0"/>
                        </a:rPr>
                        <a:t>2.067</a:t>
                      </a:r>
                      <a:endParaRPr lang="ko-KR" altLang="en-US" sz="1200" kern="100" dirty="0">
                        <a:solidFill>
                          <a:srgbClr val="0022C3"/>
                        </a:solidFill>
                        <a:latin typeface="나눔스퀘어_ac ExtraBold" panose="020B0600000101010101" pitchFamily="50" charset="-127"/>
                        <a:ea typeface="나눔스퀘어_ac Extra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807661"/>
                  </a:ext>
                </a:extLst>
              </a:tr>
              <a:tr h="429389"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200" kern="100" dirty="0">
                          <a:solidFill>
                            <a:prstClr val="black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  <a:cs typeface="Times New Roman" panose="02020603050405020304" pitchFamily="18" charset="0"/>
                        </a:rPr>
                        <a:t>백업 </a:t>
                      </a:r>
                      <a:r>
                        <a:rPr lang="en-US" altLang="ko-KR" sz="1200" kern="100" dirty="0">
                          <a:solidFill>
                            <a:prstClr val="black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ko-KR" altLang="en-US" sz="1200" kern="100" dirty="0">
                          <a:solidFill>
                            <a:prstClr val="black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  <a:cs typeface="Times New Roman" panose="02020603050405020304" pitchFamily="18" charset="0"/>
                        </a:rPr>
                        <a:t> 기술지원</a:t>
                      </a:r>
                      <a:endParaRPr lang="en-US" altLang="ko-KR" sz="1200" kern="100" dirty="0">
                        <a:solidFill>
                          <a:prstClr val="black"/>
                        </a:solidFill>
                        <a:latin typeface="나눔스퀘어_ac ExtraBold" panose="020B0600000101010101" pitchFamily="50" charset="-127"/>
                        <a:ea typeface="나눔스퀘어_ac Extra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200" kern="100" dirty="0">
                          <a:solidFill>
                            <a:prstClr val="black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Times New Roman" panose="02020603050405020304" pitchFamily="18" charset="0"/>
                        </a:rPr>
                        <a:t>보안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1200" kern="100" dirty="0">
                          <a:solidFill>
                            <a:prstClr val="black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Times New Roman" panose="02020603050405020304" pitchFamily="18" charset="0"/>
                        </a:rPr>
                        <a:t>2.047</a:t>
                      </a:r>
                      <a:endParaRPr lang="ko-KR" altLang="en-US" sz="1200" kern="100" dirty="0">
                        <a:solidFill>
                          <a:prstClr val="black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80047"/>
                  </a:ext>
                </a:extLst>
              </a:tr>
              <a:tr h="429389"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200" kern="100" dirty="0">
                          <a:solidFill>
                            <a:prstClr val="black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  <a:cs typeface="Times New Roman" panose="02020603050405020304" pitchFamily="18" charset="0"/>
                        </a:rPr>
                        <a:t>보안 </a:t>
                      </a:r>
                      <a:r>
                        <a:rPr lang="en-US" altLang="ko-KR" sz="1200" kern="100" dirty="0">
                          <a:solidFill>
                            <a:prstClr val="black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ko-KR" altLang="en-US" sz="1200" kern="100" dirty="0">
                          <a:solidFill>
                            <a:prstClr val="black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  <a:cs typeface="Times New Roman" panose="02020603050405020304" pitchFamily="18" charset="0"/>
                        </a:rPr>
                        <a:t> 기술지원</a:t>
                      </a:r>
                      <a:endParaRPr lang="en-US" altLang="ko-KR" sz="1200" kern="100" dirty="0">
                        <a:solidFill>
                          <a:prstClr val="black"/>
                        </a:solidFill>
                        <a:latin typeface="나눔스퀘어_ac ExtraBold" panose="020B0600000101010101" pitchFamily="50" charset="-127"/>
                        <a:ea typeface="나눔스퀘어_ac Extra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200" kern="100" dirty="0">
                          <a:solidFill>
                            <a:prstClr val="black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Times New Roman" panose="02020603050405020304" pitchFamily="18" charset="0"/>
                        </a:rPr>
                        <a:t>백업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1200" kern="100" dirty="0">
                          <a:solidFill>
                            <a:prstClr val="black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Times New Roman" panose="02020603050405020304" pitchFamily="18" charset="0"/>
                        </a:rPr>
                        <a:t>1.788</a:t>
                      </a:r>
                      <a:endParaRPr lang="ko-KR" altLang="en-US" sz="1200" kern="100" dirty="0">
                        <a:solidFill>
                          <a:prstClr val="black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696782"/>
                  </a:ext>
                </a:extLst>
              </a:tr>
            </a:tbl>
          </a:graphicData>
        </a:graphic>
      </p:graphicFrame>
      <p:grpSp>
        <p:nvGrpSpPr>
          <p:cNvPr id="32" name="그룹 31">
            <a:extLst>
              <a:ext uri="{FF2B5EF4-FFF2-40B4-BE49-F238E27FC236}">
                <a16:creationId xmlns:a16="http://schemas.microsoft.com/office/drawing/2014/main" id="{584723CD-BDBE-65F2-466C-B480BF53E304}"/>
              </a:ext>
            </a:extLst>
          </p:cNvPr>
          <p:cNvGrpSpPr/>
          <p:nvPr/>
        </p:nvGrpSpPr>
        <p:grpSpPr>
          <a:xfrm>
            <a:off x="527633" y="930095"/>
            <a:ext cx="3389734" cy="338554"/>
            <a:chOff x="494771" y="963917"/>
            <a:chExt cx="3389734" cy="338554"/>
          </a:xfrm>
        </p:grpSpPr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1C729009-28A4-2195-BD8D-ADE938437948}"/>
                </a:ext>
              </a:extLst>
            </p:cNvPr>
            <p:cNvCxnSpPr>
              <a:cxnSpLocks/>
            </p:cNvCxnSpPr>
            <p:nvPr/>
          </p:nvCxnSpPr>
          <p:spPr>
            <a:xfrm>
              <a:off x="494771" y="1133194"/>
              <a:ext cx="3389734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A4D7CD2-6B51-F527-76C9-CB3792F8E48A}"/>
                </a:ext>
              </a:extLst>
            </p:cNvPr>
            <p:cNvSpPr txBox="1"/>
            <p:nvPr/>
          </p:nvSpPr>
          <p:spPr>
            <a:xfrm>
              <a:off x="601496" y="963917"/>
              <a:ext cx="3176285" cy="338554"/>
            </a:xfrm>
            <a:prstGeom prst="rect">
              <a:avLst/>
            </a:prstGeom>
            <a:solidFill>
              <a:srgbClr val="D9E6F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6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부가서비스 가입 수 </a:t>
              </a:r>
              <a:r>
                <a:rPr lang="en-US" altLang="ko-KR" sz="16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vs. ARPU</a:t>
              </a:r>
              <a:r>
                <a:rPr lang="ko-KR" altLang="en-US" sz="16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차이</a:t>
              </a:r>
              <a:endParaRPr lang="en-US" altLang="ko-KR" sz="16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BE60C3B0-FC2E-E018-8D3A-B7BB35380051}"/>
              </a:ext>
            </a:extLst>
          </p:cNvPr>
          <p:cNvGrpSpPr/>
          <p:nvPr/>
        </p:nvGrpSpPr>
        <p:grpSpPr>
          <a:xfrm>
            <a:off x="494500" y="4048020"/>
            <a:ext cx="3456000" cy="1127449"/>
            <a:chOff x="494500" y="4327420"/>
            <a:chExt cx="3456000" cy="1127449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7FDF5890-B791-15C8-B6FF-457E1ECCBACA}"/>
                </a:ext>
              </a:extLst>
            </p:cNvPr>
            <p:cNvSpPr/>
            <p:nvPr/>
          </p:nvSpPr>
          <p:spPr>
            <a:xfrm>
              <a:off x="494500" y="4327420"/>
              <a:ext cx="3456000" cy="1127449"/>
            </a:xfrm>
            <a:prstGeom prst="roundRect">
              <a:avLst>
                <a:gd name="adj" fmla="val 3187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28CCE99-1DBC-9E51-484B-1716A3D9C86F}"/>
                </a:ext>
              </a:extLst>
            </p:cNvPr>
            <p:cNvSpPr txBox="1"/>
            <p:nvPr/>
          </p:nvSpPr>
          <p:spPr>
            <a:xfrm>
              <a:off x="532065" y="4410307"/>
              <a:ext cx="3380870" cy="961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20000"/>
                </a:lnSpc>
                <a:defRPr/>
              </a:pPr>
              <a:r>
                <a:rPr lang="ko-KR" altLang="en-US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부가서비스 첫 가입 시 평균 </a:t>
              </a:r>
              <a:r>
                <a:rPr lang="ko-KR" altLang="en-US" sz="1600" kern="100" dirty="0" err="1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과금액</a:t>
              </a:r>
              <a:r>
                <a:rPr lang="en" altLang="ko-KR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 </a:t>
              </a:r>
              <a:r>
                <a:rPr lang="ko-KR" altLang="en-US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상승이 가장 크며</a:t>
              </a:r>
              <a:r>
                <a:rPr lang="en-US" altLang="ko-KR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, </a:t>
              </a:r>
              <a:r>
                <a:rPr lang="ko-KR" altLang="en-US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추가 가입 시 가격 상승률감소</a:t>
              </a:r>
              <a:endParaRPr lang="en-US" altLang="ko-KR" sz="1600" kern="1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F1C65778-9DBD-4196-3786-CFF7212D9231}"/>
              </a:ext>
            </a:extLst>
          </p:cNvPr>
          <p:cNvGrpSpPr/>
          <p:nvPr/>
        </p:nvGrpSpPr>
        <p:grpSpPr>
          <a:xfrm>
            <a:off x="4401133" y="930095"/>
            <a:ext cx="3389734" cy="338554"/>
            <a:chOff x="4401134" y="824217"/>
            <a:chExt cx="3389734" cy="338554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ED23F7D-E726-E255-0600-D8AEB907E29C}"/>
                </a:ext>
              </a:extLst>
            </p:cNvPr>
            <p:cNvCxnSpPr>
              <a:cxnSpLocks/>
            </p:cNvCxnSpPr>
            <p:nvPr/>
          </p:nvCxnSpPr>
          <p:spPr>
            <a:xfrm>
              <a:off x="4401134" y="993494"/>
              <a:ext cx="3389734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100BD01-6131-1F87-52B8-E634967C759C}"/>
                </a:ext>
              </a:extLst>
            </p:cNvPr>
            <p:cNvSpPr txBox="1"/>
            <p:nvPr/>
          </p:nvSpPr>
          <p:spPr>
            <a:xfrm>
              <a:off x="4652235" y="824217"/>
              <a:ext cx="2887532" cy="338554"/>
            </a:xfrm>
            <a:prstGeom prst="rect">
              <a:avLst/>
            </a:prstGeom>
            <a:solidFill>
              <a:srgbClr val="D9E6F6"/>
            </a:solidFill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ko-KR" altLang="en-US" sz="16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부가서비스 결합지수 </a:t>
              </a:r>
              <a:r>
                <a:rPr lang="en-US" altLang="ko-KR" sz="16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vs. </a:t>
              </a:r>
              <a:r>
                <a:rPr lang="ko-KR" altLang="en-US" sz="1600" dirty="0" err="1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이탈률</a:t>
              </a:r>
              <a:endParaRPr lang="ko-KR" altLang="en-US" sz="16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B47416F-2929-33F5-DDBA-15626AF9614B}"/>
              </a:ext>
            </a:extLst>
          </p:cNvPr>
          <p:cNvGrpSpPr/>
          <p:nvPr/>
        </p:nvGrpSpPr>
        <p:grpSpPr>
          <a:xfrm>
            <a:off x="8428712" y="930095"/>
            <a:ext cx="3081576" cy="338554"/>
            <a:chOff x="8485188" y="963917"/>
            <a:chExt cx="3081576" cy="338554"/>
          </a:xfrm>
        </p:grpSpPr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B74DA27-BD7C-EBE7-EA76-FAB535F9A10E}"/>
                </a:ext>
              </a:extLst>
            </p:cNvPr>
            <p:cNvCxnSpPr>
              <a:cxnSpLocks/>
            </p:cNvCxnSpPr>
            <p:nvPr/>
          </p:nvCxnSpPr>
          <p:spPr>
            <a:xfrm>
              <a:off x="8485188" y="1133194"/>
              <a:ext cx="3081576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A3E4BA3-69D4-EFD8-E80F-F194DDB24CF4}"/>
                </a:ext>
              </a:extLst>
            </p:cNvPr>
            <p:cNvSpPr txBox="1"/>
            <p:nvPr/>
          </p:nvSpPr>
          <p:spPr>
            <a:xfrm>
              <a:off x="8832781" y="963917"/>
              <a:ext cx="2386390" cy="338554"/>
            </a:xfrm>
            <a:prstGeom prst="rect">
              <a:avLst/>
            </a:prstGeom>
            <a:solidFill>
              <a:srgbClr val="D9E6F6"/>
            </a:solidFill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ko-KR" altLang="en-US" sz="16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부가서비스 연관분석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8433CF0-EE7D-51A4-17D8-A7D54B9A7C4C}"/>
              </a:ext>
            </a:extLst>
          </p:cNvPr>
          <p:cNvGrpSpPr/>
          <p:nvPr/>
        </p:nvGrpSpPr>
        <p:grpSpPr>
          <a:xfrm>
            <a:off x="8241500" y="4048020"/>
            <a:ext cx="3456000" cy="1126800"/>
            <a:chOff x="8411785" y="4738384"/>
            <a:chExt cx="3312000" cy="1126800"/>
          </a:xfrm>
        </p:grpSpPr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922F8F94-E869-1844-01B4-CF5A0E325036}"/>
                </a:ext>
              </a:extLst>
            </p:cNvPr>
            <p:cNvSpPr/>
            <p:nvPr/>
          </p:nvSpPr>
          <p:spPr>
            <a:xfrm>
              <a:off x="8411785" y="4738384"/>
              <a:ext cx="3312000" cy="1126800"/>
            </a:xfrm>
            <a:prstGeom prst="roundRect">
              <a:avLst>
                <a:gd name="adj" fmla="val 3187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EB92869-70D4-E095-9321-07F54E2560CB}"/>
                </a:ext>
              </a:extLst>
            </p:cNvPr>
            <p:cNvSpPr txBox="1"/>
            <p:nvPr/>
          </p:nvSpPr>
          <p:spPr>
            <a:xfrm>
              <a:off x="8447785" y="4820052"/>
              <a:ext cx="3240000" cy="666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ko-KR" altLang="en-US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두 개 서비스를 함께 이용하는 고객은 </a:t>
              </a:r>
              <a:endParaRPr lang="en-US" altLang="ko-KR" sz="1600" kern="1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defRPr/>
              </a:pPr>
              <a:r>
                <a:rPr lang="ko-KR" altLang="en-US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나머지 하나도 구매할 가능성이 높음</a:t>
              </a:r>
              <a:endParaRPr lang="en-US" altLang="ko-KR" sz="1600" kern="1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64" name="슬라이드 번호 개체 틀 63">
            <a:extLst>
              <a:ext uri="{FF2B5EF4-FFF2-40B4-BE49-F238E27FC236}">
                <a16:creationId xmlns:a16="http://schemas.microsoft.com/office/drawing/2014/main" id="{78553EA8-473E-C242-848E-B3589F8E630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24E44EA-8BB9-4356-A6E2-F3B626433E95}" type="slidenum">
              <a:rPr lang="ko-KR" altLang="en-US" smtClean="0"/>
              <a:pPr/>
              <a:t>10</a:t>
            </a:fld>
            <a:endParaRPr lang="ko-KR" altLang="en-US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30B8D3BC-3FCF-4712-B809-4101E2691662}"/>
              </a:ext>
            </a:extLst>
          </p:cNvPr>
          <p:cNvGrpSpPr/>
          <p:nvPr/>
        </p:nvGrpSpPr>
        <p:grpSpPr>
          <a:xfrm>
            <a:off x="4368000" y="4048019"/>
            <a:ext cx="3456000" cy="1126800"/>
            <a:chOff x="4368000" y="4327419"/>
            <a:chExt cx="3456000" cy="1126800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5839B716-7969-BABA-8DA5-9A1C33B52A21}"/>
                </a:ext>
              </a:extLst>
            </p:cNvPr>
            <p:cNvSpPr/>
            <p:nvPr/>
          </p:nvSpPr>
          <p:spPr>
            <a:xfrm>
              <a:off x="4368000" y="4327419"/>
              <a:ext cx="3456000" cy="1126800"/>
            </a:xfrm>
            <a:prstGeom prst="roundRect">
              <a:avLst>
                <a:gd name="adj" fmla="val 3187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3C2E4ED-ECFE-5EB2-1B36-2E0C2D5DA2FA}"/>
                </a:ext>
              </a:extLst>
            </p:cNvPr>
            <p:cNvSpPr txBox="1"/>
            <p:nvPr/>
          </p:nvSpPr>
          <p:spPr>
            <a:xfrm>
              <a:off x="4405565" y="4409982"/>
              <a:ext cx="3380870" cy="961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20000"/>
                </a:lnSpc>
                <a:defRPr/>
              </a:pPr>
              <a:r>
                <a:rPr lang="ko-KR" altLang="en-US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부가서비스 </a:t>
              </a:r>
              <a:r>
                <a:rPr lang="en-US" altLang="ko-KR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1</a:t>
              </a:r>
              <a:r>
                <a:rPr lang="ko-KR" altLang="en-US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개 가입 고객의 </a:t>
              </a:r>
              <a:r>
                <a:rPr lang="ko-KR" altLang="en-US" sz="1600" kern="100" dirty="0" err="1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이탈률이</a:t>
              </a:r>
              <a:r>
                <a:rPr lang="ko-KR" altLang="en-US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 </a:t>
              </a:r>
              <a:endParaRPr lang="en-US" altLang="ko-KR" sz="1600" kern="1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Times New Roman" panose="02020603050405020304" pitchFamily="18" charset="0"/>
              </a:endParaRPr>
            </a:p>
            <a:p>
              <a:pPr lvl="0">
                <a:lnSpc>
                  <a:spcPct val="120000"/>
                </a:lnSpc>
                <a:defRPr/>
              </a:pPr>
              <a:r>
                <a:rPr lang="ko-KR" altLang="en-US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가장 높고 부가 서비스 결합지수가 </a:t>
              </a:r>
              <a:r>
                <a:rPr lang="en-US" altLang="ko-KR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2</a:t>
              </a:r>
              <a:r>
                <a:rPr lang="ko-KR" altLang="en-US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이상 인 경우 부터 이탈율이 감소</a:t>
              </a:r>
              <a:endParaRPr lang="en-US" altLang="ko-KR" sz="1600" kern="1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7266FDF7-F963-9A2C-8AA4-9DD47CA8CC8C}"/>
              </a:ext>
            </a:extLst>
          </p:cNvPr>
          <p:cNvSpPr/>
          <p:nvPr/>
        </p:nvSpPr>
        <p:spPr>
          <a:xfrm>
            <a:off x="8107450" y="798897"/>
            <a:ext cx="3724100" cy="4458903"/>
          </a:xfrm>
          <a:prstGeom prst="roundRect">
            <a:avLst>
              <a:gd name="adj" fmla="val 3453"/>
            </a:avLst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17" dirty="0">
              <a:solidFill>
                <a:srgbClr val="B96B6B"/>
              </a:solidFill>
            </a:endParaRPr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08591799-228C-8359-AE70-03575BEF122D}"/>
              </a:ext>
            </a:extLst>
          </p:cNvPr>
          <p:cNvSpPr/>
          <p:nvPr/>
        </p:nvSpPr>
        <p:spPr>
          <a:xfrm>
            <a:off x="4233950" y="798897"/>
            <a:ext cx="3724100" cy="4458903"/>
          </a:xfrm>
          <a:prstGeom prst="roundRect">
            <a:avLst>
              <a:gd name="adj" fmla="val 3453"/>
            </a:avLst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17" dirty="0">
              <a:solidFill>
                <a:srgbClr val="B96B6B"/>
              </a:solidFill>
            </a:endParaRPr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3190A3BA-FBA8-872C-ED5B-37EF70B1EE34}"/>
              </a:ext>
            </a:extLst>
          </p:cNvPr>
          <p:cNvSpPr/>
          <p:nvPr/>
        </p:nvSpPr>
        <p:spPr>
          <a:xfrm>
            <a:off x="360450" y="798897"/>
            <a:ext cx="3724100" cy="4458903"/>
          </a:xfrm>
          <a:prstGeom prst="roundRect">
            <a:avLst>
              <a:gd name="adj" fmla="val 3453"/>
            </a:avLst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17" dirty="0">
              <a:solidFill>
                <a:srgbClr val="B96B6B"/>
              </a:solidFill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610D4C7-BCA3-7A76-4095-600CE0B0F9D4}"/>
              </a:ext>
            </a:extLst>
          </p:cNvPr>
          <p:cNvGrpSpPr/>
          <p:nvPr/>
        </p:nvGrpSpPr>
        <p:grpSpPr>
          <a:xfrm>
            <a:off x="570160" y="1397164"/>
            <a:ext cx="3106874" cy="2628783"/>
            <a:chOff x="934303" y="1136518"/>
            <a:chExt cx="4814564" cy="407369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29C1B90-071C-A3A7-1F5D-A1BC4FA1E68A}"/>
                </a:ext>
              </a:extLst>
            </p:cNvPr>
            <p:cNvSpPr txBox="1"/>
            <p:nvPr/>
          </p:nvSpPr>
          <p:spPr>
            <a:xfrm>
              <a:off x="1623818" y="4496477"/>
              <a:ext cx="857278" cy="3815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BFE93EB-E5FD-7956-606F-613E59C9C404}"/>
                </a:ext>
              </a:extLst>
            </p:cNvPr>
            <p:cNvSpPr txBox="1"/>
            <p:nvPr/>
          </p:nvSpPr>
          <p:spPr>
            <a:xfrm>
              <a:off x="3195532" y="4496477"/>
              <a:ext cx="779342" cy="3815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E608AE4-98A1-F34B-738F-0A2C11553D5B}"/>
                </a:ext>
              </a:extLst>
            </p:cNvPr>
            <p:cNvSpPr txBox="1"/>
            <p:nvPr/>
          </p:nvSpPr>
          <p:spPr>
            <a:xfrm rot="16200000">
              <a:off x="446676" y="2622915"/>
              <a:ext cx="1380657" cy="4054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ARPU </a:t>
              </a:r>
              <a:r>
                <a:rPr lang="ko-KR" altLang="en-US" sz="11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차이</a:t>
              </a:r>
              <a:endPara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5B5B9286-55EF-8A0D-4B7D-7128309DBDD8}"/>
                </a:ext>
              </a:extLst>
            </p:cNvPr>
            <p:cNvSpPr/>
            <p:nvPr/>
          </p:nvSpPr>
          <p:spPr>
            <a:xfrm>
              <a:off x="1496009" y="1515995"/>
              <a:ext cx="1185804" cy="2998725"/>
            </a:xfrm>
            <a:prstGeom prst="rect">
              <a:avLst/>
            </a:prstGeom>
            <a:solidFill>
              <a:srgbClr val="B9CC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3DCA794A-B187-1505-442F-989677DCF325}"/>
                </a:ext>
              </a:extLst>
            </p:cNvPr>
            <p:cNvSpPr/>
            <p:nvPr/>
          </p:nvSpPr>
          <p:spPr>
            <a:xfrm>
              <a:off x="2979002" y="4107267"/>
              <a:ext cx="1188693" cy="407449"/>
            </a:xfrm>
            <a:prstGeom prst="rect">
              <a:avLst/>
            </a:prstGeom>
            <a:solidFill>
              <a:srgbClr val="78A9C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A2909B5D-495F-ED0F-9A3D-540AD35D7848}"/>
                </a:ext>
              </a:extLst>
            </p:cNvPr>
            <p:cNvSpPr/>
            <p:nvPr/>
          </p:nvSpPr>
          <p:spPr>
            <a:xfrm>
              <a:off x="1393176" y="1136518"/>
              <a:ext cx="4355691" cy="3378200"/>
            </a:xfrm>
            <a:prstGeom prst="rect">
              <a:avLst/>
            </a:prstGeom>
            <a:noFill/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3110BF7B-F971-B10F-B450-5C553001DBD2}"/>
                </a:ext>
              </a:extLst>
            </p:cNvPr>
            <p:cNvSpPr/>
            <p:nvPr/>
          </p:nvSpPr>
          <p:spPr>
            <a:xfrm>
              <a:off x="4464882" y="3766137"/>
              <a:ext cx="1188693" cy="748578"/>
            </a:xfrm>
            <a:prstGeom prst="rect">
              <a:avLst/>
            </a:prstGeom>
            <a:solidFill>
              <a:srgbClr val="4984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9B14527-9E68-E5FB-D6F8-81C4078F114F}"/>
                </a:ext>
              </a:extLst>
            </p:cNvPr>
            <p:cNvSpPr txBox="1"/>
            <p:nvPr/>
          </p:nvSpPr>
          <p:spPr>
            <a:xfrm>
              <a:off x="4699125" y="4496477"/>
              <a:ext cx="779342" cy="3815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3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6AE2AF3-DC1A-87FB-8F0F-0EAEB145F3AA}"/>
                </a:ext>
              </a:extLst>
            </p:cNvPr>
            <p:cNvSpPr txBox="1"/>
            <p:nvPr/>
          </p:nvSpPr>
          <p:spPr>
            <a:xfrm>
              <a:off x="2825843" y="4804806"/>
              <a:ext cx="1518720" cy="4054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1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가입서비스 수</a:t>
              </a:r>
              <a:endPara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A85A8A53-998B-2D5C-7DA3-855C9DCD5F85}"/>
              </a:ext>
            </a:extLst>
          </p:cNvPr>
          <p:cNvGrpSpPr/>
          <p:nvPr/>
        </p:nvGrpSpPr>
        <p:grpSpPr>
          <a:xfrm>
            <a:off x="4378489" y="1397164"/>
            <a:ext cx="3100524" cy="2628783"/>
            <a:chOff x="944143" y="1136518"/>
            <a:chExt cx="4804724" cy="4073692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4F2C7D2-E759-8F03-99BE-2F9FD2124BB0}"/>
                </a:ext>
              </a:extLst>
            </p:cNvPr>
            <p:cNvSpPr txBox="1"/>
            <p:nvPr/>
          </p:nvSpPr>
          <p:spPr>
            <a:xfrm>
              <a:off x="1623818" y="4496477"/>
              <a:ext cx="857278" cy="3815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0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9327C50F-D960-E400-76F5-5630786B063E}"/>
                </a:ext>
              </a:extLst>
            </p:cNvPr>
            <p:cNvSpPr txBox="1"/>
            <p:nvPr/>
          </p:nvSpPr>
          <p:spPr>
            <a:xfrm>
              <a:off x="3761231" y="4496477"/>
              <a:ext cx="779342" cy="3815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4365113-7F0D-AE88-18AB-71FF1A8271B1}"/>
                </a:ext>
              </a:extLst>
            </p:cNvPr>
            <p:cNvSpPr txBox="1"/>
            <p:nvPr/>
          </p:nvSpPr>
          <p:spPr>
            <a:xfrm rot="16200000">
              <a:off x="456516" y="2622915"/>
              <a:ext cx="1380657" cy="4054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100" dirty="0" err="1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이탈률</a:t>
              </a:r>
              <a:r>
                <a:rPr lang="en-US" altLang="ko-KR" sz="11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(%)</a:t>
              </a: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A4D52060-4B84-D322-AA17-762B0F10176E}"/>
                </a:ext>
              </a:extLst>
            </p:cNvPr>
            <p:cNvSpPr/>
            <p:nvPr/>
          </p:nvSpPr>
          <p:spPr>
            <a:xfrm>
              <a:off x="1577446" y="1835941"/>
              <a:ext cx="904409" cy="2678778"/>
            </a:xfrm>
            <a:prstGeom prst="rect">
              <a:avLst/>
            </a:prstGeom>
            <a:solidFill>
              <a:srgbClr val="B9CC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12FC5C77-B106-FAD5-B03D-D1231B96EAF2}"/>
                </a:ext>
              </a:extLst>
            </p:cNvPr>
            <p:cNvSpPr/>
            <p:nvPr/>
          </p:nvSpPr>
          <p:spPr>
            <a:xfrm>
              <a:off x="1393176" y="1136518"/>
              <a:ext cx="4355691" cy="3378200"/>
            </a:xfrm>
            <a:prstGeom prst="rect">
              <a:avLst/>
            </a:prstGeom>
            <a:noFill/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4F0BB9CD-DE77-6BFB-A050-DB69EED5F7DE}"/>
                </a:ext>
              </a:extLst>
            </p:cNvPr>
            <p:cNvSpPr txBox="1"/>
            <p:nvPr/>
          </p:nvSpPr>
          <p:spPr>
            <a:xfrm>
              <a:off x="4790969" y="4496477"/>
              <a:ext cx="779342" cy="3815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3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B4B4E0D-6D68-E110-ECA5-E15F00FB87ED}"/>
                </a:ext>
              </a:extLst>
            </p:cNvPr>
            <p:cNvSpPr txBox="1"/>
            <p:nvPr/>
          </p:nvSpPr>
          <p:spPr>
            <a:xfrm>
              <a:off x="2574495" y="4804806"/>
              <a:ext cx="2021416" cy="4054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1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부가서비스 결합지수</a:t>
              </a:r>
              <a:endPara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687A8923-D9D4-CB29-5837-F4B38C5F6F59}"/>
                </a:ext>
              </a:extLst>
            </p:cNvPr>
            <p:cNvSpPr/>
            <p:nvPr/>
          </p:nvSpPr>
          <p:spPr>
            <a:xfrm>
              <a:off x="2625264" y="1515995"/>
              <a:ext cx="904409" cy="2998725"/>
            </a:xfrm>
            <a:prstGeom prst="rect">
              <a:avLst/>
            </a:prstGeom>
            <a:solidFill>
              <a:srgbClr val="78A9C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CDE1BA7C-C37B-2DD6-A51D-97E33D076DA7}"/>
                </a:ext>
              </a:extLst>
            </p:cNvPr>
            <p:cNvSpPr/>
            <p:nvPr/>
          </p:nvSpPr>
          <p:spPr>
            <a:xfrm>
              <a:off x="3673083" y="3008631"/>
              <a:ext cx="904409" cy="1506089"/>
            </a:xfrm>
            <a:prstGeom prst="rect">
              <a:avLst/>
            </a:prstGeom>
            <a:solidFill>
              <a:srgbClr val="4984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A95C5019-565F-34A2-DABC-BC0F5CA9BAC3}"/>
                </a:ext>
              </a:extLst>
            </p:cNvPr>
            <p:cNvSpPr/>
            <p:nvPr/>
          </p:nvSpPr>
          <p:spPr>
            <a:xfrm>
              <a:off x="4720903" y="3757849"/>
              <a:ext cx="904409" cy="756870"/>
            </a:xfrm>
            <a:prstGeom prst="rect">
              <a:avLst/>
            </a:prstGeom>
            <a:solidFill>
              <a:srgbClr val="225B9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D3D730B-8B10-9DE3-6168-83D0C818E68B}"/>
                </a:ext>
              </a:extLst>
            </p:cNvPr>
            <p:cNvSpPr txBox="1"/>
            <p:nvPr/>
          </p:nvSpPr>
          <p:spPr>
            <a:xfrm>
              <a:off x="2731493" y="4496477"/>
              <a:ext cx="779342" cy="3815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</a:t>
              </a: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9CFA46D6-624C-93D8-B958-36C611B9CC2F}"/>
              </a:ext>
            </a:extLst>
          </p:cNvPr>
          <p:cNvGrpSpPr/>
          <p:nvPr/>
        </p:nvGrpSpPr>
        <p:grpSpPr>
          <a:xfrm>
            <a:off x="881864" y="5560195"/>
            <a:ext cx="10428273" cy="912501"/>
            <a:chOff x="881864" y="5649095"/>
            <a:chExt cx="10428273" cy="912501"/>
          </a:xfrm>
        </p:grpSpPr>
        <p:sp>
          <p:nvSpPr>
            <p:cNvPr id="103" name="사각형: 둥근 모서리 102">
              <a:extLst>
                <a:ext uri="{FF2B5EF4-FFF2-40B4-BE49-F238E27FC236}">
                  <a16:creationId xmlns:a16="http://schemas.microsoft.com/office/drawing/2014/main" id="{BF6B2B84-5C57-1983-EEAE-F51D4FB3CD08}"/>
                </a:ext>
              </a:extLst>
            </p:cNvPr>
            <p:cNvSpPr/>
            <p:nvPr/>
          </p:nvSpPr>
          <p:spPr>
            <a:xfrm>
              <a:off x="881864" y="5649095"/>
              <a:ext cx="10428273" cy="912501"/>
            </a:xfrm>
            <a:prstGeom prst="roundRect">
              <a:avLst>
                <a:gd name="adj" fmla="val 31875"/>
              </a:avLst>
            </a:prstGeom>
            <a:solidFill>
              <a:schemeClr val="bg2">
                <a:lumMod val="75000"/>
                <a:alpha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B5A7CA7E-F2CB-3B18-1BA6-3B0AC3E3C3C8}"/>
                </a:ext>
              </a:extLst>
            </p:cNvPr>
            <p:cNvSpPr txBox="1"/>
            <p:nvPr/>
          </p:nvSpPr>
          <p:spPr>
            <a:xfrm>
              <a:off x="2612095" y="5772241"/>
              <a:ext cx="6967810" cy="666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부가서비스 </a:t>
              </a:r>
              <a:r>
                <a:rPr lang="ko-KR" altLang="en-US" sz="1600" kern="100" dirty="0" err="1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미가입</a:t>
              </a:r>
              <a:r>
                <a:rPr lang="ko-KR" altLang="en-US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 고객의 </a:t>
              </a:r>
              <a:r>
                <a:rPr lang="ko-KR" altLang="en-US" sz="1600" kern="1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첫 가입 전환</a:t>
              </a:r>
              <a:r>
                <a:rPr lang="ko-KR" altLang="en-US" sz="1600" kern="1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을</a:t>
              </a:r>
              <a:r>
                <a:rPr lang="ko-KR" altLang="en-US" sz="1600" kern="100" dirty="0">
                  <a:solidFill>
                    <a:srgbClr val="0E469D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 </a:t>
              </a:r>
              <a:r>
                <a:rPr lang="ko-KR" altLang="en-US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우선 확대하고</a:t>
              </a:r>
              <a:r>
                <a:rPr lang="en-US" altLang="ko-KR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, </a:t>
              </a: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추가 결합 할인과 번들 혜택을 통해 </a:t>
              </a:r>
              <a:r>
                <a:rPr lang="en-US" altLang="ko-KR" sz="1600" kern="1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2</a:t>
              </a:r>
              <a:r>
                <a:rPr lang="ko-KR" altLang="en-US" sz="1600" kern="1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개 이상 가입 및 </a:t>
              </a:r>
              <a:r>
                <a:rPr lang="ko-KR" altLang="en-US" sz="1600" kern="100" dirty="0" err="1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번들형</a:t>
              </a:r>
              <a:r>
                <a:rPr lang="ko-KR" altLang="en-US" sz="1600" kern="1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 교차 판매</a:t>
              </a:r>
              <a:r>
                <a:rPr lang="ko-KR" altLang="en-US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rPr>
                <a:t>로 유도</a:t>
              </a:r>
            </a:p>
          </p:txBody>
        </p:sp>
      </p:grpSp>
      <p:pic>
        <p:nvPicPr>
          <p:cNvPr id="105" name="그래픽 104" descr="갈매기형 화살표 단색으로 채워진">
            <a:extLst>
              <a:ext uri="{FF2B5EF4-FFF2-40B4-BE49-F238E27FC236}">
                <a16:creationId xmlns:a16="http://schemas.microsoft.com/office/drawing/2014/main" id="{448B715C-BEC0-969A-17C3-C0275A9B0A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8777" y="5582788"/>
            <a:ext cx="845541" cy="845541"/>
          </a:xfrm>
          <a:prstGeom prst="rect">
            <a:avLst/>
          </a:prstGeom>
        </p:spPr>
      </p:pic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740A0552-2AF5-2B30-B1F4-884ED2AD9100}"/>
              </a:ext>
            </a:extLst>
          </p:cNvPr>
          <p:cNvSpPr/>
          <p:nvPr/>
        </p:nvSpPr>
        <p:spPr>
          <a:xfrm>
            <a:off x="8337507" y="1929445"/>
            <a:ext cx="3352332" cy="430221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75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D58304-A684-CF4B-F868-4E1B826D0E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분석결과 </a:t>
            </a:r>
            <a:r>
              <a:rPr lang="en-US" altLang="ko-KR" sz="2000" dirty="0"/>
              <a:t>_LTV </a:t>
            </a:r>
            <a:r>
              <a:rPr lang="ko-KR" altLang="en-US" sz="2000" dirty="0"/>
              <a:t>모델 개선 결과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9FBECA-C3DF-FE43-CD4D-CDBE00C2BBB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24E44EA-8BB9-4356-A6E2-F3B626433E95}" type="slidenum">
              <a:rPr lang="ko-KR" altLang="en-US" smtClean="0"/>
              <a:pPr/>
              <a:t>11</a:t>
            </a:fld>
            <a:endParaRPr lang="ko-KR" altLang="en-US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AFD1755-9AE0-2151-58E4-596F08EFD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394567"/>
              </p:ext>
            </p:extLst>
          </p:nvPr>
        </p:nvGraphicFramePr>
        <p:xfrm>
          <a:off x="757581" y="4960072"/>
          <a:ext cx="3513331" cy="151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722">
                  <a:extLst>
                    <a:ext uri="{9D8B030D-6E8A-4147-A177-3AD203B41FA5}">
                      <a16:colId xmlns:a16="http://schemas.microsoft.com/office/drawing/2014/main" val="328671438"/>
                    </a:ext>
                  </a:extLst>
                </a:gridCol>
                <a:gridCol w="2232609">
                  <a:extLst>
                    <a:ext uri="{9D8B030D-6E8A-4147-A177-3AD203B41FA5}">
                      <a16:colId xmlns:a16="http://schemas.microsoft.com/office/drawing/2014/main" val="2235464215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만족도 점수</a:t>
                      </a:r>
                    </a:p>
                  </a:txBody>
                  <a:tcPr marL="7620" marR="7620" marT="7620" marB="0" anchor="ctr">
                    <a:solidFill>
                      <a:srgbClr val="D9E6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dirty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예측기간 </a:t>
                      </a:r>
                      <a:r>
                        <a:rPr lang="en-US" altLang="ko-KR" sz="1400" dirty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(</a:t>
                      </a:r>
                      <a:r>
                        <a:rPr lang="ko-KR" altLang="en-US" sz="1400" dirty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개월</a:t>
                      </a:r>
                      <a:r>
                        <a:rPr lang="en-US" altLang="ko-KR" sz="1400" dirty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)</a:t>
                      </a:r>
                      <a:endParaRPr sz="14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7620" marR="7620" marT="7620" marB="0" anchor="ctr">
                    <a:solidFill>
                      <a:srgbClr val="D9E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72297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0</a:t>
                      </a:r>
                      <a:endParaRPr sz="14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9185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2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12</a:t>
                      </a:r>
                      <a:endParaRPr sz="14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65837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3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48</a:t>
                      </a:r>
                      <a:endParaRPr sz="14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56320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72</a:t>
                      </a:r>
                      <a:endParaRPr sz="14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7319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120</a:t>
                      </a:r>
                      <a:endParaRPr sz="14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223748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A3612B29-A6A3-5C3B-DFF7-C11CAAD7DF2E}"/>
              </a:ext>
            </a:extLst>
          </p:cNvPr>
          <p:cNvSpPr txBox="1"/>
          <p:nvPr/>
        </p:nvSpPr>
        <p:spPr>
          <a:xfrm>
            <a:off x="757581" y="4190431"/>
            <a:ext cx="4662780" cy="346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미래 추정 수익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이미 이탈한 고객의 경우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0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으로 계산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91370F-D9C9-6A1B-6712-BD20B56FDB0A}"/>
              </a:ext>
            </a:extLst>
          </p:cNvPr>
          <p:cNvSpPr txBox="1"/>
          <p:nvPr/>
        </p:nvSpPr>
        <p:spPr>
          <a:xfrm>
            <a:off x="757581" y="4552845"/>
            <a:ext cx="46627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예측기간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만족도 점수별로 대입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359F6D-DFE3-4BEA-D3B3-C343A1156C24}"/>
              </a:ext>
            </a:extLst>
          </p:cNvPr>
          <p:cNvSpPr txBox="1"/>
          <p:nvPr/>
        </p:nvSpPr>
        <p:spPr>
          <a:xfrm>
            <a:off x="557003" y="-1928276"/>
            <a:ext cx="6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ACB13EB-D1E3-B574-A0A4-871E4CEA343A}"/>
              </a:ext>
            </a:extLst>
          </p:cNvPr>
          <p:cNvSpPr/>
          <p:nvPr/>
        </p:nvSpPr>
        <p:spPr>
          <a:xfrm>
            <a:off x="2312130" y="4971946"/>
            <a:ext cx="1651582" cy="1495762"/>
          </a:xfrm>
          <a:prstGeom prst="rect">
            <a:avLst/>
          </a:prstGeom>
          <a:noFill/>
          <a:ln>
            <a:solidFill>
              <a:srgbClr val="0022C3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D98D504-6C3C-EF08-FC92-035992F27C03}"/>
              </a:ext>
            </a:extLst>
          </p:cNvPr>
          <p:cNvGrpSpPr/>
          <p:nvPr/>
        </p:nvGrpSpPr>
        <p:grpSpPr>
          <a:xfrm>
            <a:off x="510330" y="2193737"/>
            <a:ext cx="11158397" cy="1399406"/>
            <a:chOff x="510330" y="683394"/>
            <a:chExt cx="11158397" cy="1399406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D60BCA17-3205-4894-BCC7-2C3BEC9AA391}"/>
                </a:ext>
              </a:extLst>
            </p:cNvPr>
            <p:cNvSpPr/>
            <p:nvPr/>
          </p:nvSpPr>
          <p:spPr>
            <a:xfrm>
              <a:off x="2643149" y="1118203"/>
              <a:ext cx="3759200" cy="723900"/>
            </a:xfrm>
            <a:prstGeom prst="roundRect">
              <a:avLst/>
            </a:prstGeom>
            <a:solidFill>
              <a:schemeClr val="bg1">
                <a:lumMod val="95000"/>
                <a:alpha val="3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EA737872-C8A9-9671-536A-1E02A341FB7C}"/>
                </a:ext>
              </a:extLst>
            </p:cNvPr>
            <p:cNvSpPr/>
            <p:nvPr/>
          </p:nvSpPr>
          <p:spPr>
            <a:xfrm>
              <a:off x="6529113" y="1118203"/>
              <a:ext cx="4270977" cy="723900"/>
            </a:xfrm>
            <a:prstGeom prst="roundRect">
              <a:avLst/>
            </a:prstGeom>
            <a:solidFill>
              <a:srgbClr val="B9CCDD">
                <a:alpha val="30000"/>
              </a:srgb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C7BB70B9-FEA5-748E-320F-059A4ECC0622}"/>
                    </a:ext>
                  </a:extLst>
                </p:cNvPr>
                <p:cNvSpPr txBox="1"/>
                <p:nvPr/>
              </p:nvSpPr>
              <p:spPr>
                <a:xfrm>
                  <a:off x="1124896" y="1202315"/>
                  <a:ext cx="10519355" cy="56361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𝐿𝑇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𝑖𝑚𝑝𝑟𝑜𝑣𝑒𝑑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ko-KR" altLang="en-US" sz="1600" i="1">
                                    <a:latin typeface="Cambria Math" panose="02040503050406030204" pitchFamily="18" charset="0"/>
                                  </a:rPr>
                                  <m:t>데이터사용료</m:t>
                                </m:r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600" i="1">
                                    <a:latin typeface="Cambria Math" panose="02040503050406030204" pitchFamily="18" charset="0"/>
                                  </a:rPr>
                                  <m:t>총로밍요금</m:t>
                                </m:r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600" i="1">
                                    <a:latin typeface="Cambria Math" panose="02040503050406030204" pitchFamily="18" charset="0"/>
                                  </a:rPr>
                                  <m:t>총과금액</m:t>
                                </m:r>
                              </m:e>
                            </m:d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과거수익</m:t>
                                    </m:r>
                                  </m:num>
                                  <m:den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가입기간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nor/>
                              </m:rPr>
                              <a:rPr lang="ko-KR" altLang="en-US" sz="1600" dirty="0">
                                <a:latin typeface="나눔스퀘어_ac Bold" panose="020B0600000101010101" pitchFamily="50" charset="-127"/>
                                <a:ea typeface="나눔스퀘어_ac Bold" panose="020B0600000101010101" pitchFamily="50" charset="-127"/>
                              </a:rPr>
                              <m:t> </m:t>
                            </m:r>
                            <m:r>
                              <a:rPr lang="ko-KR" altLang="en-US" sz="1600" i="1" dirty="0">
                                <a:latin typeface="Cambria Math" panose="02040503050406030204" pitchFamily="18" charset="0"/>
                              </a:rPr>
                              <m:t>예측</m:t>
                            </m:r>
                            <m:r>
                              <a:rPr lang="ko-KR" altLang="en-US" sz="1600" i="1">
                                <a:latin typeface="Cambria Math" panose="02040503050406030204" pitchFamily="18" charset="0"/>
                              </a:rPr>
                              <m:t>기간</m:t>
                            </m:r>
                            <m:r>
                              <a:rPr lang="ko-KR" altLang="en-US" sz="1600" i="1">
                                <a:latin typeface="Cambria Math" panose="02040503050406030204" pitchFamily="18" charset="0"/>
                              </a:rPr>
                              <m:t> ×</m:t>
                            </m:r>
                            <m:d>
                              <m:dPr>
                                <m:ctrl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ko-KR" altLang="en-US" sz="16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이탈가능점수</m:t>
                                    </m:r>
                                  </m:num>
                                  <m:den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−3</m:t>
                            </m:r>
                          </m:sup>
                        </m:sSup>
                      </m:oMath>
                    </m:oMathPara>
                  </a14:m>
                  <a:endParaRPr lang="ko-KR" altLang="en-US" sz="16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C7BB70B9-FEA5-748E-320F-059A4ECC06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4896" y="1202315"/>
                  <a:ext cx="10519355" cy="563616"/>
                </a:xfrm>
                <a:prstGeom prst="rect">
                  <a:avLst/>
                </a:prstGeom>
                <a:blipFill>
                  <a:blip r:embed="rId3"/>
                  <a:stretch>
                    <a:fillRect b="-108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A0F1021-0208-F1CE-F4F1-A4131D182432}"/>
                </a:ext>
              </a:extLst>
            </p:cNvPr>
            <p:cNvSpPr txBox="1"/>
            <p:nvPr/>
          </p:nvSpPr>
          <p:spPr>
            <a:xfrm>
              <a:off x="3672570" y="738254"/>
              <a:ext cx="1700359" cy="3463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과거 수익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028767B-4696-17E1-2E96-C77593CE1DF6}"/>
                </a:ext>
              </a:extLst>
            </p:cNvPr>
            <p:cNvSpPr txBox="1"/>
            <p:nvPr/>
          </p:nvSpPr>
          <p:spPr>
            <a:xfrm>
              <a:off x="7932956" y="738254"/>
              <a:ext cx="1700359" cy="3463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미래 추정 수익</a:t>
              </a: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B9A9901C-E8D8-B521-AB0E-C018D5991622}"/>
                </a:ext>
              </a:extLst>
            </p:cNvPr>
            <p:cNvSpPr/>
            <p:nvPr/>
          </p:nvSpPr>
          <p:spPr>
            <a:xfrm>
              <a:off x="523274" y="683394"/>
              <a:ext cx="11145453" cy="1399406"/>
            </a:xfrm>
            <a:prstGeom prst="roundRect">
              <a:avLst>
                <a:gd name="adj" fmla="val 10713"/>
              </a:avLst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17" dirty="0">
                <a:solidFill>
                  <a:srgbClr val="B96B6B"/>
                </a:solidFill>
              </a:endParaRP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1423AC3D-E645-1421-59F0-BA2D8DBC17CD}"/>
                </a:ext>
              </a:extLst>
            </p:cNvPr>
            <p:cNvGrpSpPr/>
            <p:nvPr/>
          </p:nvGrpSpPr>
          <p:grpSpPr>
            <a:xfrm>
              <a:off x="510330" y="683394"/>
              <a:ext cx="1702800" cy="403394"/>
              <a:chOff x="808566" y="891998"/>
              <a:chExt cx="1392767" cy="403394"/>
            </a:xfrm>
          </p:grpSpPr>
          <p:sp>
            <p:nvSpPr>
              <p:cNvPr id="19" name="사각형: 둥근 한쪽 모서리 18">
                <a:extLst>
                  <a:ext uri="{FF2B5EF4-FFF2-40B4-BE49-F238E27FC236}">
                    <a16:creationId xmlns:a16="http://schemas.microsoft.com/office/drawing/2014/main" id="{C3346E36-48A5-9132-CC0E-FC3453CE3355}"/>
                  </a:ext>
                </a:extLst>
              </p:cNvPr>
              <p:cNvSpPr/>
              <p:nvPr/>
            </p:nvSpPr>
            <p:spPr>
              <a:xfrm flipV="1">
                <a:off x="808566" y="892612"/>
                <a:ext cx="1392767" cy="402167"/>
              </a:xfrm>
              <a:prstGeom prst="round1Rect">
                <a:avLst>
                  <a:gd name="adj" fmla="val 50000"/>
                </a:avLst>
              </a:prstGeom>
              <a:solidFill>
                <a:srgbClr val="0E469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endPara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516CECD1-3C4B-BE2A-D41D-A35BAE83739B}"/>
                  </a:ext>
                </a:extLst>
              </p:cNvPr>
              <p:cNvSpPr/>
              <p:nvPr/>
            </p:nvSpPr>
            <p:spPr>
              <a:xfrm>
                <a:off x="887332" y="891998"/>
                <a:ext cx="1235235" cy="403394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개선된 </a:t>
                </a:r>
                <a:r>
                  <a:rPr lang="en-US" altLang="ko-KR" sz="16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LTV</a:t>
                </a:r>
                <a:endPara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9AAC8A5-8D7C-F7E9-4B1D-322DB32EB3A0}"/>
              </a:ext>
            </a:extLst>
          </p:cNvPr>
          <p:cNvSpPr txBox="1"/>
          <p:nvPr/>
        </p:nvSpPr>
        <p:spPr>
          <a:xfrm>
            <a:off x="5429076" y="4402266"/>
            <a:ext cx="54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1. </a:t>
            </a:r>
            <a:r>
              <a:rPr lang="en-US" altLang="ko-KR" sz="1600" dirty="0">
                <a:solidFill>
                  <a:srgbClr val="1A448E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VIP</a:t>
            </a:r>
            <a:r>
              <a:rPr lang="ko-KR" altLang="en-US" sz="1600" dirty="0">
                <a:solidFill>
                  <a:srgbClr val="1A448E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등급 </a:t>
            </a:r>
            <a:r>
              <a:rPr lang="en-US" altLang="ko-KR" sz="16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상위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0% ~ 20% 1373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명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10,650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점 이상 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38503A-C36A-31BE-95DC-CF5FDF1787CF}"/>
              </a:ext>
            </a:extLst>
          </p:cNvPr>
          <p:cNvSpPr txBox="1"/>
          <p:nvPr/>
        </p:nvSpPr>
        <p:spPr>
          <a:xfrm>
            <a:off x="5429077" y="4814754"/>
            <a:ext cx="54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2. </a:t>
            </a:r>
            <a:r>
              <a:rPr lang="en-US" altLang="ko-KR" sz="1600" dirty="0">
                <a:solidFill>
                  <a:srgbClr val="744E2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GOLD </a:t>
            </a:r>
            <a:r>
              <a:rPr lang="ko-KR" altLang="en-US" sz="1600" dirty="0">
                <a:solidFill>
                  <a:srgbClr val="744E2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등급 </a:t>
            </a:r>
            <a:r>
              <a:rPr lang="en-US" altLang="ko-KR" sz="16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상위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20% ~ 40% 1372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명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6,240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점 이상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51B24C-C994-A659-3FE4-2686382CE9B9}"/>
              </a:ext>
            </a:extLst>
          </p:cNvPr>
          <p:cNvSpPr txBox="1"/>
          <p:nvPr/>
        </p:nvSpPr>
        <p:spPr>
          <a:xfrm>
            <a:off x="5429077" y="5227242"/>
            <a:ext cx="54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3. </a:t>
            </a:r>
            <a:r>
              <a:rPr lang="en-US" altLang="ko-KR" sz="1600" dirty="0">
                <a:solidFill>
                  <a:srgbClr val="8D9FC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SILVER</a:t>
            </a:r>
            <a:r>
              <a:rPr lang="ko-KR" altLang="en-US" sz="1600" dirty="0">
                <a:solidFill>
                  <a:srgbClr val="8D9FC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등급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상위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40% ~ 60% 1373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명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3,460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점 이상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653099-46BD-B0A0-112C-154376E6A5B9}"/>
              </a:ext>
            </a:extLst>
          </p:cNvPr>
          <p:cNvSpPr txBox="1"/>
          <p:nvPr/>
        </p:nvSpPr>
        <p:spPr>
          <a:xfrm>
            <a:off x="5429077" y="5639730"/>
            <a:ext cx="54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4. </a:t>
            </a:r>
            <a:r>
              <a:rPr lang="en-US" altLang="ko-KR" sz="1600" dirty="0">
                <a:solidFill>
                  <a:srgbClr val="71555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BRONZE </a:t>
            </a:r>
            <a:r>
              <a:rPr lang="ko-KR" altLang="en-US" sz="1600" dirty="0">
                <a:solidFill>
                  <a:srgbClr val="71555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등급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상위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60% ~ 80% 1372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명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1,480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점 이상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4D288A-EB84-F811-7EBC-E78E495F6E63}"/>
              </a:ext>
            </a:extLst>
          </p:cNvPr>
          <p:cNvSpPr txBox="1"/>
          <p:nvPr/>
        </p:nvSpPr>
        <p:spPr>
          <a:xfrm>
            <a:off x="5429076" y="6067459"/>
            <a:ext cx="54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5. </a:t>
            </a:r>
            <a:r>
              <a:rPr lang="en-US" altLang="ko-KR" sz="1600" dirty="0">
                <a:solidFill>
                  <a:srgbClr val="392B2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REGULAR </a:t>
            </a:r>
            <a:r>
              <a:rPr lang="ko-KR" altLang="en-US" sz="1600" dirty="0">
                <a:solidFill>
                  <a:srgbClr val="392B2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등급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하위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20%(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이탈 </a:t>
            </a:r>
            <a:r>
              <a:rPr lang="ko-KR" altLang="en-US" sz="16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위험군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 1373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명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0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점 이상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0BFEB0F-6CA7-1FAA-6420-BD944194F0E8}"/>
              </a:ext>
            </a:extLst>
          </p:cNvPr>
          <p:cNvSpPr/>
          <p:nvPr/>
        </p:nvSpPr>
        <p:spPr>
          <a:xfrm>
            <a:off x="523275" y="3715008"/>
            <a:ext cx="4604537" cy="2875364"/>
          </a:xfrm>
          <a:prstGeom prst="roundRect">
            <a:avLst>
              <a:gd name="adj" fmla="val 3453"/>
            </a:avLst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17" dirty="0">
              <a:solidFill>
                <a:srgbClr val="B96B6B"/>
              </a:solidFill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392752E-A030-CC55-A7C3-0AB5150DC283}"/>
              </a:ext>
            </a:extLst>
          </p:cNvPr>
          <p:cNvSpPr/>
          <p:nvPr/>
        </p:nvSpPr>
        <p:spPr>
          <a:xfrm>
            <a:off x="5293360" y="3715008"/>
            <a:ext cx="6375367" cy="2875364"/>
          </a:xfrm>
          <a:prstGeom prst="roundRect">
            <a:avLst>
              <a:gd name="adj" fmla="val 3453"/>
            </a:avLst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17" dirty="0">
              <a:solidFill>
                <a:srgbClr val="B96B6B"/>
              </a:solidFill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C35ADC1-581C-2AE2-CD0E-0B3D04AB19DC}"/>
              </a:ext>
            </a:extLst>
          </p:cNvPr>
          <p:cNvGrpSpPr/>
          <p:nvPr/>
        </p:nvGrpSpPr>
        <p:grpSpPr>
          <a:xfrm>
            <a:off x="510330" y="3699857"/>
            <a:ext cx="1702800" cy="403394"/>
            <a:chOff x="808566" y="891998"/>
            <a:chExt cx="1392767" cy="403394"/>
          </a:xfrm>
        </p:grpSpPr>
        <p:sp>
          <p:nvSpPr>
            <p:cNvPr id="30" name="사각형: 둥근 한쪽 모서리 29">
              <a:extLst>
                <a:ext uri="{FF2B5EF4-FFF2-40B4-BE49-F238E27FC236}">
                  <a16:creationId xmlns:a16="http://schemas.microsoft.com/office/drawing/2014/main" id="{E1DE4FAC-BD65-E1F5-DC6C-338D0014B38D}"/>
                </a:ext>
              </a:extLst>
            </p:cNvPr>
            <p:cNvSpPr/>
            <p:nvPr/>
          </p:nvSpPr>
          <p:spPr>
            <a:xfrm flipV="1">
              <a:off x="808566" y="892612"/>
              <a:ext cx="1392767" cy="402167"/>
            </a:xfrm>
            <a:prstGeom prst="round1Rect">
              <a:avLst>
                <a:gd name="adj" fmla="val 50000"/>
              </a:avLst>
            </a:prstGeom>
            <a:solidFill>
              <a:srgbClr val="0E46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31C566A3-AFCF-8B62-578E-1FF1AE83BEF6}"/>
                </a:ext>
              </a:extLst>
            </p:cNvPr>
            <p:cNvSpPr/>
            <p:nvPr/>
          </p:nvSpPr>
          <p:spPr>
            <a:xfrm>
              <a:off x="887332" y="891998"/>
              <a:ext cx="1235235" cy="40339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수식 설명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E1CD78B0-5DAE-5B9F-39AE-67A1250614FA}"/>
              </a:ext>
            </a:extLst>
          </p:cNvPr>
          <p:cNvGrpSpPr/>
          <p:nvPr/>
        </p:nvGrpSpPr>
        <p:grpSpPr>
          <a:xfrm>
            <a:off x="5281912" y="3699857"/>
            <a:ext cx="2078865" cy="403394"/>
            <a:chOff x="808566" y="891998"/>
            <a:chExt cx="1392767" cy="403394"/>
          </a:xfrm>
        </p:grpSpPr>
        <p:sp>
          <p:nvSpPr>
            <p:cNvPr id="33" name="사각형: 둥근 한쪽 모서리 32">
              <a:extLst>
                <a:ext uri="{FF2B5EF4-FFF2-40B4-BE49-F238E27FC236}">
                  <a16:creationId xmlns:a16="http://schemas.microsoft.com/office/drawing/2014/main" id="{C9936DD4-525D-A2C2-0DE1-1FC35FB52F09}"/>
                </a:ext>
              </a:extLst>
            </p:cNvPr>
            <p:cNvSpPr/>
            <p:nvPr/>
          </p:nvSpPr>
          <p:spPr>
            <a:xfrm flipV="1">
              <a:off x="808566" y="892612"/>
              <a:ext cx="1392767" cy="402167"/>
            </a:xfrm>
            <a:prstGeom prst="round1Rect">
              <a:avLst>
                <a:gd name="adj" fmla="val 50000"/>
              </a:avLst>
            </a:prstGeom>
            <a:solidFill>
              <a:srgbClr val="0E46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47AC1830-8729-076A-2AF1-9C97A6A4BE8D}"/>
                </a:ext>
              </a:extLst>
            </p:cNvPr>
            <p:cNvSpPr/>
            <p:nvPr/>
          </p:nvSpPr>
          <p:spPr>
            <a:xfrm>
              <a:off x="887332" y="891998"/>
              <a:ext cx="1235235" cy="40339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LTV 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기반 고객등급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A444FAF-1B5F-2A18-F8B6-58E8E741EF12}"/>
              </a:ext>
            </a:extLst>
          </p:cNvPr>
          <p:cNvGrpSpPr/>
          <p:nvPr/>
        </p:nvGrpSpPr>
        <p:grpSpPr>
          <a:xfrm>
            <a:off x="510330" y="699473"/>
            <a:ext cx="11158397" cy="1399406"/>
            <a:chOff x="510330" y="683394"/>
            <a:chExt cx="11158397" cy="1399406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FE6F08B3-B1CB-CCB3-B66B-032434DB12FC}"/>
                </a:ext>
              </a:extLst>
            </p:cNvPr>
            <p:cNvSpPr/>
            <p:nvPr/>
          </p:nvSpPr>
          <p:spPr>
            <a:xfrm>
              <a:off x="523274" y="683394"/>
              <a:ext cx="11145453" cy="1399406"/>
            </a:xfrm>
            <a:prstGeom prst="roundRect">
              <a:avLst>
                <a:gd name="adj" fmla="val 10713"/>
              </a:avLst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17" dirty="0">
                <a:solidFill>
                  <a:srgbClr val="B96B6B"/>
                </a:solidFill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664CB80C-86B3-0BCB-AAFC-B7C5EBCB8424}"/>
                </a:ext>
              </a:extLst>
            </p:cNvPr>
            <p:cNvGrpSpPr/>
            <p:nvPr/>
          </p:nvGrpSpPr>
          <p:grpSpPr>
            <a:xfrm>
              <a:off x="510330" y="683394"/>
              <a:ext cx="1702800" cy="403394"/>
              <a:chOff x="808566" y="891998"/>
              <a:chExt cx="1392767" cy="403394"/>
            </a:xfrm>
          </p:grpSpPr>
          <p:sp>
            <p:nvSpPr>
              <p:cNvPr id="41" name="사각형: 둥근 한쪽 모서리 40">
                <a:extLst>
                  <a:ext uri="{FF2B5EF4-FFF2-40B4-BE49-F238E27FC236}">
                    <a16:creationId xmlns:a16="http://schemas.microsoft.com/office/drawing/2014/main" id="{49E5CBAA-4F86-8D25-7098-4FA5A5CC4003}"/>
                  </a:ext>
                </a:extLst>
              </p:cNvPr>
              <p:cNvSpPr/>
              <p:nvPr/>
            </p:nvSpPr>
            <p:spPr>
              <a:xfrm flipV="1">
                <a:off x="808566" y="892612"/>
                <a:ext cx="1392767" cy="402167"/>
              </a:xfrm>
              <a:prstGeom prst="round1Rect">
                <a:avLst>
                  <a:gd name="adj" fmla="val 50000"/>
                </a:avLst>
              </a:prstGeom>
              <a:solidFill>
                <a:srgbClr val="0E469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endPara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42" name="사각형: 둥근 모서리 41">
                <a:extLst>
                  <a:ext uri="{FF2B5EF4-FFF2-40B4-BE49-F238E27FC236}">
                    <a16:creationId xmlns:a16="http://schemas.microsoft.com/office/drawing/2014/main" id="{0F5640FD-AA73-DE7A-843B-E06C3DA03B69}"/>
                  </a:ext>
                </a:extLst>
              </p:cNvPr>
              <p:cNvSpPr/>
              <p:nvPr/>
            </p:nvSpPr>
            <p:spPr>
              <a:xfrm>
                <a:off x="887332" y="891998"/>
                <a:ext cx="1235235" cy="403394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LTV </a:t>
                </a:r>
                <a:r>
                  <a:rPr lang="ko-KR" altLang="en-US" sz="16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목적</a:t>
                </a:r>
              </a:p>
            </p:txBody>
          </p: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4F4B5DE-89C4-2ECB-B838-0B78946003A7}"/>
              </a:ext>
            </a:extLst>
          </p:cNvPr>
          <p:cNvSpPr txBox="1"/>
          <p:nvPr/>
        </p:nvSpPr>
        <p:spPr>
          <a:xfrm>
            <a:off x="1060640" y="1500778"/>
            <a:ext cx="100925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목적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고객별 생애 가치를 정밀하게 산정하여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600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이탈 위험이 높은 </a:t>
            </a:r>
            <a:r>
              <a:rPr lang="ko-KR" altLang="en-US" sz="1600" dirty="0" err="1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고가치</a:t>
            </a:r>
            <a:r>
              <a:rPr lang="ko-KR" altLang="en-US" sz="1600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고객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사전에 식별하고 선제적으로 대응하기 위함</a:t>
            </a: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AA1E7F44-23C3-EF83-D54A-9644C236EA2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590712" y="4797899"/>
            <a:ext cx="606016" cy="457482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7E9BADC4-55F1-E846-859B-DCC02D2FBD8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623653" y="5246712"/>
            <a:ext cx="561579" cy="415893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4E8E52EE-A284-1F2C-6CC0-3EB3D8045D6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670366" y="6152403"/>
            <a:ext cx="453769" cy="275364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AD3AB86C-F498-4BBE-CA72-CDC29042AC61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645896" y="5681009"/>
            <a:ext cx="519701" cy="372323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30A52142-5F18-DB13-E693-3FC190B64CAD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580950" y="4325819"/>
            <a:ext cx="685061" cy="542971"/>
          </a:xfrm>
          <a:prstGeom prst="rect">
            <a:avLst/>
          </a:prstGeom>
        </p:spPr>
      </p:pic>
      <p:grpSp>
        <p:nvGrpSpPr>
          <p:cNvPr id="59" name="그룹 58">
            <a:extLst>
              <a:ext uri="{FF2B5EF4-FFF2-40B4-BE49-F238E27FC236}">
                <a16:creationId xmlns:a16="http://schemas.microsoft.com/office/drawing/2014/main" id="{ED1692C0-012E-7D31-0129-393A23F880AB}"/>
              </a:ext>
            </a:extLst>
          </p:cNvPr>
          <p:cNvGrpSpPr/>
          <p:nvPr/>
        </p:nvGrpSpPr>
        <p:grpSpPr>
          <a:xfrm>
            <a:off x="564254" y="7020382"/>
            <a:ext cx="2372123" cy="1323439"/>
            <a:chOff x="890220" y="6669015"/>
            <a:chExt cx="2372123" cy="1323439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64E40D1-580F-E372-9FAA-1040599EC63B}"/>
                </a:ext>
              </a:extLst>
            </p:cNvPr>
            <p:cNvSpPr txBox="1"/>
            <p:nvPr/>
          </p:nvSpPr>
          <p:spPr>
            <a:xfrm>
              <a:off x="890220" y="6669015"/>
              <a:ext cx="6480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000" dirty="0">
                  <a:solidFill>
                    <a:srgbClr val="392B29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REGULAR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73EAA7B-C7A0-CF5D-A8CA-11E9E7BE800A}"/>
                </a:ext>
              </a:extLst>
            </p:cNvPr>
            <p:cNvSpPr txBox="1"/>
            <p:nvPr/>
          </p:nvSpPr>
          <p:spPr>
            <a:xfrm>
              <a:off x="1338713" y="6669015"/>
              <a:ext cx="6480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altLang="ko-KR" sz="2000" dirty="0">
                  <a:solidFill>
                    <a:srgbClr val="71555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BRONZE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5A0BDD0-7B49-B808-81ED-CEFEEF8BF760}"/>
                </a:ext>
              </a:extLst>
            </p:cNvPr>
            <p:cNvSpPr txBox="1"/>
            <p:nvPr/>
          </p:nvSpPr>
          <p:spPr>
            <a:xfrm>
              <a:off x="1761806" y="6669015"/>
              <a:ext cx="6480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altLang="ko-KR" sz="2000" dirty="0">
                  <a:solidFill>
                    <a:srgbClr val="8D9FC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SILVER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486453E-1D19-1729-5EEB-93CC0F968DCC}"/>
                </a:ext>
              </a:extLst>
            </p:cNvPr>
            <p:cNvSpPr txBox="1"/>
            <p:nvPr/>
          </p:nvSpPr>
          <p:spPr>
            <a:xfrm>
              <a:off x="2188074" y="6669015"/>
              <a:ext cx="648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altLang="ko-KR" sz="2000" dirty="0">
                  <a:solidFill>
                    <a:srgbClr val="744E2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GOLD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B813A3E-E9C7-3DAF-9FF0-324ED6BE49C1}"/>
                </a:ext>
              </a:extLst>
            </p:cNvPr>
            <p:cNvSpPr txBox="1"/>
            <p:nvPr/>
          </p:nvSpPr>
          <p:spPr>
            <a:xfrm>
              <a:off x="2614343" y="6669015"/>
              <a:ext cx="648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altLang="ko-KR" sz="2000" dirty="0">
                  <a:solidFill>
                    <a:srgbClr val="1A448E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VIP</a:t>
              </a: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4DD49AD0-A5E0-6D3C-3E9E-BC1B53C9E091}"/>
              </a:ext>
            </a:extLst>
          </p:cNvPr>
          <p:cNvGrpSpPr/>
          <p:nvPr/>
        </p:nvGrpSpPr>
        <p:grpSpPr>
          <a:xfrm>
            <a:off x="4163609" y="848742"/>
            <a:ext cx="3864782" cy="382555"/>
            <a:chOff x="3833561" y="848742"/>
            <a:chExt cx="3864782" cy="382555"/>
          </a:xfrm>
        </p:grpSpPr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966774BF-D339-6C76-4EDC-4964D72408CF}"/>
                </a:ext>
              </a:extLst>
            </p:cNvPr>
            <p:cNvGrpSpPr/>
            <p:nvPr/>
          </p:nvGrpSpPr>
          <p:grpSpPr>
            <a:xfrm>
              <a:off x="3833561" y="853363"/>
              <a:ext cx="1035588" cy="362941"/>
              <a:chOff x="1783395" y="853363"/>
              <a:chExt cx="1035588" cy="362941"/>
            </a:xfrm>
          </p:grpSpPr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F7FDDD4E-C425-EDD1-2720-8076BFAAE790}"/>
                  </a:ext>
                </a:extLst>
              </p:cNvPr>
              <p:cNvSpPr/>
              <p:nvPr/>
            </p:nvSpPr>
            <p:spPr>
              <a:xfrm>
                <a:off x="1783395" y="853363"/>
                <a:ext cx="1035588" cy="362941"/>
              </a:xfrm>
              <a:prstGeom prst="roundRect">
                <a:avLst>
                  <a:gd name="adj" fmla="val 34028"/>
                </a:avLst>
              </a:prstGeom>
              <a:solidFill>
                <a:srgbClr val="D9E6F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A957AC1-B74D-7292-1CD2-D397634D51ED}"/>
                  </a:ext>
                </a:extLst>
              </p:cNvPr>
              <p:cNvSpPr txBox="1"/>
              <p:nvPr/>
            </p:nvSpPr>
            <p:spPr>
              <a:xfrm>
                <a:off x="1842162" y="865556"/>
                <a:ext cx="918055" cy="338554"/>
              </a:xfrm>
              <a:prstGeom prst="rect">
                <a:avLst/>
              </a:prstGeom>
              <a:solidFill>
                <a:srgbClr val="D9E6F6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600" dirty="0">
                    <a:solidFill>
                      <a:srgbClr val="0022C3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LTV</a:t>
                </a:r>
                <a:endParaRPr lang="ko-KR" altLang="en-US" sz="14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</p:grpSp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C33AD6CC-2538-1386-B128-2622646C6C60}"/>
                </a:ext>
              </a:extLst>
            </p:cNvPr>
            <p:cNvGrpSpPr/>
            <p:nvPr/>
          </p:nvGrpSpPr>
          <p:grpSpPr>
            <a:xfrm>
              <a:off x="5254755" y="853363"/>
              <a:ext cx="2443588" cy="362941"/>
              <a:chOff x="1783395" y="853363"/>
              <a:chExt cx="1035588" cy="362941"/>
            </a:xfrm>
          </p:grpSpPr>
          <p:sp>
            <p:nvSpPr>
              <p:cNvPr id="70" name="사각형: 둥근 모서리 69">
                <a:extLst>
                  <a:ext uri="{FF2B5EF4-FFF2-40B4-BE49-F238E27FC236}">
                    <a16:creationId xmlns:a16="http://schemas.microsoft.com/office/drawing/2014/main" id="{EB6DFCC1-235B-C838-7BED-1BC37959129D}"/>
                  </a:ext>
                </a:extLst>
              </p:cNvPr>
              <p:cNvSpPr/>
              <p:nvPr/>
            </p:nvSpPr>
            <p:spPr>
              <a:xfrm>
                <a:off x="1783395" y="853363"/>
                <a:ext cx="1035588" cy="362941"/>
              </a:xfrm>
              <a:prstGeom prst="roundRect">
                <a:avLst>
                  <a:gd name="adj" fmla="val 34028"/>
                </a:avLst>
              </a:prstGeom>
              <a:solidFill>
                <a:srgbClr val="D9E6F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7B76069-0587-378D-2B66-B869E5584D6B}"/>
                  </a:ext>
                </a:extLst>
              </p:cNvPr>
              <p:cNvSpPr txBox="1"/>
              <p:nvPr/>
            </p:nvSpPr>
            <p:spPr>
              <a:xfrm>
                <a:off x="1842162" y="865556"/>
                <a:ext cx="918055" cy="338554"/>
              </a:xfrm>
              <a:prstGeom prst="rect">
                <a:avLst/>
              </a:prstGeom>
              <a:solidFill>
                <a:srgbClr val="D9E6F6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600" dirty="0" err="1">
                    <a:solidFill>
                      <a:srgbClr val="0022C3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L</a:t>
                </a:r>
                <a:r>
                  <a:rPr lang="en-US" altLang="ko-KR" sz="16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ife</a:t>
                </a:r>
                <a:r>
                  <a:rPr lang="en-US" altLang="ko-KR" sz="1600" dirty="0" err="1">
                    <a:solidFill>
                      <a:srgbClr val="0022C3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T</a:t>
                </a:r>
                <a:r>
                  <a:rPr lang="en-US" altLang="ko-KR" sz="16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ime</a:t>
                </a:r>
                <a:r>
                  <a:rPr lang="en-US" altLang="ko-KR" sz="1600" dirty="0">
                    <a:solidFill>
                      <a:srgbClr val="0022C3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 V</a:t>
                </a:r>
                <a:r>
                  <a:rPr lang="en-US" altLang="ko-K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alue</a:t>
                </a:r>
                <a:endPara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</p:grpSp>
        <p:pic>
          <p:nvPicPr>
            <p:cNvPr id="72" name="그래픽 71" descr="갈매기형 화살표 단색으로 채워진">
              <a:extLst>
                <a:ext uri="{FF2B5EF4-FFF2-40B4-BE49-F238E27FC236}">
                  <a16:creationId xmlns:a16="http://schemas.microsoft.com/office/drawing/2014/main" id="{0518A82F-165E-76A8-264C-88C144BAE4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860777" y="848742"/>
              <a:ext cx="382555" cy="3825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6062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B2A1C9-231B-F57F-0610-E806B818BE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분석결과 </a:t>
            </a:r>
            <a:r>
              <a:rPr lang="en-US" altLang="ko-KR" sz="2000" dirty="0"/>
              <a:t>_LTV </a:t>
            </a:r>
            <a:r>
              <a:rPr lang="ko-KR" altLang="en-US" sz="2000" dirty="0"/>
              <a:t>모델 개선 결과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BECB77-504E-75A9-A4F2-F2B69A1CD287}"/>
              </a:ext>
            </a:extLst>
          </p:cNvPr>
          <p:cNvPicPr>
            <a:picLocks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5300" y="1951177"/>
            <a:ext cx="7411571" cy="1730141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988D808-ED2E-39B2-C122-8DB1AD71808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77520" y="4619323"/>
            <a:ext cx="7427245" cy="1847517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14C55B0-5897-1BBC-21B6-BC87612466AF}"/>
              </a:ext>
            </a:extLst>
          </p:cNvPr>
          <p:cNvSpPr/>
          <p:nvPr/>
        </p:nvSpPr>
        <p:spPr>
          <a:xfrm>
            <a:off x="502519" y="1525494"/>
            <a:ext cx="7637567" cy="2476500"/>
          </a:xfrm>
          <a:prstGeom prst="roundRect">
            <a:avLst>
              <a:gd name="adj" fmla="val 3453"/>
            </a:avLst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17" dirty="0">
              <a:solidFill>
                <a:srgbClr val="B96B6B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82F6F64-583A-6E1A-DFE1-54A9BFFB2E24}"/>
              </a:ext>
            </a:extLst>
          </p:cNvPr>
          <p:cNvSpPr/>
          <p:nvPr/>
        </p:nvSpPr>
        <p:spPr>
          <a:xfrm>
            <a:off x="502519" y="4175026"/>
            <a:ext cx="7637567" cy="2476800"/>
          </a:xfrm>
          <a:prstGeom prst="roundRect">
            <a:avLst>
              <a:gd name="adj" fmla="val 3453"/>
            </a:avLst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17" dirty="0">
              <a:solidFill>
                <a:srgbClr val="B96B6B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D563171-AD41-D853-16FE-F0633DA92533}"/>
              </a:ext>
            </a:extLst>
          </p:cNvPr>
          <p:cNvGrpSpPr/>
          <p:nvPr/>
        </p:nvGrpSpPr>
        <p:grpSpPr>
          <a:xfrm>
            <a:off x="502519" y="1525395"/>
            <a:ext cx="1407273" cy="403394"/>
            <a:chOff x="808566" y="891998"/>
            <a:chExt cx="1392767" cy="403394"/>
          </a:xfrm>
        </p:grpSpPr>
        <p:sp>
          <p:nvSpPr>
            <p:cNvPr id="8" name="사각형: 둥근 한쪽 모서리 7">
              <a:extLst>
                <a:ext uri="{FF2B5EF4-FFF2-40B4-BE49-F238E27FC236}">
                  <a16:creationId xmlns:a16="http://schemas.microsoft.com/office/drawing/2014/main" id="{20A60BC7-0B40-7724-2BEB-270708C5D91D}"/>
                </a:ext>
              </a:extLst>
            </p:cNvPr>
            <p:cNvSpPr/>
            <p:nvPr/>
          </p:nvSpPr>
          <p:spPr>
            <a:xfrm flipV="1">
              <a:off x="808566" y="892612"/>
              <a:ext cx="1392767" cy="402167"/>
            </a:xfrm>
            <a:prstGeom prst="round1Rect">
              <a:avLst>
                <a:gd name="adj" fmla="val 50000"/>
              </a:avLst>
            </a:prstGeom>
            <a:solidFill>
              <a:srgbClr val="0E46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05C51354-2613-51F4-7299-B360C1005DD2}"/>
                </a:ext>
              </a:extLst>
            </p:cNvPr>
            <p:cNvSpPr/>
            <p:nvPr/>
          </p:nvSpPr>
          <p:spPr>
            <a:xfrm>
              <a:off x="994522" y="891998"/>
              <a:ext cx="1020855" cy="40339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개선 전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3F0260E-BA75-C6E6-510A-7EC465B6A140}"/>
              </a:ext>
            </a:extLst>
          </p:cNvPr>
          <p:cNvGrpSpPr/>
          <p:nvPr/>
        </p:nvGrpSpPr>
        <p:grpSpPr>
          <a:xfrm>
            <a:off x="502519" y="4175026"/>
            <a:ext cx="1407273" cy="403394"/>
            <a:chOff x="808566" y="891998"/>
            <a:chExt cx="1392767" cy="403394"/>
          </a:xfrm>
        </p:grpSpPr>
        <p:sp>
          <p:nvSpPr>
            <p:cNvPr id="13" name="사각형: 둥근 한쪽 모서리 12">
              <a:extLst>
                <a:ext uri="{FF2B5EF4-FFF2-40B4-BE49-F238E27FC236}">
                  <a16:creationId xmlns:a16="http://schemas.microsoft.com/office/drawing/2014/main" id="{D98D3F80-CF83-A82E-1768-43336FC8D2A1}"/>
                </a:ext>
              </a:extLst>
            </p:cNvPr>
            <p:cNvSpPr/>
            <p:nvPr/>
          </p:nvSpPr>
          <p:spPr>
            <a:xfrm flipV="1">
              <a:off x="808566" y="892612"/>
              <a:ext cx="1392767" cy="402167"/>
            </a:xfrm>
            <a:prstGeom prst="round1Rect">
              <a:avLst>
                <a:gd name="adj" fmla="val 50000"/>
              </a:avLst>
            </a:prstGeom>
            <a:solidFill>
              <a:srgbClr val="0E46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3942A446-3DD7-9E1C-0C79-4D175DC0AFA8}"/>
                </a:ext>
              </a:extLst>
            </p:cNvPr>
            <p:cNvSpPr/>
            <p:nvPr/>
          </p:nvSpPr>
          <p:spPr>
            <a:xfrm>
              <a:off x="994522" y="891998"/>
              <a:ext cx="1020855" cy="40339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개선 후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CB1621E-9645-ACEC-5182-F3EFB8A89950}"/>
              </a:ext>
            </a:extLst>
          </p:cNvPr>
          <p:cNvGrpSpPr/>
          <p:nvPr/>
        </p:nvGrpSpPr>
        <p:grpSpPr>
          <a:xfrm>
            <a:off x="1783395" y="844770"/>
            <a:ext cx="1035588" cy="362941"/>
            <a:chOff x="2193171" y="-774977"/>
            <a:chExt cx="1035588" cy="362941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30A00455-EE53-4504-E768-A06042CF32BA}"/>
                </a:ext>
              </a:extLst>
            </p:cNvPr>
            <p:cNvSpPr/>
            <p:nvPr/>
          </p:nvSpPr>
          <p:spPr>
            <a:xfrm>
              <a:off x="2193171" y="-774977"/>
              <a:ext cx="1035588" cy="362941"/>
            </a:xfrm>
            <a:prstGeom prst="roundRect">
              <a:avLst>
                <a:gd name="adj" fmla="val 34028"/>
              </a:avLst>
            </a:prstGeom>
            <a:solidFill>
              <a:srgbClr val="D9E6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A0C5CF7-C788-3205-B1E0-3D7FD452EF85}"/>
                </a:ext>
              </a:extLst>
            </p:cNvPr>
            <p:cNvSpPr txBox="1"/>
            <p:nvPr/>
          </p:nvSpPr>
          <p:spPr>
            <a:xfrm>
              <a:off x="2251938" y="-733405"/>
              <a:ext cx="918055" cy="279797"/>
            </a:xfrm>
            <a:prstGeom prst="rect">
              <a:avLst/>
            </a:prstGeom>
            <a:solidFill>
              <a:srgbClr val="D9E6F6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LTV</a:t>
              </a:r>
              <a:r>
                <a:rPr lang="ko-KR" altLang="en-US" sz="14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등급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1762CEF2-45D3-09B6-36D0-C2B31F648695}"/>
              </a:ext>
            </a:extLst>
          </p:cNvPr>
          <p:cNvGrpSpPr/>
          <p:nvPr/>
        </p:nvGrpSpPr>
        <p:grpSpPr>
          <a:xfrm>
            <a:off x="3539404" y="844770"/>
            <a:ext cx="1035588" cy="362941"/>
            <a:chOff x="3434830" y="-774977"/>
            <a:chExt cx="1035588" cy="362941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455200B3-97D7-A703-0A40-6EB9EFBBACB1}"/>
                </a:ext>
              </a:extLst>
            </p:cNvPr>
            <p:cNvSpPr/>
            <p:nvPr/>
          </p:nvSpPr>
          <p:spPr>
            <a:xfrm>
              <a:off x="3434830" y="-774977"/>
              <a:ext cx="1035588" cy="362941"/>
            </a:xfrm>
            <a:prstGeom prst="roundRect">
              <a:avLst>
                <a:gd name="adj" fmla="val 34028"/>
              </a:avLst>
            </a:prstGeom>
            <a:solidFill>
              <a:srgbClr val="D9E6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71845C2-315C-C49B-35E0-FBA4ECAB548C}"/>
                </a:ext>
              </a:extLst>
            </p:cNvPr>
            <p:cNvSpPr txBox="1"/>
            <p:nvPr/>
          </p:nvSpPr>
          <p:spPr>
            <a:xfrm>
              <a:off x="3493597" y="-733405"/>
              <a:ext cx="918055" cy="279797"/>
            </a:xfrm>
            <a:prstGeom prst="rect">
              <a:avLst/>
            </a:prstGeom>
            <a:solidFill>
              <a:srgbClr val="D9E6F6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ARPU</a:t>
              </a:r>
              <a:endParaRPr lang="ko-KR" altLang="en-US" sz="1400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0EAD784-DA9D-76CA-EF16-AE2DC59F225F}"/>
              </a:ext>
            </a:extLst>
          </p:cNvPr>
          <p:cNvGrpSpPr/>
          <p:nvPr/>
        </p:nvGrpSpPr>
        <p:grpSpPr>
          <a:xfrm>
            <a:off x="4660074" y="844770"/>
            <a:ext cx="1035588" cy="362941"/>
            <a:chOff x="4657238" y="-774977"/>
            <a:chExt cx="1035588" cy="362941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35A0341A-7BAE-2409-553F-47C848B741A7}"/>
                </a:ext>
              </a:extLst>
            </p:cNvPr>
            <p:cNvSpPr/>
            <p:nvPr/>
          </p:nvSpPr>
          <p:spPr>
            <a:xfrm>
              <a:off x="4657238" y="-774977"/>
              <a:ext cx="1035588" cy="362941"/>
            </a:xfrm>
            <a:prstGeom prst="roundRect">
              <a:avLst>
                <a:gd name="adj" fmla="val 34028"/>
              </a:avLst>
            </a:prstGeom>
            <a:solidFill>
              <a:srgbClr val="D9E6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202B7D4-AED2-6F1A-155F-7C8913C9CD51}"/>
                </a:ext>
              </a:extLst>
            </p:cNvPr>
            <p:cNvSpPr txBox="1"/>
            <p:nvPr/>
          </p:nvSpPr>
          <p:spPr>
            <a:xfrm>
              <a:off x="4705488" y="-733405"/>
              <a:ext cx="974474" cy="307777"/>
            </a:xfrm>
            <a:prstGeom prst="rect">
              <a:avLst/>
            </a:prstGeom>
            <a:solidFill>
              <a:srgbClr val="D9E6F6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실제이탈률</a:t>
              </a:r>
              <a:endParaRPr lang="ko-KR" altLang="en-US" sz="1400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7346F4A6-0E71-6137-F3A2-87F818767F87}"/>
              </a:ext>
            </a:extLst>
          </p:cNvPr>
          <p:cNvGrpSpPr/>
          <p:nvPr/>
        </p:nvGrpSpPr>
        <p:grpSpPr>
          <a:xfrm>
            <a:off x="5780744" y="844770"/>
            <a:ext cx="1139147" cy="362941"/>
            <a:chOff x="5895245" y="-815047"/>
            <a:chExt cx="1139147" cy="362941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046BF8A-FD6C-3A5C-9BFF-F029C3A4D763}"/>
                </a:ext>
              </a:extLst>
            </p:cNvPr>
            <p:cNvSpPr/>
            <p:nvPr/>
          </p:nvSpPr>
          <p:spPr>
            <a:xfrm>
              <a:off x="5895245" y="-815047"/>
              <a:ext cx="1139147" cy="362941"/>
            </a:xfrm>
            <a:prstGeom prst="roundRect">
              <a:avLst>
                <a:gd name="adj" fmla="val 34028"/>
              </a:avLst>
            </a:prstGeom>
            <a:solidFill>
              <a:srgbClr val="D9E6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A61BF4E-3CDB-0E4D-4982-990F80560954}"/>
                </a:ext>
              </a:extLst>
            </p:cNvPr>
            <p:cNvSpPr txBox="1"/>
            <p:nvPr/>
          </p:nvSpPr>
          <p:spPr>
            <a:xfrm>
              <a:off x="5909395" y="-773475"/>
              <a:ext cx="1110846" cy="279797"/>
            </a:xfrm>
            <a:prstGeom prst="rect">
              <a:avLst/>
            </a:prstGeom>
            <a:solidFill>
              <a:srgbClr val="D9E6F6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평균가입기간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7EC5A3D5-099A-9369-7673-8926271EF8A7}"/>
              </a:ext>
            </a:extLst>
          </p:cNvPr>
          <p:cNvSpPr txBox="1"/>
          <p:nvPr/>
        </p:nvSpPr>
        <p:spPr>
          <a:xfrm>
            <a:off x="2894173" y="872352"/>
            <a:ext cx="570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vs.</a:t>
            </a:r>
            <a:endParaRPr lang="ko-KR" altLang="en-US" sz="14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17E7E3F2-42CC-067F-EE5E-E6A8A77335CF}"/>
              </a:ext>
            </a:extLst>
          </p:cNvPr>
          <p:cNvSpPr/>
          <p:nvPr/>
        </p:nvSpPr>
        <p:spPr>
          <a:xfrm>
            <a:off x="502519" y="710625"/>
            <a:ext cx="7637567" cy="622875"/>
          </a:xfrm>
          <a:prstGeom prst="roundRect">
            <a:avLst>
              <a:gd name="adj" fmla="val 18745"/>
            </a:avLst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17" dirty="0">
              <a:solidFill>
                <a:srgbClr val="B96B6B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9B921B84-05B2-55DD-1691-F14A0B9DFA35}"/>
              </a:ext>
            </a:extLst>
          </p:cNvPr>
          <p:cNvSpPr/>
          <p:nvPr/>
        </p:nvSpPr>
        <p:spPr>
          <a:xfrm>
            <a:off x="8348133" y="710625"/>
            <a:ext cx="3322553" cy="5944175"/>
          </a:xfrm>
          <a:prstGeom prst="roundRect">
            <a:avLst>
              <a:gd name="adj" fmla="val 6004"/>
            </a:avLst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17" dirty="0">
              <a:solidFill>
                <a:srgbClr val="B96B6B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1D560F-88DE-DD10-A2FB-EC612C53D7C0}"/>
              </a:ext>
            </a:extLst>
          </p:cNvPr>
          <p:cNvSpPr txBox="1"/>
          <p:nvPr/>
        </p:nvSpPr>
        <p:spPr>
          <a:xfrm>
            <a:off x="1873933" y="1615283"/>
            <a:ext cx="7419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rPr>
              <a:t>ARPU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_ac Bold" panose="020B0600000101010101" pitchFamily="50" charset="-127"/>
              <a:ea typeface="나눔스퀘어_ac Bold" panose="020B0600000101010101" pitchFamily="50" charset="-127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4711708-976B-14A3-54E7-B83219F2A7F8}"/>
              </a:ext>
            </a:extLst>
          </p:cNvPr>
          <p:cNvSpPr txBox="1"/>
          <p:nvPr/>
        </p:nvSpPr>
        <p:spPr>
          <a:xfrm>
            <a:off x="4198332" y="1615283"/>
            <a:ext cx="7419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rPr>
              <a:t>이탈률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_ac Bold" panose="020B0600000101010101" pitchFamily="50" charset="-127"/>
              <a:ea typeface="나눔스퀘어_ac Bold" panose="020B0600000101010101" pitchFamily="50" charset="-127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0D632A-BABF-6DDD-A997-11BBB9749590}"/>
              </a:ext>
            </a:extLst>
          </p:cNvPr>
          <p:cNvSpPr txBox="1"/>
          <p:nvPr/>
        </p:nvSpPr>
        <p:spPr>
          <a:xfrm>
            <a:off x="6299071" y="1615283"/>
            <a:ext cx="12371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rPr>
              <a:t>평균가입기간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2087E3F-F27F-6531-4BE5-329089F848BD}"/>
              </a:ext>
            </a:extLst>
          </p:cNvPr>
          <p:cNvSpPr txBox="1"/>
          <p:nvPr/>
        </p:nvSpPr>
        <p:spPr>
          <a:xfrm>
            <a:off x="1876473" y="4260469"/>
            <a:ext cx="7419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rPr>
              <a:t>ARPU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_ac Bold" panose="020B0600000101010101" pitchFamily="50" charset="-127"/>
              <a:ea typeface="나눔스퀘어_ac Bold" panose="020B0600000101010101" pitchFamily="50" charset="-127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E68A012-C062-853E-E434-07F66CE8B4F1}"/>
              </a:ext>
            </a:extLst>
          </p:cNvPr>
          <p:cNvSpPr txBox="1"/>
          <p:nvPr/>
        </p:nvSpPr>
        <p:spPr>
          <a:xfrm>
            <a:off x="4198332" y="4260469"/>
            <a:ext cx="7419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rPr>
              <a:t>이탈률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_ac Bold" panose="020B0600000101010101" pitchFamily="50" charset="-127"/>
              <a:ea typeface="나눔스퀘어_ac Bold" panose="020B0600000101010101" pitchFamily="50" charset="-127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A7901D2-C5AF-8B6C-517C-897B1A06187A}"/>
              </a:ext>
            </a:extLst>
          </p:cNvPr>
          <p:cNvSpPr txBox="1"/>
          <p:nvPr/>
        </p:nvSpPr>
        <p:spPr>
          <a:xfrm>
            <a:off x="6299071" y="4260469"/>
            <a:ext cx="12371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rPr>
              <a:t>평균가입기간</a:t>
            </a:r>
          </a:p>
        </p:txBody>
      </p:sp>
      <p:sp>
        <p:nvSpPr>
          <p:cNvPr id="25" name="슬라이드 번호 개체 틀 24">
            <a:extLst>
              <a:ext uri="{FF2B5EF4-FFF2-40B4-BE49-F238E27FC236}">
                <a16:creationId xmlns:a16="http://schemas.microsoft.com/office/drawing/2014/main" id="{155521B1-A0D4-C9AC-93F9-9333808843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24E44EA-8BB9-4356-A6E2-F3B626433E95}" type="slidenum">
              <a:rPr lang="ko-KR" altLang="en-US" smtClean="0"/>
              <a:pPr/>
              <a:t>12</a:t>
            </a:fld>
            <a:endParaRPr lang="ko-KR" altLang="en-US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F2C900A-FF29-EC8B-EF2A-F8C39C6B11D2}"/>
              </a:ext>
            </a:extLst>
          </p:cNvPr>
          <p:cNvGrpSpPr/>
          <p:nvPr/>
        </p:nvGrpSpPr>
        <p:grpSpPr>
          <a:xfrm>
            <a:off x="797087" y="6448882"/>
            <a:ext cx="2372123" cy="215444"/>
            <a:chOff x="890220" y="6669015"/>
            <a:chExt cx="2372123" cy="21544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16A811F-7E40-21B3-FEB2-24489616BDEF}"/>
                </a:ext>
              </a:extLst>
            </p:cNvPr>
            <p:cNvSpPr txBox="1"/>
            <p:nvPr/>
          </p:nvSpPr>
          <p:spPr>
            <a:xfrm>
              <a:off x="890220" y="6669015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>
                  <a:solidFill>
                    <a:srgbClr val="392B29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REGULAR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FC14E7C-5CE3-0216-82AB-4767672DBB5A}"/>
                </a:ext>
              </a:extLst>
            </p:cNvPr>
            <p:cNvSpPr txBox="1"/>
            <p:nvPr/>
          </p:nvSpPr>
          <p:spPr>
            <a:xfrm>
              <a:off x="1338713" y="6669015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altLang="ko-KR" sz="800" dirty="0">
                  <a:solidFill>
                    <a:srgbClr val="71555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BRONZE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E879823-669C-269B-6AEE-3A7E23059A3C}"/>
                </a:ext>
              </a:extLst>
            </p:cNvPr>
            <p:cNvSpPr txBox="1"/>
            <p:nvPr/>
          </p:nvSpPr>
          <p:spPr>
            <a:xfrm>
              <a:off x="1761806" y="6669015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altLang="ko-KR" sz="800" dirty="0">
                  <a:solidFill>
                    <a:srgbClr val="8D9FC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SILVER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D517079-89B0-3B41-4007-C665E312139F}"/>
                </a:ext>
              </a:extLst>
            </p:cNvPr>
            <p:cNvSpPr txBox="1"/>
            <p:nvPr/>
          </p:nvSpPr>
          <p:spPr>
            <a:xfrm>
              <a:off x="2188074" y="6669015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altLang="ko-KR" sz="800" dirty="0">
                  <a:solidFill>
                    <a:srgbClr val="744E2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GOLD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D2FCA46-93A6-4DD8-4A72-297D57FD8694}"/>
                </a:ext>
              </a:extLst>
            </p:cNvPr>
            <p:cNvSpPr txBox="1"/>
            <p:nvPr/>
          </p:nvSpPr>
          <p:spPr>
            <a:xfrm>
              <a:off x="2614343" y="6669015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altLang="ko-KR" sz="800" dirty="0">
                  <a:solidFill>
                    <a:srgbClr val="1A448E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VIP</a:t>
              </a: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D899DDA7-0B9D-1583-2E4B-3CC1E0E7F91D}"/>
              </a:ext>
            </a:extLst>
          </p:cNvPr>
          <p:cNvGrpSpPr/>
          <p:nvPr/>
        </p:nvGrpSpPr>
        <p:grpSpPr>
          <a:xfrm>
            <a:off x="3222787" y="6448882"/>
            <a:ext cx="2372123" cy="215444"/>
            <a:chOff x="890220" y="6669015"/>
            <a:chExt cx="2372123" cy="215444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6AE3123-31BE-6F84-DE57-14F67C7D04B2}"/>
                </a:ext>
              </a:extLst>
            </p:cNvPr>
            <p:cNvSpPr txBox="1"/>
            <p:nvPr/>
          </p:nvSpPr>
          <p:spPr>
            <a:xfrm>
              <a:off x="890220" y="6669015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>
                  <a:solidFill>
                    <a:srgbClr val="392B29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REGULAR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3A74231-8CB9-0A88-A7C8-061685157376}"/>
                </a:ext>
              </a:extLst>
            </p:cNvPr>
            <p:cNvSpPr txBox="1"/>
            <p:nvPr/>
          </p:nvSpPr>
          <p:spPr>
            <a:xfrm>
              <a:off x="1338713" y="6669015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altLang="ko-KR" sz="800" dirty="0">
                  <a:solidFill>
                    <a:srgbClr val="71555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BRONZE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75C6799-61ED-33CA-39B1-88BD24CA7567}"/>
                </a:ext>
              </a:extLst>
            </p:cNvPr>
            <p:cNvSpPr txBox="1"/>
            <p:nvPr/>
          </p:nvSpPr>
          <p:spPr>
            <a:xfrm>
              <a:off x="1761806" y="6669015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altLang="ko-KR" sz="800" dirty="0">
                  <a:solidFill>
                    <a:srgbClr val="8D9FC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SILVER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558D6FD-C7A3-0236-D22D-B4C8A6985B24}"/>
                </a:ext>
              </a:extLst>
            </p:cNvPr>
            <p:cNvSpPr txBox="1"/>
            <p:nvPr/>
          </p:nvSpPr>
          <p:spPr>
            <a:xfrm>
              <a:off x="2188074" y="6669015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altLang="ko-KR" sz="800" dirty="0">
                  <a:solidFill>
                    <a:srgbClr val="744E2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GOLD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627F391-6B5B-24D7-F2AC-D8F22F9ABE05}"/>
                </a:ext>
              </a:extLst>
            </p:cNvPr>
            <p:cNvSpPr txBox="1"/>
            <p:nvPr/>
          </p:nvSpPr>
          <p:spPr>
            <a:xfrm>
              <a:off x="2614343" y="6669015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altLang="ko-KR" sz="800" dirty="0">
                  <a:solidFill>
                    <a:srgbClr val="1A448E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VIP</a:t>
              </a: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04D2C6AC-C0D6-A583-65CA-68A946787B43}"/>
              </a:ext>
            </a:extLst>
          </p:cNvPr>
          <p:cNvGrpSpPr/>
          <p:nvPr/>
        </p:nvGrpSpPr>
        <p:grpSpPr>
          <a:xfrm>
            <a:off x="5635787" y="6448882"/>
            <a:ext cx="2372123" cy="215444"/>
            <a:chOff x="890220" y="6669015"/>
            <a:chExt cx="2372123" cy="215444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156B35B-D075-2E2F-1F0C-D167589BB3ED}"/>
                </a:ext>
              </a:extLst>
            </p:cNvPr>
            <p:cNvSpPr txBox="1"/>
            <p:nvPr/>
          </p:nvSpPr>
          <p:spPr>
            <a:xfrm>
              <a:off x="890220" y="6669015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>
                  <a:solidFill>
                    <a:srgbClr val="392B29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REGULAR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AA96D29-6DC0-A75A-0529-8B874A2FF683}"/>
                </a:ext>
              </a:extLst>
            </p:cNvPr>
            <p:cNvSpPr txBox="1"/>
            <p:nvPr/>
          </p:nvSpPr>
          <p:spPr>
            <a:xfrm>
              <a:off x="1338713" y="6669015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altLang="ko-KR" sz="800" dirty="0">
                  <a:solidFill>
                    <a:srgbClr val="71555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BRONZE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072BF03-7AED-7A59-F3CC-7A426663E281}"/>
                </a:ext>
              </a:extLst>
            </p:cNvPr>
            <p:cNvSpPr txBox="1"/>
            <p:nvPr/>
          </p:nvSpPr>
          <p:spPr>
            <a:xfrm>
              <a:off x="1761806" y="6669015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altLang="ko-KR" sz="800" dirty="0">
                  <a:solidFill>
                    <a:srgbClr val="8D9FC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SILVER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E9FCAF9-178F-7DE4-D11F-B28042F37AA5}"/>
                </a:ext>
              </a:extLst>
            </p:cNvPr>
            <p:cNvSpPr txBox="1"/>
            <p:nvPr/>
          </p:nvSpPr>
          <p:spPr>
            <a:xfrm>
              <a:off x="2188074" y="6669015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altLang="ko-KR" sz="800" dirty="0">
                  <a:solidFill>
                    <a:srgbClr val="744E2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GOLD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0316A22-E768-9AC1-A602-0C723665153B}"/>
                </a:ext>
              </a:extLst>
            </p:cNvPr>
            <p:cNvSpPr txBox="1"/>
            <p:nvPr/>
          </p:nvSpPr>
          <p:spPr>
            <a:xfrm>
              <a:off x="2614343" y="6669015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altLang="ko-KR" sz="800" dirty="0">
                  <a:solidFill>
                    <a:srgbClr val="1A448E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VIP</a:t>
              </a:r>
            </a:p>
          </p:txBody>
        </p: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16288E1A-33F2-0F6E-1F4F-B11E563B7F31}"/>
              </a:ext>
            </a:extLst>
          </p:cNvPr>
          <p:cNvGrpSpPr/>
          <p:nvPr/>
        </p:nvGrpSpPr>
        <p:grpSpPr>
          <a:xfrm>
            <a:off x="797087" y="3669075"/>
            <a:ext cx="2372123" cy="215444"/>
            <a:chOff x="949487" y="3642182"/>
            <a:chExt cx="2372123" cy="215444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0B1D7D8-AADC-CBA9-646A-5EB28487837C}"/>
                </a:ext>
              </a:extLst>
            </p:cNvPr>
            <p:cNvSpPr txBox="1"/>
            <p:nvPr/>
          </p:nvSpPr>
          <p:spPr>
            <a:xfrm>
              <a:off x="949487" y="3642182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>
                  <a:solidFill>
                    <a:srgbClr val="392B29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REGULAR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7C608C9-2BEF-F6DE-8313-C3928A0DB3E4}"/>
                </a:ext>
              </a:extLst>
            </p:cNvPr>
            <p:cNvSpPr txBox="1"/>
            <p:nvPr/>
          </p:nvSpPr>
          <p:spPr>
            <a:xfrm>
              <a:off x="1397980" y="3642182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altLang="ko-KR" sz="800" dirty="0">
                  <a:solidFill>
                    <a:srgbClr val="71555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BRONZE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E348BC3-123C-D898-5111-6171BE0A1C38}"/>
                </a:ext>
              </a:extLst>
            </p:cNvPr>
            <p:cNvSpPr txBox="1"/>
            <p:nvPr/>
          </p:nvSpPr>
          <p:spPr>
            <a:xfrm>
              <a:off x="1821073" y="3642182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altLang="ko-KR" sz="800" dirty="0">
                  <a:solidFill>
                    <a:srgbClr val="8D9FC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SILVER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F322836-0AE3-B32A-F257-9C1F1BE04231}"/>
                </a:ext>
              </a:extLst>
            </p:cNvPr>
            <p:cNvSpPr txBox="1"/>
            <p:nvPr/>
          </p:nvSpPr>
          <p:spPr>
            <a:xfrm>
              <a:off x="2247341" y="3642182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altLang="ko-KR" sz="800" dirty="0">
                  <a:solidFill>
                    <a:srgbClr val="744E2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GOLD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CD87360-D3EE-FDE4-EA9A-DC415C7680B3}"/>
                </a:ext>
              </a:extLst>
            </p:cNvPr>
            <p:cNvSpPr txBox="1"/>
            <p:nvPr/>
          </p:nvSpPr>
          <p:spPr>
            <a:xfrm>
              <a:off x="2673610" y="3642182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altLang="ko-KR" sz="800" dirty="0">
                  <a:solidFill>
                    <a:srgbClr val="1A448E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VIP</a:t>
              </a:r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93D79D3D-3291-FBE9-0FFC-038E45B20CC8}"/>
              </a:ext>
            </a:extLst>
          </p:cNvPr>
          <p:cNvGrpSpPr/>
          <p:nvPr/>
        </p:nvGrpSpPr>
        <p:grpSpPr>
          <a:xfrm>
            <a:off x="3222787" y="3669075"/>
            <a:ext cx="2372123" cy="215444"/>
            <a:chOff x="3375187" y="3642182"/>
            <a:chExt cx="2372123" cy="215444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59B38646-03E5-3F4A-D59B-6488F58F9A5B}"/>
                </a:ext>
              </a:extLst>
            </p:cNvPr>
            <p:cNvSpPr txBox="1"/>
            <p:nvPr/>
          </p:nvSpPr>
          <p:spPr>
            <a:xfrm>
              <a:off x="3375187" y="3642182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>
                  <a:solidFill>
                    <a:srgbClr val="392B29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REGULAR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4D5774A-56FC-4471-1FE6-9682F3DF5CBE}"/>
                </a:ext>
              </a:extLst>
            </p:cNvPr>
            <p:cNvSpPr txBox="1"/>
            <p:nvPr/>
          </p:nvSpPr>
          <p:spPr>
            <a:xfrm>
              <a:off x="3823680" y="3642182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altLang="ko-KR" sz="800" dirty="0">
                  <a:solidFill>
                    <a:srgbClr val="71555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BRONZE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C281DB4-6E77-F395-FAD5-039B674BBB77}"/>
                </a:ext>
              </a:extLst>
            </p:cNvPr>
            <p:cNvSpPr txBox="1"/>
            <p:nvPr/>
          </p:nvSpPr>
          <p:spPr>
            <a:xfrm>
              <a:off x="4246773" y="3642182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altLang="ko-KR" sz="800" dirty="0">
                  <a:solidFill>
                    <a:srgbClr val="8D9FC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SILVER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05DE95F4-F541-F48B-58F6-AFC50B592131}"/>
                </a:ext>
              </a:extLst>
            </p:cNvPr>
            <p:cNvSpPr txBox="1"/>
            <p:nvPr/>
          </p:nvSpPr>
          <p:spPr>
            <a:xfrm>
              <a:off x="4673041" y="3642182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altLang="ko-KR" sz="800" dirty="0">
                  <a:solidFill>
                    <a:srgbClr val="744E2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GOLD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54B0E9B-758A-806B-EE8F-62062153D049}"/>
                </a:ext>
              </a:extLst>
            </p:cNvPr>
            <p:cNvSpPr txBox="1"/>
            <p:nvPr/>
          </p:nvSpPr>
          <p:spPr>
            <a:xfrm>
              <a:off x="5099310" y="3642182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altLang="ko-KR" sz="800" dirty="0">
                  <a:solidFill>
                    <a:srgbClr val="1A448E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VIP</a:t>
              </a: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55212EA5-8742-0363-EDE5-F1F0E2B1FD09}"/>
              </a:ext>
            </a:extLst>
          </p:cNvPr>
          <p:cNvGrpSpPr/>
          <p:nvPr/>
        </p:nvGrpSpPr>
        <p:grpSpPr>
          <a:xfrm>
            <a:off x="5635787" y="3669075"/>
            <a:ext cx="2372123" cy="215444"/>
            <a:chOff x="5788187" y="3642182"/>
            <a:chExt cx="2372123" cy="215444"/>
          </a:xfrm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A5E2B9E-CA44-894F-2F56-BE44D7993AD5}"/>
                </a:ext>
              </a:extLst>
            </p:cNvPr>
            <p:cNvSpPr txBox="1"/>
            <p:nvPr/>
          </p:nvSpPr>
          <p:spPr>
            <a:xfrm>
              <a:off x="5788187" y="3642182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>
                  <a:solidFill>
                    <a:srgbClr val="392B29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REGULAR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117852C-0E65-F086-935B-7B02203C3F4B}"/>
                </a:ext>
              </a:extLst>
            </p:cNvPr>
            <p:cNvSpPr txBox="1"/>
            <p:nvPr/>
          </p:nvSpPr>
          <p:spPr>
            <a:xfrm>
              <a:off x="6236680" y="3642182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altLang="ko-KR" sz="800" dirty="0">
                  <a:solidFill>
                    <a:srgbClr val="71555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BRONZE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91183DC5-D60F-296B-7AD1-9DF952743F89}"/>
                </a:ext>
              </a:extLst>
            </p:cNvPr>
            <p:cNvSpPr txBox="1"/>
            <p:nvPr/>
          </p:nvSpPr>
          <p:spPr>
            <a:xfrm>
              <a:off x="6659773" y="3642182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altLang="ko-KR" sz="800" dirty="0">
                  <a:solidFill>
                    <a:srgbClr val="8D9FC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SILVER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BAC71C2-3FC4-D8F2-F754-12A9C9BC9047}"/>
                </a:ext>
              </a:extLst>
            </p:cNvPr>
            <p:cNvSpPr txBox="1"/>
            <p:nvPr/>
          </p:nvSpPr>
          <p:spPr>
            <a:xfrm>
              <a:off x="7086041" y="3642182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altLang="ko-KR" sz="800" dirty="0">
                  <a:solidFill>
                    <a:srgbClr val="744E2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GOLD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22C34B1-2AC8-5202-9440-FFA15C1D0736}"/>
                </a:ext>
              </a:extLst>
            </p:cNvPr>
            <p:cNvSpPr txBox="1"/>
            <p:nvPr/>
          </p:nvSpPr>
          <p:spPr>
            <a:xfrm>
              <a:off x="7512310" y="3642182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altLang="ko-KR" sz="800" dirty="0">
                  <a:solidFill>
                    <a:srgbClr val="1A448E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VIP</a:t>
              </a:r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C7C82A9F-895B-AD10-0256-5AE7FC3197CF}"/>
              </a:ext>
            </a:extLst>
          </p:cNvPr>
          <p:cNvGrpSpPr/>
          <p:nvPr/>
        </p:nvGrpSpPr>
        <p:grpSpPr>
          <a:xfrm>
            <a:off x="8348133" y="710625"/>
            <a:ext cx="2078865" cy="403394"/>
            <a:chOff x="808566" y="891998"/>
            <a:chExt cx="1392767" cy="403394"/>
          </a:xfrm>
        </p:grpSpPr>
        <p:sp>
          <p:nvSpPr>
            <p:cNvPr id="112" name="사각형: 둥근 한쪽 모서리 111">
              <a:extLst>
                <a:ext uri="{FF2B5EF4-FFF2-40B4-BE49-F238E27FC236}">
                  <a16:creationId xmlns:a16="http://schemas.microsoft.com/office/drawing/2014/main" id="{AC9CA5D8-AD09-954E-2BE7-CE1D636DCB26}"/>
                </a:ext>
              </a:extLst>
            </p:cNvPr>
            <p:cNvSpPr/>
            <p:nvPr/>
          </p:nvSpPr>
          <p:spPr>
            <a:xfrm flipV="1">
              <a:off x="808566" y="892612"/>
              <a:ext cx="1392767" cy="402167"/>
            </a:xfrm>
            <a:prstGeom prst="round1Rect">
              <a:avLst>
                <a:gd name="adj" fmla="val 50000"/>
              </a:avLst>
            </a:prstGeom>
            <a:solidFill>
              <a:srgbClr val="0E46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13" name="사각형: 둥근 모서리 112">
              <a:extLst>
                <a:ext uri="{FF2B5EF4-FFF2-40B4-BE49-F238E27FC236}">
                  <a16:creationId xmlns:a16="http://schemas.microsoft.com/office/drawing/2014/main" id="{CFCAE56A-FE3B-6ADB-3CED-A11D4CC399D6}"/>
                </a:ext>
              </a:extLst>
            </p:cNvPr>
            <p:cNvSpPr/>
            <p:nvPr/>
          </p:nvSpPr>
          <p:spPr>
            <a:xfrm>
              <a:off x="887332" y="891998"/>
              <a:ext cx="1235235" cy="40339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LTV 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활용</a:t>
              </a:r>
            </a:p>
          </p:txBody>
        </p:sp>
      </p:grp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A9FDF233-F5CF-6F3A-FC36-E1784C8FD53B}"/>
              </a:ext>
            </a:extLst>
          </p:cNvPr>
          <p:cNvSpPr/>
          <p:nvPr/>
        </p:nvSpPr>
        <p:spPr>
          <a:xfrm>
            <a:off x="8546933" y="1430868"/>
            <a:ext cx="2954655" cy="5026864"/>
          </a:xfrm>
          <a:prstGeom prst="roundRect">
            <a:avLst>
              <a:gd name="adj" fmla="val 17677"/>
            </a:avLst>
          </a:prstGeom>
          <a:solidFill>
            <a:srgbClr val="85B7EB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LTV 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산출식의 신뢰성 및 변별력 대폭 강화</a:t>
            </a:r>
            <a:endParaRPr lang="en-US" altLang="ko-KR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endParaRPr lang="en-US" altLang="ko-KR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이탈 예측 모델의 정확도 상승 가능</a:t>
            </a:r>
            <a:endParaRPr lang="en-US" altLang="ko-KR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endParaRPr lang="en-US" altLang="ko-KR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정교해진 </a:t>
            </a:r>
            <a:r>
              <a:rPr lang="en-US" altLang="ko-KR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LTV 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등급을 통해 등급별 맞춤형 대응방안 수립 </a:t>
            </a:r>
            <a:endParaRPr lang="en-US" altLang="ko-KR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8F800A14-7584-9514-0BAA-B42419D94E3D}"/>
              </a:ext>
            </a:extLst>
          </p:cNvPr>
          <p:cNvSpPr/>
          <p:nvPr/>
        </p:nvSpPr>
        <p:spPr>
          <a:xfrm rot="5400000">
            <a:off x="7778806" y="3655466"/>
            <a:ext cx="861060" cy="878256"/>
          </a:xfrm>
          <a:custGeom>
            <a:avLst/>
            <a:gdLst>
              <a:gd name="csX0" fmla="*/ 477085 w 954169"/>
              <a:gd name="csY0" fmla="*/ 0 h 704850"/>
              <a:gd name="csX1" fmla="*/ 954169 w 954169"/>
              <a:gd name="csY1" fmla="*/ 298450 h 704850"/>
              <a:gd name="csX2" fmla="*/ 674047 w 954169"/>
              <a:gd name="csY2" fmla="*/ 298450 h 704850"/>
              <a:gd name="csX3" fmla="*/ 954169 w 954169"/>
              <a:gd name="csY3" fmla="*/ 704850 h 704850"/>
              <a:gd name="csX4" fmla="*/ 0 w 954169"/>
              <a:gd name="csY4" fmla="*/ 704850 h 704850"/>
              <a:gd name="csX5" fmla="*/ 280124 w 954169"/>
              <a:gd name="csY5" fmla="*/ 298450 h 704850"/>
              <a:gd name="csX6" fmla="*/ 0 w 954169"/>
              <a:gd name="csY6" fmla="*/ 298450 h 704850"/>
              <a:gd name="csX0" fmla="*/ 497302 w 974386"/>
              <a:gd name="csY0" fmla="*/ 0 h 704850"/>
              <a:gd name="csX1" fmla="*/ 974386 w 974386"/>
              <a:gd name="csY1" fmla="*/ 298450 h 704850"/>
              <a:gd name="csX2" fmla="*/ 694264 w 974386"/>
              <a:gd name="csY2" fmla="*/ 298450 h 704850"/>
              <a:gd name="csX3" fmla="*/ 974386 w 974386"/>
              <a:gd name="csY3" fmla="*/ 704850 h 704850"/>
              <a:gd name="csX4" fmla="*/ 20217 w 974386"/>
              <a:gd name="csY4" fmla="*/ 704850 h 704850"/>
              <a:gd name="csX5" fmla="*/ 300341 w 974386"/>
              <a:gd name="csY5" fmla="*/ 298450 h 704850"/>
              <a:gd name="csX6" fmla="*/ 20217 w 974386"/>
              <a:gd name="csY6" fmla="*/ 298450 h 704850"/>
              <a:gd name="csX7" fmla="*/ 497302 w 974386"/>
              <a:gd name="csY7" fmla="*/ 0 h 704850"/>
              <a:gd name="csX0" fmla="*/ 477085 w 954169"/>
              <a:gd name="csY0" fmla="*/ 0 h 704850"/>
              <a:gd name="csX1" fmla="*/ 954169 w 954169"/>
              <a:gd name="csY1" fmla="*/ 298450 h 704850"/>
              <a:gd name="csX2" fmla="*/ 674047 w 954169"/>
              <a:gd name="csY2" fmla="*/ 298450 h 704850"/>
              <a:gd name="csX3" fmla="*/ 954169 w 954169"/>
              <a:gd name="csY3" fmla="*/ 704850 h 704850"/>
              <a:gd name="csX4" fmla="*/ 0 w 954169"/>
              <a:gd name="csY4" fmla="*/ 704850 h 704850"/>
              <a:gd name="csX5" fmla="*/ 280124 w 954169"/>
              <a:gd name="csY5" fmla="*/ 298450 h 704850"/>
              <a:gd name="csX6" fmla="*/ 0 w 954169"/>
              <a:gd name="csY6" fmla="*/ 298450 h 704850"/>
              <a:gd name="csX7" fmla="*/ 477085 w 954169"/>
              <a:gd name="csY7" fmla="*/ 0 h 704850"/>
              <a:gd name="csX0" fmla="*/ 477085 w 974386"/>
              <a:gd name="csY0" fmla="*/ 0 h 704850"/>
              <a:gd name="csX1" fmla="*/ 954169 w 974386"/>
              <a:gd name="csY1" fmla="*/ 298450 h 704850"/>
              <a:gd name="csX2" fmla="*/ 674047 w 974386"/>
              <a:gd name="csY2" fmla="*/ 298450 h 704850"/>
              <a:gd name="csX3" fmla="*/ 954169 w 974386"/>
              <a:gd name="csY3" fmla="*/ 704850 h 704850"/>
              <a:gd name="csX4" fmla="*/ 0 w 974386"/>
              <a:gd name="csY4" fmla="*/ 704850 h 704850"/>
              <a:gd name="csX5" fmla="*/ 280124 w 974386"/>
              <a:gd name="csY5" fmla="*/ 298450 h 704850"/>
              <a:gd name="csX6" fmla="*/ 0 w 974386"/>
              <a:gd name="csY6" fmla="*/ 298450 h 704850"/>
              <a:gd name="csX7" fmla="*/ 477085 w 974386"/>
              <a:gd name="csY7" fmla="*/ 0 h 704850"/>
              <a:gd name="csX0" fmla="*/ 477085 w 954169"/>
              <a:gd name="csY0" fmla="*/ 0 h 704850"/>
              <a:gd name="csX1" fmla="*/ 954169 w 954169"/>
              <a:gd name="csY1" fmla="*/ 298450 h 704850"/>
              <a:gd name="csX2" fmla="*/ 674047 w 954169"/>
              <a:gd name="csY2" fmla="*/ 298450 h 704850"/>
              <a:gd name="csX3" fmla="*/ 954169 w 954169"/>
              <a:gd name="csY3" fmla="*/ 704850 h 704850"/>
              <a:gd name="csX4" fmla="*/ 0 w 954169"/>
              <a:gd name="csY4" fmla="*/ 704850 h 704850"/>
              <a:gd name="csX5" fmla="*/ 280124 w 954169"/>
              <a:gd name="csY5" fmla="*/ 298450 h 704850"/>
              <a:gd name="csX6" fmla="*/ 0 w 954169"/>
              <a:gd name="csY6" fmla="*/ 298450 h 704850"/>
              <a:gd name="csX7" fmla="*/ 477085 w 954169"/>
              <a:gd name="csY7" fmla="*/ 0 h 704850"/>
              <a:gd name="csX0" fmla="*/ 477085 w 954169"/>
              <a:gd name="csY0" fmla="*/ 0 h 704850"/>
              <a:gd name="csX1" fmla="*/ 882329 w 954169"/>
              <a:gd name="csY1" fmla="*/ 296764 h 704850"/>
              <a:gd name="csX2" fmla="*/ 674047 w 954169"/>
              <a:gd name="csY2" fmla="*/ 298450 h 704850"/>
              <a:gd name="csX3" fmla="*/ 954169 w 954169"/>
              <a:gd name="csY3" fmla="*/ 704850 h 704850"/>
              <a:gd name="csX4" fmla="*/ 0 w 954169"/>
              <a:gd name="csY4" fmla="*/ 704850 h 704850"/>
              <a:gd name="csX5" fmla="*/ 280124 w 954169"/>
              <a:gd name="csY5" fmla="*/ 298450 h 704850"/>
              <a:gd name="csX6" fmla="*/ 0 w 954169"/>
              <a:gd name="csY6" fmla="*/ 298450 h 704850"/>
              <a:gd name="csX7" fmla="*/ 477085 w 954169"/>
              <a:gd name="csY7" fmla="*/ 0 h 704850"/>
              <a:gd name="csX0" fmla="*/ 477085 w 954169"/>
              <a:gd name="csY0" fmla="*/ 0 h 704850"/>
              <a:gd name="csX1" fmla="*/ 882329 w 954169"/>
              <a:gd name="csY1" fmla="*/ 296764 h 704850"/>
              <a:gd name="csX2" fmla="*/ 674047 w 954169"/>
              <a:gd name="csY2" fmla="*/ 298450 h 704850"/>
              <a:gd name="csX3" fmla="*/ 954169 w 954169"/>
              <a:gd name="csY3" fmla="*/ 704850 h 704850"/>
              <a:gd name="csX4" fmla="*/ 0 w 954169"/>
              <a:gd name="csY4" fmla="*/ 704850 h 704850"/>
              <a:gd name="csX5" fmla="*/ 280124 w 954169"/>
              <a:gd name="csY5" fmla="*/ 298450 h 704850"/>
              <a:gd name="csX6" fmla="*/ 79698 w 954169"/>
              <a:gd name="csY6" fmla="*/ 299329 h 704850"/>
              <a:gd name="csX7" fmla="*/ 477085 w 954169"/>
              <a:gd name="csY7" fmla="*/ 0 h 7048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54169" h="704850">
                <a:moveTo>
                  <a:pt x="477085" y="0"/>
                </a:moveTo>
                <a:lnTo>
                  <a:pt x="882329" y="296764"/>
                </a:lnTo>
                <a:lnTo>
                  <a:pt x="674047" y="298450"/>
                </a:lnTo>
                <a:cubicBezTo>
                  <a:pt x="674047" y="366183"/>
                  <a:pt x="740543" y="632884"/>
                  <a:pt x="954169" y="704850"/>
                </a:cubicBezTo>
                <a:lnTo>
                  <a:pt x="0" y="704850"/>
                </a:lnTo>
                <a:cubicBezTo>
                  <a:pt x="177643" y="632884"/>
                  <a:pt x="280124" y="366183"/>
                  <a:pt x="280124" y="298450"/>
                </a:cubicBezTo>
                <a:lnTo>
                  <a:pt x="79698" y="299329"/>
                </a:lnTo>
                <a:lnTo>
                  <a:pt x="477085" y="0"/>
                </a:lnTo>
                <a:close/>
              </a:path>
            </a:pathLst>
          </a:custGeom>
          <a:gradFill flip="none" rotWithShape="1">
            <a:gsLst>
              <a:gs pos="0">
                <a:srgbClr val="D52728">
                  <a:alpha val="0"/>
                </a:srgbClr>
              </a:gs>
              <a:gs pos="100000">
                <a:srgbClr val="D52728">
                  <a:alpha val="38000"/>
                  <a:lumMod val="93000"/>
                  <a:lumOff val="7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722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C21C1-FB02-E712-FBF5-43E9FDB9F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BCB2C1-35BC-EA00-CA00-6DB5DDD926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24E44EA-8BB9-4356-A6E2-F3B626433E95}" type="slidenum">
              <a:rPr lang="ko-KR" altLang="en-US" smtClean="0"/>
              <a:pPr/>
              <a:t>13</a:t>
            </a:fld>
            <a:endParaRPr lang="ko-KR" altLang="en-US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35" name="텍스트 개체 틀 134">
            <a:extLst>
              <a:ext uri="{FF2B5EF4-FFF2-40B4-BE49-F238E27FC236}">
                <a16:creationId xmlns:a16="http://schemas.microsoft.com/office/drawing/2014/main" id="{A76AFE5D-7899-9D6B-9517-E8CAA7CFCD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분석결과 </a:t>
            </a:r>
            <a:r>
              <a:rPr lang="en-US" altLang="ko-KR" sz="2000" dirty="0"/>
              <a:t>_</a:t>
            </a:r>
            <a:r>
              <a:rPr lang="ko-KR" altLang="en-US" sz="2000" dirty="0" err="1"/>
              <a:t>이탈률과</a:t>
            </a:r>
            <a:r>
              <a:rPr lang="ko-KR" altLang="en-US" sz="2000" dirty="0"/>
              <a:t> 상관성이 높은 변수 분석</a:t>
            </a:r>
            <a:endParaRPr lang="ko-KR" altLang="en-US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43DA02E4-2D36-DB93-E9D7-7495291620D3}"/>
              </a:ext>
            </a:extLst>
          </p:cNvPr>
          <p:cNvGrpSpPr/>
          <p:nvPr/>
        </p:nvGrpSpPr>
        <p:grpSpPr>
          <a:xfrm>
            <a:off x="4175087" y="1566915"/>
            <a:ext cx="3482727" cy="2490888"/>
            <a:chOff x="406075" y="1351015"/>
            <a:chExt cx="3482727" cy="2490888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B9A5605-75E3-A317-4532-D2762B4EFDE9}"/>
                </a:ext>
              </a:extLst>
            </p:cNvPr>
            <p:cNvSpPr txBox="1"/>
            <p:nvPr/>
          </p:nvSpPr>
          <p:spPr>
            <a:xfrm>
              <a:off x="1100289" y="3560288"/>
              <a:ext cx="1185852" cy="2816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2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유지 고객</a:t>
              </a:r>
              <a:endPara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CFD3D39-85C8-139C-348B-EEC5E36A28EB}"/>
                </a:ext>
              </a:extLst>
            </p:cNvPr>
            <p:cNvSpPr txBox="1"/>
            <p:nvPr/>
          </p:nvSpPr>
          <p:spPr>
            <a:xfrm>
              <a:off x="2520826" y="3560288"/>
              <a:ext cx="1185852" cy="2816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2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이탈 고객</a:t>
              </a:r>
              <a:endPara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7DD7D3D-B3E1-FE52-D0D6-227D00003FA2}"/>
                </a:ext>
              </a:extLst>
            </p:cNvPr>
            <p:cNvSpPr txBox="1"/>
            <p:nvPr/>
          </p:nvSpPr>
          <p:spPr>
            <a:xfrm rot="16200000">
              <a:off x="-242301" y="2383149"/>
              <a:ext cx="1578368" cy="2816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ARPU (</a:t>
              </a:r>
              <a:r>
                <a:rPr lang="ko-KR" altLang="en-US" sz="12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원</a:t>
              </a:r>
              <a:r>
                <a:rPr lang="en-US" altLang="ko-KR" sz="12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)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F4D3326F-37CB-ACA9-2D58-A09A341E3B20}"/>
                </a:ext>
              </a:extLst>
            </p:cNvPr>
            <p:cNvSpPr/>
            <p:nvPr/>
          </p:nvSpPr>
          <p:spPr>
            <a:xfrm>
              <a:off x="976700" y="1362451"/>
              <a:ext cx="2912102" cy="2179976"/>
            </a:xfrm>
            <a:prstGeom prst="rect">
              <a:avLst/>
            </a:prstGeom>
            <a:noFill/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C23FDB-416B-E3BA-F380-F1D5E6132A30}"/>
                </a:ext>
              </a:extLst>
            </p:cNvPr>
            <p:cNvSpPr txBox="1"/>
            <p:nvPr/>
          </p:nvSpPr>
          <p:spPr>
            <a:xfrm>
              <a:off x="535517" y="1351015"/>
              <a:ext cx="49873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900" dirty="0">
                  <a:solidFill>
                    <a:schemeClr val="bg2">
                      <a:lumMod val="2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140K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7C3329D-E015-4C30-6633-F35E74306D24}"/>
                </a:ext>
              </a:extLst>
            </p:cNvPr>
            <p:cNvSpPr txBox="1"/>
            <p:nvPr/>
          </p:nvSpPr>
          <p:spPr>
            <a:xfrm>
              <a:off x="535517" y="1676124"/>
              <a:ext cx="49873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900" dirty="0">
                  <a:solidFill>
                    <a:schemeClr val="bg2">
                      <a:lumMod val="2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120K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C287D1F-06A8-010C-0249-FDD19983C6B0}"/>
                </a:ext>
              </a:extLst>
            </p:cNvPr>
            <p:cNvSpPr txBox="1"/>
            <p:nvPr/>
          </p:nvSpPr>
          <p:spPr>
            <a:xfrm>
              <a:off x="535517" y="3301673"/>
              <a:ext cx="49873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900" dirty="0">
                  <a:solidFill>
                    <a:schemeClr val="bg2">
                      <a:lumMod val="2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20K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A668161-1A25-43C5-0970-8EE45D7297FF}"/>
                </a:ext>
              </a:extLst>
            </p:cNvPr>
            <p:cNvSpPr txBox="1"/>
            <p:nvPr/>
          </p:nvSpPr>
          <p:spPr>
            <a:xfrm>
              <a:off x="535517" y="2651453"/>
              <a:ext cx="49873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900" dirty="0">
                  <a:solidFill>
                    <a:schemeClr val="bg2">
                      <a:lumMod val="2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60K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5FA02B5-6889-57E5-AE26-D57ECE8E63D8}"/>
                </a:ext>
              </a:extLst>
            </p:cNvPr>
            <p:cNvSpPr txBox="1"/>
            <p:nvPr/>
          </p:nvSpPr>
          <p:spPr>
            <a:xfrm>
              <a:off x="535517" y="2326343"/>
              <a:ext cx="49873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900" dirty="0">
                  <a:solidFill>
                    <a:schemeClr val="bg2">
                      <a:lumMod val="2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80K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9A886E1-5001-312A-69F0-46E4D6FBFFBC}"/>
                </a:ext>
              </a:extLst>
            </p:cNvPr>
            <p:cNvSpPr txBox="1"/>
            <p:nvPr/>
          </p:nvSpPr>
          <p:spPr>
            <a:xfrm>
              <a:off x="535517" y="2001234"/>
              <a:ext cx="49873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900" dirty="0">
                  <a:solidFill>
                    <a:schemeClr val="bg2">
                      <a:lumMod val="2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100K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F296695-BD42-4120-6310-3CC56512BC7F}"/>
                </a:ext>
              </a:extLst>
            </p:cNvPr>
            <p:cNvSpPr txBox="1"/>
            <p:nvPr/>
          </p:nvSpPr>
          <p:spPr>
            <a:xfrm>
              <a:off x="535518" y="2976562"/>
              <a:ext cx="49873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900" dirty="0">
                  <a:solidFill>
                    <a:schemeClr val="bg2">
                      <a:lumMod val="2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40K</a:t>
              </a:r>
            </a:p>
          </p:txBody>
        </p: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3E011B3F-0579-1D3E-7947-698C8B37DA7D}"/>
                </a:ext>
              </a:extLst>
            </p:cNvPr>
            <p:cNvCxnSpPr>
              <a:cxnSpLocks/>
            </p:cNvCxnSpPr>
            <p:nvPr/>
          </p:nvCxnSpPr>
          <p:spPr>
            <a:xfrm>
              <a:off x="1703360" y="1456370"/>
              <a:ext cx="0" cy="1952238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200A1240-0648-0C1D-7441-4A370CBE66E8}"/>
                </a:ext>
              </a:extLst>
            </p:cNvPr>
            <p:cNvSpPr/>
            <p:nvPr/>
          </p:nvSpPr>
          <p:spPr>
            <a:xfrm>
              <a:off x="1118755" y="1966508"/>
              <a:ext cx="1169211" cy="1308650"/>
            </a:xfrm>
            <a:prstGeom prst="rect">
              <a:avLst/>
            </a:prstGeom>
            <a:solidFill>
              <a:srgbClr val="B9CC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F49E8CFD-68C1-8E41-0583-7595A4FD4556}"/>
                </a:ext>
              </a:extLst>
            </p:cNvPr>
            <p:cNvCxnSpPr>
              <a:cxnSpLocks/>
            </p:cNvCxnSpPr>
            <p:nvPr/>
          </p:nvCxnSpPr>
          <p:spPr>
            <a:xfrm>
              <a:off x="3162142" y="1447072"/>
              <a:ext cx="0" cy="1961535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0E691AE-0C49-8B54-F8B2-A6A12554CF85}"/>
                </a:ext>
              </a:extLst>
            </p:cNvPr>
            <p:cNvSpPr/>
            <p:nvPr/>
          </p:nvSpPr>
          <p:spPr>
            <a:xfrm>
              <a:off x="2577537" y="1867733"/>
              <a:ext cx="1169211" cy="721816"/>
            </a:xfrm>
            <a:prstGeom prst="rect">
              <a:avLst/>
            </a:prstGeom>
            <a:solidFill>
              <a:srgbClr val="4F97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A3C05161-C211-9F81-6863-64988B84E19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703360" y="2996921"/>
              <a:ext cx="0" cy="832670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48285EF4-7CE1-DCB0-D833-3765F6E154E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703361" y="1049330"/>
              <a:ext cx="0" cy="832670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3C25994C-E1B6-09B7-DBD1-B3C3E581D74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162142" y="1049330"/>
              <a:ext cx="0" cy="832670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5C5686E-8245-CE51-4FBF-97F32EE58CB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162142" y="2996921"/>
              <a:ext cx="0" cy="832670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3C0182EA-2C12-3779-68B0-D5B21AD5AF2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703437" y="1971477"/>
              <a:ext cx="0" cy="116936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889237F0-29E2-6D90-68E0-5977303A70D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162220" y="1634811"/>
              <a:ext cx="0" cy="116936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091B2F5-53BE-4EB0-6DF9-2600633C2D8A}"/>
                </a:ext>
              </a:extLst>
            </p:cNvPr>
            <p:cNvSpPr txBox="1"/>
            <p:nvPr/>
          </p:nvSpPr>
          <p:spPr>
            <a:xfrm>
              <a:off x="1110180" y="2264550"/>
              <a:ext cx="11858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72,174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원</a:t>
              </a:r>
              <a:endPara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450C6A6-57DE-8EF7-A465-8BA0B897C4B5}"/>
                </a:ext>
              </a:extLst>
            </p:cNvPr>
            <p:cNvSpPr txBox="1"/>
            <p:nvPr/>
          </p:nvSpPr>
          <p:spPr>
            <a:xfrm>
              <a:off x="2570283" y="1938148"/>
              <a:ext cx="11858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89,549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원</a:t>
              </a:r>
              <a:endPara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C7CBADE5-B510-5308-8001-863D6CFAC47C}"/>
              </a:ext>
            </a:extLst>
          </p:cNvPr>
          <p:cNvGrpSpPr/>
          <p:nvPr/>
        </p:nvGrpSpPr>
        <p:grpSpPr>
          <a:xfrm>
            <a:off x="8347850" y="913117"/>
            <a:ext cx="3081576" cy="338554"/>
            <a:chOff x="8362004" y="824217"/>
            <a:chExt cx="3081576" cy="338554"/>
          </a:xfrm>
        </p:grpSpPr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D322A422-56AD-77DC-85E6-FEC98B021311}"/>
                </a:ext>
              </a:extLst>
            </p:cNvPr>
            <p:cNvCxnSpPr>
              <a:cxnSpLocks/>
            </p:cNvCxnSpPr>
            <p:nvPr/>
          </p:nvCxnSpPr>
          <p:spPr>
            <a:xfrm>
              <a:off x="8362004" y="993494"/>
              <a:ext cx="3081576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B0D1E27-8DDF-7462-89D0-7F666BE62381}"/>
                </a:ext>
              </a:extLst>
            </p:cNvPr>
            <p:cNvSpPr txBox="1"/>
            <p:nvPr/>
          </p:nvSpPr>
          <p:spPr>
            <a:xfrm>
              <a:off x="8709597" y="824217"/>
              <a:ext cx="2386390" cy="338554"/>
            </a:xfrm>
            <a:prstGeom prst="rect">
              <a:avLst/>
            </a:prstGeom>
            <a:solidFill>
              <a:srgbClr val="D9E6F6"/>
            </a:solidFill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ko-KR" altLang="en-US" sz="16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만족도 점수별 </a:t>
              </a:r>
              <a:r>
                <a:rPr lang="ko-KR" altLang="en-US" sz="1600" dirty="0" err="1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이탈률</a:t>
              </a:r>
              <a:endParaRPr lang="en-US" altLang="ko-KR" sz="16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AA9C0AA6-3359-AEF4-7DD4-6C4F9B42BE8A}"/>
              </a:ext>
            </a:extLst>
          </p:cNvPr>
          <p:cNvGrpSpPr/>
          <p:nvPr/>
        </p:nvGrpSpPr>
        <p:grpSpPr>
          <a:xfrm>
            <a:off x="4555212" y="913117"/>
            <a:ext cx="3081576" cy="338554"/>
            <a:chOff x="748421" y="824217"/>
            <a:chExt cx="3081576" cy="338554"/>
          </a:xfrm>
        </p:grpSpPr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C28F58AE-6DE0-280B-3695-E993FD06EC59}"/>
                </a:ext>
              </a:extLst>
            </p:cNvPr>
            <p:cNvCxnSpPr>
              <a:cxnSpLocks/>
            </p:cNvCxnSpPr>
            <p:nvPr/>
          </p:nvCxnSpPr>
          <p:spPr>
            <a:xfrm>
              <a:off x="748421" y="993494"/>
              <a:ext cx="3081576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6593EA7-CBCC-C9EF-AB6A-1019494770B1}"/>
                </a:ext>
              </a:extLst>
            </p:cNvPr>
            <p:cNvSpPr txBox="1"/>
            <p:nvPr/>
          </p:nvSpPr>
          <p:spPr>
            <a:xfrm>
              <a:off x="976695" y="824217"/>
              <a:ext cx="2625029" cy="338554"/>
            </a:xfrm>
            <a:prstGeom prst="rect">
              <a:avLst/>
            </a:prstGeom>
            <a:solidFill>
              <a:srgbClr val="D9E6F6"/>
            </a:solidFill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ko-KR" altLang="en-US" sz="1600" dirty="0">
                  <a:latin typeface="나눔스퀘어_ac Bold"/>
                  <a:ea typeface="나눔스퀘어_ac Bold"/>
                </a:rPr>
                <a:t>고객이탈여부에 따른 </a:t>
              </a:r>
              <a:r>
                <a:rPr lang="en-US" altLang="ko-KR" sz="1600" dirty="0">
                  <a:latin typeface="나눔스퀘어_ac Bold"/>
                  <a:ea typeface="나눔스퀘어_ac Bold"/>
                </a:rPr>
                <a:t>ARPU</a:t>
              </a:r>
              <a:endParaRPr lang="en-US" altLang="ko-KR" sz="16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469BB8D9-9282-D138-0188-099BE4F60D7A}"/>
              </a:ext>
            </a:extLst>
          </p:cNvPr>
          <p:cNvGrpSpPr/>
          <p:nvPr/>
        </p:nvGrpSpPr>
        <p:grpSpPr>
          <a:xfrm>
            <a:off x="7875774" y="1469842"/>
            <a:ext cx="3467887" cy="2585430"/>
            <a:chOff x="4138565" y="1352296"/>
            <a:chExt cx="3467887" cy="2585430"/>
          </a:xfrm>
        </p:grpSpPr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DC511C14-B0D5-4D9D-9E49-210D32568572}"/>
                </a:ext>
              </a:extLst>
            </p:cNvPr>
            <p:cNvGrpSpPr/>
            <p:nvPr/>
          </p:nvGrpSpPr>
          <p:grpSpPr>
            <a:xfrm>
              <a:off x="4138565" y="1352296"/>
              <a:ext cx="3467887" cy="2585430"/>
              <a:chOff x="403794" y="1091808"/>
              <a:chExt cx="4861225" cy="3624209"/>
            </a:xfrm>
          </p:grpSpPr>
          <p:grpSp>
            <p:nvGrpSpPr>
              <p:cNvPr id="100" name="그룹 99">
                <a:extLst>
                  <a:ext uri="{FF2B5EF4-FFF2-40B4-BE49-F238E27FC236}">
                    <a16:creationId xmlns:a16="http://schemas.microsoft.com/office/drawing/2014/main" id="{139F5AE3-C326-ECFA-0AB9-ED01F03D6466}"/>
                  </a:ext>
                </a:extLst>
              </p:cNvPr>
              <p:cNvGrpSpPr/>
              <p:nvPr/>
            </p:nvGrpSpPr>
            <p:grpSpPr>
              <a:xfrm>
                <a:off x="403794" y="1232771"/>
                <a:ext cx="4861225" cy="3483246"/>
                <a:chOff x="374861" y="1136518"/>
                <a:chExt cx="5374006" cy="3850676"/>
              </a:xfrm>
            </p:grpSpPr>
            <p:sp>
              <p:nvSpPr>
                <p:cNvPr id="113" name="직사각형 112">
                  <a:extLst>
                    <a:ext uri="{FF2B5EF4-FFF2-40B4-BE49-F238E27FC236}">
                      <a16:creationId xmlns:a16="http://schemas.microsoft.com/office/drawing/2014/main" id="{30EA6EB8-7F89-469A-02B2-DB7DDC1B6FB4}"/>
                    </a:ext>
                  </a:extLst>
                </p:cNvPr>
                <p:cNvSpPr/>
                <p:nvPr/>
              </p:nvSpPr>
              <p:spPr>
                <a:xfrm>
                  <a:off x="3108464" y="1145551"/>
                  <a:ext cx="702553" cy="3369168"/>
                </a:xfrm>
                <a:prstGeom prst="rect">
                  <a:avLst/>
                </a:prstGeom>
                <a:solidFill>
                  <a:srgbClr val="B9CCD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4" name="직사각형 113">
                  <a:extLst>
                    <a:ext uri="{FF2B5EF4-FFF2-40B4-BE49-F238E27FC236}">
                      <a16:creationId xmlns:a16="http://schemas.microsoft.com/office/drawing/2014/main" id="{A3C7F509-71A8-6F72-26C3-C1BA72F00FC2}"/>
                    </a:ext>
                  </a:extLst>
                </p:cNvPr>
                <p:cNvSpPr/>
                <p:nvPr/>
              </p:nvSpPr>
              <p:spPr>
                <a:xfrm>
                  <a:off x="3989168" y="1145551"/>
                  <a:ext cx="702553" cy="3369168"/>
                </a:xfrm>
                <a:prstGeom prst="rect">
                  <a:avLst/>
                </a:prstGeom>
                <a:solidFill>
                  <a:srgbClr val="B9CCD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5" name="직사각형 114">
                  <a:extLst>
                    <a:ext uri="{FF2B5EF4-FFF2-40B4-BE49-F238E27FC236}">
                      <a16:creationId xmlns:a16="http://schemas.microsoft.com/office/drawing/2014/main" id="{3A33E443-3E3A-E4B0-0260-F559A17090E9}"/>
                    </a:ext>
                  </a:extLst>
                </p:cNvPr>
                <p:cNvSpPr/>
                <p:nvPr/>
              </p:nvSpPr>
              <p:spPr>
                <a:xfrm>
                  <a:off x="4869872" y="1145551"/>
                  <a:ext cx="702553" cy="3369168"/>
                </a:xfrm>
                <a:prstGeom prst="rect">
                  <a:avLst/>
                </a:prstGeom>
                <a:solidFill>
                  <a:srgbClr val="B9CCD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03CDCFAF-87B9-68D2-7FA3-787443CC3D6B}"/>
                    </a:ext>
                  </a:extLst>
                </p:cNvPr>
                <p:cNvSpPr txBox="1"/>
                <p:nvPr/>
              </p:nvSpPr>
              <p:spPr>
                <a:xfrm>
                  <a:off x="2791558" y="4557943"/>
                  <a:ext cx="2072999" cy="4292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endParaRPr lang="en-US" altLang="ko-KR" sz="12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endParaRPr>
                </a:p>
              </p:txBody>
            </p:sp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74373532-F468-4FA0-FC93-669D4C397AF2}"/>
                    </a:ext>
                  </a:extLst>
                </p:cNvPr>
                <p:cNvSpPr txBox="1"/>
                <p:nvPr/>
              </p:nvSpPr>
              <p:spPr>
                <a:xfrm>
                  <a:off x="1574027" y="4557941"/>
                  <a:ext cx="439919" cy="4292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1200" dirty="0"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1</a:t>
                  </a:r>
                </a:p>
              </p:txBody>
            </p:sp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46B14709-D4F3-C26E-B3F2-CD36B82F2E67}"/>
                    </a:ext>
                  </a:extLst>
                </p:cNvPr>
                <p:cNvSpPr txBox="1"/>
                <p:nvPr/>
              </p:nvSpPr>
              <p:spPr>
                <a:xfrm>
                  <a:off x="2458636" y="4557943"/>
                  <a:ext cx="399926" cy="4292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1200" dirty="0"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2</a:t>
                  </a:r>
                </a:p>
              </p:txBody>
            </p: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4CF37010-71BB-897C-23A8-683B9E1D2C31}"/>
                    </a:ext>
                  </a:extLst>
                </p:cNvPr>
                <p:cNvSpPr txBox="1"/>
                <p:nvPr/>
              </p:nvSpPr>
              <p:spPr>
                <a:xfrm rot="16200000">
                  <a:off x="-97266" y="2718240"/>
                  <a:ext cx="1380657" cy="4364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200" dirty="0" err="1"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이탈률</a:t>
                  </a:r>
                  <a:r>
                    <a:rPr lang="ko-KR" altLang="en-US" sz="1200" dirty="0"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 </a:t>
                  </a:r>
                  <a:r>
                    <a:rPr lang="en-US" altLang="ko-KR" sz="1200" dirty="0"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(%)</a:t>
                  </a:r>
                </a:p>
              </p:txBody>
            </p:sp>
            <p:sp>
              <p:nvSpPr>
                <p:cNvPr id="120" name="직사각형 119">
                  <a:extLst>
                    <a:ext uri="{FF2B5EF4-FFF2-40B4-BE49-F238E27FC236}">
                      <a16:creationId xmlns:a16="http://schemas.microsoft.com/office/drawing/2014/main" id="{FADED2D9-D3D5-E121-A855-8DF73734AB1B}"/>
                    </a:ext>
                  </a:extLst>
                </p:cNvPr>
                <p:cNvSpPr/>
                <p:nvPr/>
              </p:nvSpPr>
              <p:spPr>
                <a:xfrm>
                  <a:off x="1422921" y="1145551"/>
                  <a:ext cx="702553" cy="3369168"/>
                </a:xfrm>
                <a:prstGeom prst="rect">
                  <a:avLst/>
                </a:prstGeom>
                <a:solidFill>
                  <a:srgbClr val="4F97D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1" name="직사각형 120">
                  <a:extLst>
                    <a:ext uri="{FF2B5EF4-FFF2-40B4-BE49-F238E27FC236}">
                      <a16:creationId xmlns:a16="http://schemas.microsoft.com/office/drawing/2014/main" id="{217A4AB4-B0AC-BFED-857B-6F6E8881E5EE}"/>
                    </a:ext>
                  </a:extLst>
                </p:cNvPr>
                <p:cNvSpPr/>
                <p:nvPr/>
              </p:nvSpPr>
              <p:spPr>
                <a:xfrm>
                  <a:off x="3108464" y="4026781"/>
                  <a:ext cx="705710" cy="487933"/>
                </a:xfrm>
                <a:prstGeom prst="rect">
                  <a:avLst/>
                </a:prstGeom>
                <a:solidFill>
                  <a:srgbClr val="4F97D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CC0169E1-6829-07C7-880D-A5BB4884480C}"/>
                    </a:ext>
                  </a:extLst>
                </p:cNvPr>
                <p:cNvSpPr txBox="1"/>
                <p:nvPr/>
              </p:nvSpPr>
              <p:spPr>
                <a:xfrm>
                  <a:off x="3303252" y="4557943"/>
                  <a:ext cx="399926" cy="4292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1200" dirty="0"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3</a:t>
                  </a:r>
                </a:p>
              </p:txBody>
            </p:sp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BA98E7F4-5559-0EEF-9DFF-E358791238F1}"/>
                    </a:ext>
                  </a:extLst>
                </p:cNvPr>
                <p:cNvSpPr txBox="1"/>
                <p:nvPr/>
              </p:nvSpPr>
              <p:spPr>
                <a:xfrm>
                  <a:off x="4147868" y="4557943"/>
                  <a:ext cx="399926" cy="4292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1200" dirty="0"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4</a:t>
                  </a:r>
                </a:p>
              </p:txBody>
            </p:sp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5FCDD5C8-88E5-4CA6-9221-4AA68BA53D7E}"/>
                    </a:ext>
                  </a:extLst>
                </p:cNvPr>
                <p:cNvSpPr txBox="1"/>
                <p:nvPr/>
              </p:nvSpPr>
              <p:spPr>
                <a:xfrm>
                  <a:off x="4992487" y="4557943"/>
                  <a:ext cx="399926" cy="4292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1200" dirty="0"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5</a:t>
                  </a:r>
                </a:p>
              </p:txBody>
            </p:sp>
            <p:sp>
              <p:nvSpPr>
                <p:cNvPr id="125" name="직사각형 124">
                  <a:extLst>
                    <a:ext uri="{FF2B5EF4-FFF2-40B4-BE49-F238E27FC236}">
                      <a16:creationId xmlns:a16="http://schemas.microsoft.com/office/drawing/2014/main" id="{ABCE7165-B29A-DE32-BE5E-C1B9C6E4CE7E}"/>
                    </a:ext>
                  </a:extLst>
                </p:cNvPr>
                <p:cNvSpPr/>
                <p:nvPr/>
              </p:nvSpPr>
              <p:spPr>
                <a:xfrm>
                  <a:off x="2265765" y="1145551"/>
                  <a:ext cx="702553" cy="3369168"/>
                </a:xfrm>
                <a:prstGeom prst="rect">
                  <a:avLst/>
                </a:prstGeom>
                <a:solidFill>
                  <a:srgbClr val="4F97D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6" name="직사각형 125">
                  <a:extLst>
                    <a:ext uri="{FF2B5EF4-FFF2-40B4-BE49-F238E27FC236}">
                      <a16:creationId xmlns:a16="http://schemas.microsoft.com/office/drawing/2014/main" id="{D614B83A-09E0-4ADC-B9D6-D37648937AE6}"/>
                    </a:ext>
                  </a:extLst>
                </p:cNvPr>
                <p:cNvSpPr/>
                <p:nvPr/>
              </p:nvSpPr>
              <p:spPr>
                <a:xfrm>
                  <a:off x="1236133" y="1136518"/>
                  <a:ext cx="4512734" cy="3378200"/>
                </a:xfrm>
                <a:prstGeom prst="rect">
                  <a:avLst/>
                </a:prstGeom>
                <a:noFill/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01" name="그룹 100">
                <a:extLst>
                  <a:ext uri="{FF2B5EF4-FFF2-40B4-BE49-F238E27FC236}">
                    <a16:creationId xmlns:a16="http://schemas.microsoft.com/office/drawing/2014/main" id="{02A9848E-5B6C-5FD7-5485-99FDB183819C}"/>
                  </a:ext>
                </a:extLst>
              </p:cNvPr>
              <p:cNvGrpSpPr/>
              <p:nvPr/>
            </p:nvGrpSpPr>
            <p:grpSpPr>
              <a:xfrm>
                <a:off x="599963" y="1091808"/>
                <a:ext cx="4580496" cy="3374782"/>
                <a:chOff x="6501229" y="1244208"/>
                <a:chExt cx="4580496" cy="3374782"/>
              </a:xfrm>
            </p:grpSpPr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0CB74A70-F71D-6CC7-D818-0BEC55DAF11D}"/>
                    </a:ext>
                  </a:extLst>
                </p:cNvPr>
                <p:cNvSpPr txBox="1"/>
                <p:nvPr/>
              </p:nvSpPr>
              <p:spPr>
                <a:xfrm>
                  <a:off x="6501229" y="1244208"/>
                  <a:ext cx="640891" cy="3667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altLang="ko-KR" sz="1100" dirty="0">
                      <a:solidFill>
                        <a:schemeClr val="bg2">
                          <a:lumMod val="25000"/>
                        </a:schemeClr>
                      </a:solidFill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100</a:t>
                  </a:r>
                </a:p>
              </p:txBody>
            </p:sp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D33F4387-FF2C-FFB1-E319-14E712CCAEF5}"/>
                    </a:ext>
                  </a:extLst>
                </p:cNvPr>
                <p:cNvSpPr txBox="1"/>
                <p:nvPr/>
              </p:nvSpPr>
              <p:spPr>
                <a:xfrm>
                  <a:off x="6530359" y="1845821"/>
                  <a:ext cx="582629" cy="3667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altLang="ko-KR" sz="1100" dirty="0">
                      <a:solidFill>
                        <a:schemeClr val="bg2">
                          <a:lumMod val="25000"/>
                        </a:schemeClr>
                      </a:solidFill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80</a:t>
                  </a:r>
                </a:p>
              </p:txBody>
            </p: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EE632A48-CDB0-3781-A810-95079F02180F}"/>
                    </a:ext>
                  </a:extLst>
                </p:cNvPr>
                <p:cNvSpPr txBox="1"/>
                <p:nvPr/>
              </p:nvSpPr>
              <p:spPr>
                <a:xfrm>
                  <a:off x="6530358" y="4252270"/>
                  <a:ext cx="582629" cy="3667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altLang="ko-KR" sz="1100" dirty="0">
                      <a:solidFill>
                        <a:schemeClr val="bg2">
                          <a:lumMod val="25000"/>
                        </a:schemeClr>
                      </a:solidFill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0</a:t>
                  </a:r>
                </a:p>
              </p:txBody>
            </p: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6353CA22-05B5-C48A-3BC8-87FE9CF250DC}"/>
                    </a:ext>
                  </a:extLst>
                </p:cNvPr>
                <p:cNvSpPr txBox="1"/>
                <p:nvPr/>
              </p:nvSpPr>
              <p:spPr>
                <a:xfrm>
                  <a:off x="6530361" y="3650657"/>
                  <a:ext cx="582627" cy="3667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altLang="ko-KR" sz="1100" dirty="0">
                      <a:solidFill>
                        <a:schemeClr val="bg2">
                          <a:lumMod val="25000"/>
                        </a:schemeClr>
                      </a:solidFill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20</a:t>
                  </a:r>
                </a:p>
              </p:txBody>
            </p:sp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1B7E92AB-7FC2-C857-E2DA-EE71FD54AD26}"/>
                    </a:ext>
                  </a:extLst>
                </p:cNvPr>
                <p:cNvSpPr txBox="1"/>
                <p:nvPr/>
              </p:nvSpPr>
              <p:spPr>
                <a:xfrm>
                  <a:off x="6530359" y="3049046"/>
                  <a:ext cx="582629" cy="3667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altLang="ko-KR" sz="1100" dirty="0">
                      <a:solidFill>
                        <a:schemeClr val="bg2">
                          <a:lumMod val="25000"/>
                        </a:schemeClr>
                      </a:solidFill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40</a:t>
                  </a:r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505DD617-4E0E-ECE3-0B21-DD9F314269C0}"/>
                    </a:ext>
                  </a:extLst>
                </p:cNvPr>
                <p:cNvSpPr txBox="1"/>
                <p:nvPr/>
              </p:nvSpPr>
              <p:spPr>
                <a:xfrm>
                  <a:off x="6530359" y="2447432"/>
                  <a:ext cx="582629" cy="3667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altLang="ko-KR" sz="1100" dirty="0">
                      <a:solidFill>
                        <a:schemeClr val="bg2">
                          <a:lumMod val="25000"/>
                        </a:schemeClr>
                      </a:solidFill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60</a:t>
                  </a:r>
                </a:p>
              </p:txBody>
            </p: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6F9A2A36-5DE2-AEC4-73F7-CD04D2AE1101}"/>
                    </a:ext>
                  </a:extLst>
                </p:cNvPr>
                <p:cNvSpPr txBox="1"/>
                <p:nvPr/>
              </p:nvSpPr>
              <p:spPr>
                <a:xfrm>
                  <a:off x="8637217" y="3673611"/>
                  <a:ext cx="938328" cy="3667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altLang="ko-KR" sz="1100" dirty="0">
                      <a:solidFill>
                        <a:schemeClr val="bg2">
                          <a:lumMod val="25000"/>
                        </a:schemeClr>
                      </a:solidFill>
                      <a:latin typeface="나눔스퀘어_ac ExtraBold" panose="020B0600000101010101" pitchFamily="50" charset="-127"/>
                      <a:ea typeface="나눔스퀘어_ac ExtraBold" panose="020B0600000101010101" pitchFamily="50" charset="-127"/>
                    </a:rPr>
                    <a:t>14.7%</a:t>
                  </a:r>
                </a:p>
              </p:txBody>
            </p:sp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FCFF3F3D-2501-AB7B-EBB2-76A04BDEB7A8}"/>
                    </a:ext>
                  </a:extLst>
                </p:cNvPr>
                <p:cNvSpPr txBox="1"/>
                <p:nvPr/>
              </p:nvSpPr>
              <p:spPr>
                <a:xfrm>
                  <a:off x="9472087" y="4083072"/>
                  <a:ext cx="853026" cy="3667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altLang="ko-KR" sz="1100" dirty="0">
                      <a:solidFill>
                        <a:schemeClr val="bg2">
                          <a:lumMod val="25000"/>
                        </a:schemeClr>
                      </a:solidFill>
                      <a:latin typeface="나눔스퀘어_ac ExtraBold" panose="020B0600000101010101" pitchFamily="50" charset="-127"/>
                      <a:ea typeface="나눔스퀘어_ac ExtraBold" panose="020B0600000101010101" pitchFamily="50" charset="-127"/>
                    </a:rPr>
                    <a:t>0.0%</a:t>
                  </a:r>
                </a:p>
              </p:txBody>
            </p: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6D75D793-EBD6-0C35-297B-04E3BA7B3F10}"/>
                    </a:ext>
                  </a:extLst>
                </p:cNvPr>
                <p:cNvSpPr txBox="1"/>
                <p:nvPr/>
              </p:nvSpPr>
              <p:spPr>
                <a:xfrm>
                  <a:off x="10228700" y="4083072"/>
                  <a:ext cx="853025" cy="3667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altLang="ko-KR" sz="1100" dirty="0">
                      <a:solidFill>
                        <a:schemeClr val="bg2">
                          <a:lumMod val="25000"/>
                        </a:schemeClr>
                      </a:solidFill>
                      <a:latin typeface="나눔스퀘어_ac ExtraBold" panose="020B0600000101010101" pitchFamily="50" charset="-127"/>
                      <a:ea typeface="나눔스퀘어_ac ExtraBold" panose="020B0600000101010101" pitchFamily="50" charset="-127"/>
                    </a:rPr>
                    <a:t>0.0%</a:t>
                  </a:r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FD6D1DF5-5C2D-0F90-F022-7D2634BDED2B}"/>
                    </a:ext>
                  </a:extLst>
                </p:cNvPr>
                <p:cNvSpPr txBox="1"/>
                <p:nvPr/>
              </p:nvSpPr>
              <p:spPr>
                <a:xfrm>
                  <a:off x="7067109" y="1433104"/>
                  <a:ext cx="1032161" cy="3667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altLang="ko-KR" sz="1100" dirty="0">
                      <a:solidFill>
                        <a:schemeClr val="bg2">
                          <a:lumMod val="25000"/>
                        </a:schemeClr>
                      </a:solidFill>
                      <a:latin typeface="나눔스퀘어_ac ExtraBold" panose="020B0600000101010101" pitchFamily="50" charset="-127"/>
                      <a:ea typeface="나눔스퀘어_ac ExtraBold" panose="020B0600000101010101" pitchFamily="50" charset="-127"/>
                    </a:rPr>
                    <a:t>100.0%</a:t>
                  </a:r>
                </a:p>
              </p:txBody>
            </p:sp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95983C04-C085-80F0-1A82-D1E6F8590641}"/>
                    </a:ext>
                  </a:extLst>
                </p:cNvPr>
                <p:cNvSpPr txBox="1"/>
                <p:nvPr/>
              </p:nvSpPr>
              <p:spPr>
                <a:xfrm>
                  <a:off x="7841526" y="1433104"/>
                  <a:ext cx="1032161" cy="3667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altLang="ko-KR" sz="1100" dirty="0">
                      <a:solidFill>
                        <a:schemeClr val="bg2">
                          <a:lumMod val="25000"/>
                        </a:schemeClr>
                      </a:solidFill>
                      <a:latin typeface="나눔스퀘어_ac ExtraBold" panose="020B0600000101010101" pitchFamily="50" charset="-127"/>
                      <a:ea typeface="나눔스퀘어_ac ExtraBold" panose="020B0600000101010101" pitchFamily="50" charset="-127"/>
                    </a:rPr>
                    <a:t>100.0%</a:t>
                  </a:r>
                </a:p>
              </p:txBody>
            </p:sp>
          </p:grpSp>
        </p:grp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0C2906AD-3B9C-8198-5C2E-9F4B69636DFF}"/>
                </a:ext>
              </a:extLst>
            </p:cNvPr>
            <p:cNvSpPr/>
            <p:nvPr/>
          </p:nvSpPr>
          <p:spPr>
            <a:xfrm>
              <a:off x="5904475" y="1484809"/>
              <a:ext cx="467746" cy="2126511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139F491A-16E2-B4E9-873B-A345AF03212E}"/>
              </a:ext>
            </a:extLst>
          </p:cNvPr>
          <p:cNvGrpSpPr/>
          <p:nvPr/>
        </p:nvGrpSpPr>
        <p:grpSpPr>
          <a:xfrm>
            <a:off x="4254937" y="4539912"/>
            <a:ext cx="3682127" cy="996447"/>
            <a:chOff x="470216" y="3866812"/>
            <a:chExt cx="3682127" cy="996447"/>
          </a:xfrm>
        </p:grpSpPr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0D52F0E1-480C-B4F0-39E6-C052FEC37EAF}"/>
                </a:ext>
              </a:extLst>
            </p:cNvPr>
            <p:cNvSpPr/>
            <p:nvPr/>
          </p:nvSpPr>
          <p:spPr>
            <a:xfrm>
              <a:off x="470216" y="3866812"/>
              <a:ext cx="3682127" cy="996447"/>
            </a:xfrm>
            <a:prstGeom prst="roundRect">
              <a:avLst>
                <a:gd name="adj" fmla="val 3402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25DAFB3-3DAF-4503-EA69-A9F9981717F9}"/>
                </a:ext>
              </a:extLst>
            </p:cNvPr>
            <p:cNvSpPr txBox="1"/>
            <p:nvPr/>
          </p:nvSpPr>
          <p:spPr>
            <a:xfrm>
              <a:off x="691278" y="4072646"/>
              <a:ext cx="336095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이탈하는 고객들의 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ARPU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가 높음을 통해 금전적 부담이 이탈요인으로 작용했음</a:t>
              </a:r>
              <a:endPara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02C11DDA-22A8-618E-A04C-8BB641EF2915}"/>
              </a:ext>
            </a:extLst>
          </p:cNvPr>
          <p:cNvGrpSpPr/>
          <p:nvPr/>
        </p:nvGrpSpPr>
        <p:grpSpPr>
          <a:xfrm>
            <a:off x="8047575" y="4539912"/>
            <a:ext cx="3682127" cy="996447"/>
            <a:chOff x="3661585" y="930495"/>
            <a:chExt cx="941444" cy="225358"/>
          </a:xfrm>
        </p:grpSpPr>
        <p:sp>
          <p:nvSpPr>
            <p:cNvPr id="92" name="사각형: 둥근 모서리 91">
              <a:extLst>
                <a:ext uri="{FF2B5EF4-FFF2-40B4-BE49-F238E27FC236}">
                  <a16:creationId xmlns:a16="http://schemas.microsoft.com/office/drawing/2014/main" id="{627C5E1D-76F1-3D02-E428-B8BB00DDE90C}"/>
                </a:ext>
              </a:extLst>
            </p:cNvPr>
            <p:cNvSpPr/>
            <p:nvPr/>
          </p:nvSpPr>
          <p:spPr>
            <a:xfrm>
              <a:off x="3661585" y="930495"/>
              <a:ext cx="941444" cy="225358"/>
            </a:xfrm>
            <a:prstGeom prst="roundRect">
              <a:avLst>
                <a:gd name="adj" fmla="val 3402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A8BC9C6-8C31-B69E-9D64-96AF63441C82}"/>
                </a:ext>
              </a:extLst>
            </p:cNvPr>
            <p:cNvSpPr txBox="1"/>
            <p:nvPr/>
          </p:nvSpPr>
          <p:spPr>
            <a:xfrm>
              <a:off x="3669594" y="949203"/>
              <a:ext cx="918055" cy="1879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만족도 점수가 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3 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미만인 경우 </a:t>
              </a:r>
              <a:r>
                <a:rPr lang="ko-KR" altLang="en-US" sz="1600" dirty="0" err="1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이탈률이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100% 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였으며 만족도가 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4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이상인 경우 이탈한 인원이 없었음</a:t>
              </a:r>
            </a:p>
          </p:txBody>
        </p:sp>
      </p:grpSp>
      <p:sp>
        <p:nvSpPr>
          <p:cNvPr id="130" name="사각형: 둥근 모서리 129">
            <a:extLst>
              <a:ext uri="{FF2B5EF4-FFF2-40B4-BE49-F238E27FC236}">
                <a16:creationId xmlns:a16="http://schemas.microsoft.com/office/drawing/2014/main" id="{BF8C38A4-0A73-5173-7BB2-A4492FBD6398}"/>
              </a:ext>
            </a:extLst>
          </p:cNvPr>
          <p:cNvSpPr/>
          <p:nvPr/>
        </p:nvSpPr>
        <p:spPr>
          <a:xfrm>
            <a:off x="247650" y="746894"/>
            <a:ext cx="11696700" cy="5775158"/>
          </a:xfrm>
          <a:prstGeom prst="roundRect">
            <a:avLst>
              <a:gd name="adj" fmla="val 3453"/>
            </a:avLst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17" dirty="0">
              <a:solidFill>
                <a:srgbClr val="B96B6B"/>
              </a:solidFill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9DA363B7-54B8-EF4D-D0A2-F2C6794FC5F0}"/>
              </a:ext>
            </a:extLst>
          </p:cNvPr>
          <p:cNvGrpSpPr/>
          <p:nvPr/>
        </p:nvGrpSpPr>
        <p:grpSpPr>
          <a:xfrm>
            <a:off x="290465" y="1465315"/>
            <a:ext cx="3455187" cy="2575398"/>
            <a:chOff x="7935865" y="1191261"/>
            <a:chExt cx="3455187" cy="2575398"/>
          </a:xfrm>
        </p:grpSpPr>
        <p:grpSp>
          <p:nvGrpSpPr>
            <p:cNvPr id="136" name="그룹 135">
              <a:extLst>
                <a:ext uri="{FF2B5EF4-FFF2-40B4-BE49-F238E27FC236}">
                  <a16:creationId xmlns:a16="http://schemas.microsoft.com/office/drawing/2014/main" id="{F46318E7-0003-6123-1FDE-D02E6729A304}"/>
                </a:ext>
              </a:extLst>
            </p:cNvPr>
            <p:cNvGrpSpPr/>
            <p:nvPr/>
          </p:nvGrpSpPr>
          <p:grpSpPr>
            <a:xfrm>
              <a:off x="7935865" y="1191261"/>
              <a:ext cx="3455187" cy="2575398"/>
              <a:chOff x="421596" y="1091808"/>
              <a:chExt cx="4843423" cy="3610147"/>
            </a:xfrm>
          </p:grpSpPr>
          <p:grpSp>
            <p:nvGrpSpPr>
              <p:cNvPr id="138" name="그룹 137">
                <a:extLst>
                  <a:ext uri="{FF2B5EF4-FFF2-40B4-BE49-F238E27FC236}">
                    <a16:creationId xmlns:a16="http://schemas.microsoft.com/office/drawing/2014/main" id="{BE1122BB-3564-4DA2-6839-A4014417787F}"/>
                  </a:ext>
                </a:extLst>
              </p:cNvPr>
              <p:cNvGrpSpPr/>
              <p:nvPr/>
            </p:nvGrpSpPr>
            <p:grpSpPr>
              <a:xfrm>
                <a:off x="421596" y="1232771"/>
                <a:ext cx="4843423" cy="3469184"/>
                <a:chOff x="394541" y="1136518"/>
                <a:chExt cx="5354326" cy="3835131"/>
              </a:xfrm>
            </p:grpSpPr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96C1C75D-1E40-CA38-8DA7-E3D5BC95BEDB}"/>
                    </a:ext>
                  </a:extLst>
                </p:cNvPr>
                <p:cNvSpPr txBox="1"/>
                <p:nvPr/>
              </p:nvSpPr>
              <p:spPr>
                <a:xfrm>
                  <a:off x="1249005" y="4542398"/>
                  <a:ext cx="2223560" cy="4292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200" dirty="0" err="1"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데이터무제한</a:t>
                  </a:r>
                  <a:r>
                    <a:rPr lang="en-US" altLang="ko-KR" sz="1200" dirty="0"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 </a:t>
                  </a:r>
                  <a:r>
                    <a:rPr lang="ko-KR" altLang="en-US" sz="1200" dirty="0"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미사용</a:t>
                  </a:r>
                  <a:endParaRPr lang="en-US" altLang="ko-KR" sz="12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endParaRPr>
                </a:p>
              </p:txBody>
            </p:sp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id="{B52F1B4F-2D20-EF76-3D51-CA06350B7FD0}"/>
                    </a:ext>
                  </a:extLst>
                </p:cNvPr>
                <p:cNvSpPr txBox="1"/>
                <p:nvPr/>
              </p:nvSpPr>
              <p:spPr>
                <a:xfrm>
                  <a:off x="3599196" y="4542398"/>
                  <a:ext cx="2021417" cy="4292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200" dirty="0" err="1"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데이터무제한</a:t>
                  </a:r>
                  <a:r>
                    <a:rPr lang="en-US" altLang="ko-KR" sz="1200" dirty="0"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 </a:t>
                  </a:r>
                  <a:r>
                    <a:rPr lang="ko-KR" altLang="en-US" sz="1200" dirty="0"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사용</a:t>
                  </a:r>
                  <a:endParaRPr lang="en-US" altLang="ko-KR" sz="12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endParaRPr>
                </a:p>
              </p:txBody>
            </p:sp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2CBC1D1F-9BDF-18CE-42B4-36B2965BE157}"/>
                    </a:ext>
                  </a:extLst>
                </p:cNvPr>
                <p:cNvSpPr txBox="1"/>
                <p:nvPr/>
              </p:nvSpPr>
              <p:spPr>
                <a:xfrm>
                  <a:off x="1441960" y="3662006"/>
                  <a:ext cx="1837652" cy="4769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1400" dirty="0"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14.4%</a:t>
                  </a:r>
                </a:p>
              </p:txBody>
            </p:sp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8857229A-DEA6-FAC7-BFDF-76E2562E541D}"/>
                    </a:ext>
                  </a:extLst>
                </p:cNvPr>
                <p:cNvSpPr txBox="1"/>
                <p:nvPr/>
              </p:nvSpPr>
              <p:spPr>
                <a:xfrm>
                  <a:off x="3691079" y="3064857"/>
                  <a:ext cx="1837652" cy="4769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1400" dirty="0"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29.9%</a:t>
                  </a:r>
                </a:p>
              </p:txBody>
            </p:sp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C42EBF6E-9964-9282-B4E0-C997DFBCDA99}"/>
                    </a:ext>
                  </a:extLst>
                </p:cNvPr>
                <p:cNvSpPr txBox="1"/>
                <p:nvPr/>
              </p:nvSpPr>
              <p:spPr>
                <a:xfrm rot="16200000">
                  <a:off x="-77586" y="2718241"/>
                  <a:ext cx="1380657" cy="4364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200" dirty="0" err="1"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이탈률</a:t>
                  </a:r>
                  <a:r>
                    <a:rPr lang="ko-KR" altLang="en-US" sz="1200" dirty="0"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 </a:t>
                  </a:r>
                  <a:r>
                    <a:rPr lang="en-US" altLang="ko-KR" sz="1200" dirty="0"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(%)</a:t>
                  </a:r>
                </a:p>
              </p:txBody>
            </p:sp>
            <p:sp>
              <p:nvSpPr>
                <p:cNvPr id="168" name="직사각형 167">
                  <a:extLst>
                    <a:ext uri="{FF2B5EF4-FFF2-40B4-BE49-F238E27FC236}">
                      <a16:creationId xmlns:a16="http://schemas.microsoft.com/office/drawing/2014/main" id="{A77A3300-6CE7-A5D4-DD3C-673EC47A24F5}"/>
                    </a:ext>
                  </a:extLst>
                </p:cNvPr>
                <p:cNvSpPr/>
                <p:nvPr/>
              </p:nvSpPr>
              <p:spPr>
                <a:xfrm>
                  <a:off x="1454853" y="4160417"/>
                  <a:ext cx="1811866" cy="354301"/>
                </a:xfrm>
                <a:prstGeom prst="rect">
                  <a:avLst/>
                </a:prstGeom>
                <a:solidFill>
                  <a:srgbClr val="B9CCD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69" name="직사각형 168">
                  <a:extLst>
                    <a:ext uri="{FF2B5EF4-FFF2-40B4-BE49-F238E27FC236}">
                      <a16:creationId xmlns:a16="http://schemas.microsoft.com/office/drawing/2014/main" id="{2D3AD7F3-9695-1346-888E-5F94D8B92142}"/>
                    </a:ext>
                  </a:extLst>
                </p:cNvPr>
                <p:cNvSpPr/>
                <p:nvPr/>
              </p:nvSpPr>
              <p:spPr>
                <a:xfrm>
                  <a:off x="3716866" y="3562128"/>
                  <a:ext cx="1811866" cy="952588"/>
                </a:xfrm>
                <a:prstGeom prst="rect">
                  <a:avLst/>
                </a:prstGeom>
                <a:solidFill>
                  <a:srgbClr val="4F97D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70" name="직사각형 169">
                  <a:extLst>
                    <a:ext uri="{FF2B5EF4-FFF2-40B4-BE49-F238E27FC236}">
                      <a16:creationId xmlns:a16="http://schemas.microsoft.com/office/drawing/2014/main" id="{597754C5-8F0E-5B25-F5E3-5B1DF3163C57}"/>
                    </a:ext>
                  </a:extLst>
                </p:cNvPr>
                <p:cNvSpPr/>
                <p:nvPr/>
              </p:nvSpPr>
              <p:spPr>
                <a:xfrm>
                  <a:off x="1236133" y="1136518"/>
                  <a:ext cx="4512734" cy="3378200"/>
                </a:xfrm>
                <a:prstGeom prst="rect">
                  <a:avLst/>
                </a:prstGeom>
                <a:noFill/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39" name="그룹 138">
                <a:extLst>
                  <a:ext uri="{FF2B5EF4-FFF2-40B4-BE49-F238E27FC236}">
                    <a16:creationId xmlns:a16="http://schemas.microsoft.com/office/drawing/2014/main" id="{074C0DDF-7C8E-7738-4F23-78C8F3D10096}"/>
                  </a:ext>
                </a:extLst>
              </p:cNvPr>
              <p:cNvGrpSpPr/>
              <p:nvPr/>
            </p:nvGrpSpPr>
            <p:grpSpPr>
              <a:xfrm>
                <a:off x="599963" y="1091808"/>
                <a:ext cx="640891" cy="3374782"/>
                <a:chOff x="6501229" y="1244208"/>
                <a:chExt cx="640891" cy="3374782"/>
              </a:xfrm>
            </p:grpSpPr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5A7420AC-667F-474A-77B7-EC7D141B2B71}"/>
                    </a:ext>
                  </a:extLst>
                </p:cNvPr>
                <p:cNvSpPr txBox="1"/>
                <p:nvPr/>
              </p:nvSpPr>
              <p:spPr>
                <a:xfrm>
                  <a:off x="6501229" y="1244208"/>
                  <a:ext cx="640891" cy="3667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altLang="ko-KR" sz="1100" dirty="0">
                      <a:solidFill>
                        <a:schemeClr val="bg2">
                          <a:lumMod val="25000"/>
                        </a:schemeClr>
                      </a:solidFill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100</a:t>
                  </a:r>
                </a:p>
              </p:txBody>
            </p:sp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8D42AC27-6274-5CFE-E44E-1E3ACCBBDD2A}"/>
                    </a:ext>
                  </a:extLst>
                </p:cNvPr>
                <p:cNvSpPr txBox="1"/>
                <p:nvPr/>
              </p:nvSpPr>
              <p:spPr>
                <a:xfrm>
                  <a:off x="6530359" y="1845821"/>
                  <a:ext cx="582629" cy="3667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altLang="ko-KR" sz="1100" dirty="0">
                      <a:solidFill>
                        <a:schemeClr val="bg2">
                          <a:lumMod val="25000"/>
                        </a:schemeClr>
                      </a:solidFill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80</a:t>
                  </a:r>
                </a:p>
              </p:txBody>
            </p:sp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230799B6-CA6D-A184-6633-0D54A60CA77C}"/>
                    </a:ext>
                  </a:extLst>
                </p:cNvPr>
                <p:cNvSpPr txBox="1"/>
                <p:nvPr/>
              </p:nvSpPr>
              <p:spPr>
                <a:xfrm>
                  <a:off x="6530358" y="4252270"/>
                  <a:ext cx="582629" cy="3667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altLang="ko-KR" sz="1100" dirty="0">
                      <a:solidFill>
                        <a:schemeClr val="bg2">
                          <a:lumMod val="25000"/>
                        </a:schemeClr>
                      </a:solidFill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0</a:t>
                  </a:r>
                </a:p>
              </p:txBody>
            </p:sp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34B82940-D399-BF67-C043-B575A8F42727}"/>
                    </a:ext>
                  </a:extLst>
                </p:cNvPr>
                <p:cNvSpPr txBox="1"/>
                <p:nvPr/>
              </p:nvSpPr>
              <p:spPr>
                <a:xfrm>
                  <a:off x="6530361" y="3650657"/>
                  <a:ext cx="582627" cy="3667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altLang="ko-KR" sz="1100" dirty="0">
                      <a:solidFill>
                        <a:schemeClr val="bg2">
                          <a:lumMod val="25000"/>
                        </a:schemeClr>
                      </a:solidFill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20</a:t>
                  </a:r>
                </a:p>
              </p:txBody>
            </p:sp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223597A0-743D-007E-6409-AE6CB623985D}"/>
                    </a:ext>
                  </a:extLst>
                </p:cNvPr>
                <p:cNvSpPr txBox="1"/>
                <p:nvPr/>
              </p:nvSpPr>
              <p:spPr>
                <a:xfrm>
                  <a:off x="6530359" y="3049046"/>
                  <a:ext cx="582629" cy="3667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altLang="ko-KR" sz="1100" dirty="0">
                      <a:solidFill>
                        <a:schemeClr val="bg2">
                          <a:lumMod val="25000"/>
                        </a:schemeClr>
                      </a:solidFill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40</a:t>
                  </a:r>
                </a:p>
              </p:txBody>
            </p:sp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96983425-AF26-FEE7-50EE-593DBEEB5A9E}"/>
                    </a:ext>
                  </a:extLst>
                </p:cNvPr>
                <p:cNvSpPr txBox="1"/>
                <p:nvPr/>
              </p:nvSpPr>
              <p:spPr>
                <a:xfrm>
                  <a:off x="6530359" y="2447432"/>
                  <a:ext cx="582629" cy="3667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altLang="ko-KR" sz="1100" dirty="0">
                      <a:solidFill>
                        <a:schemeClr val="bg2">
                          <a:lumMod val="25000"/>
                        </a:schemeClr>
                      </a:solidFill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60</a:t>
                  </a:r>
                </a:p>
              </p:txBody>
            </p:sp>
          </p:grpSp>
        </p:grp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5B859734-2AF2-2B56-A776-4E8B37DAEBDF}"/>
                </a:ext>
              </a:extLst>
            </p:cNvPr>
            <p:cNvSpPr/>
            <p:nvPr/>
          </p:nvSpPr>
          <p:spPr>
            <a:xfrm>
              <a:off x="9991399" y="2523802"/>
              <a:ext cx="1334534" cy="939167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98CB4F5C-8316-0DBB-6F33-1F215FE2CCB8}"/>
              </a:ext>
            </a:extLst>
          </p:cNvPr>
          <p:cNvGrpSpPr/>
          <p:nvPr/>
        </p:nvGrpSpPr>
        <p:grpSpPr>
          <a:xfrm>
            <a:off x="742024" y="913117"/>
            <a:ext cx="3081576" cy="338554"/>
            <a:chOff x="8362004" y="824217"/>
            <a:chExt cx="3081576" cy="338554"/>
          </a:xfrm>
        </p:grpSpPr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F582CF7B-7045-C363-7D55-9E6AB919C2FA}"/>
                </a:ext>
              </a:extLst>
            </p:cNvPr>
            <p:cNvCxnSpPr>
              <a:cxnSpLocks/>
            </p:cNvCxnSpPr>
            <p:nvPr/>
          </p:nvCxnSpPr>
          <p:spPr>
            <a:xfrm>
              <a:off x="8362004" y="993494"/>
              <a:ext cx="3081576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8C5480B7-D55D-DE56-44E8-BB077D4AB907}"/>
                </a:ext>
              </a:extLst>
            </p:cNvPr>
            <p:cNvSpPr txBox="1"/>
            <p:nvPr/>
          </p:nvSpPr>
          <p:spPr>
            <a:xfrm>
              <a:off x="8709597" y="824217"/>
              <a:ext cx="2386390" cy="338554"/>
            </a:xfrm>
            <a:prstGeom prst="rect">
              <a:avLst/>
            </a:prstGeom>
            <a:solidFill>
              <a:srgbClr val="D9E6F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600" dirty="0" err="1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데이터무제한</a:t>
              </a:r>
              <a:r>
                <a:rPr lang="ko-KR" altLang="en-US" sz="16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사용과 </a:t>
              </a:r>
              <a:r>
                <a:rPr lang="ko-KR" altLang="en-US" sz="1600" dirty="0" err="1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이탈률</a:t>
              </a:r>
              <a:endParaRPr lang="en-US" altLang="ko-KR" sz="16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185" name="그룹 184">
            <a:extLst>
              <a:ext uri="{FF2B5EF4-FFF2-40B4-BE49-F238E27FC236}">
                <a16:creationId xmlns:a16="http://schemas.microsoft.com/office/drawing/2014/main" id="{84E8E2E9-0488-9BA9-51AF-8AF77E93AAA6}"/>
              </a:ext>
            </a:extLst>
          </p:cNvPr>
          <p:cNvGrpSpPr/>
          <p:nvPr/>
        </p:nvGrpSpPr>
        <p:grpSpPr>
          <a:xfrm>
            <a:off x="448098" y="4539912"/>
            <a:ext cx="3682127" cy="996447"/>
            <a:chOff x="3661585" y="930495"/>
            <a:chExt cx="941444" cy="225358"/>
          </a:xfrm>
        </p:grpSpPr>
        <p:sp>
          <p:nvSpPr>
            <p:cNvPr id="195" name="사각형: 둥근 모서리 194">
              <a:extLst>
                <a:ext uri="{FF2B5EF4-FFF2-40B4-BE49-F238E27FC236}">
                  <a16:creationId xmlns:a16="http://schemas.microsoft.com/office/drawing/2014/main" id="{7092B340-B950-BA53-10CF-497C83E72729}"/>
                </a:ext>
              </a:extLst>
            </p:cNvPr>
            <p:cNvSpPr/>
            <p:nvPr/>
          </p:nvSpPr>
          <p:spPr>
            <a:xfrm>
              <a:off x="3661585" y="930495"/>
              <a:ext cx="941444" cy="225358"/>
            </a:xfrm>
            <a:prstGeom prst="roundRect">
              <a:avLst>
                <a:gd name="adj" fmla="val 3402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D75CF53D-05B8-F57A-EF7C-F1E6E97742BE}"/>
                </a:ext>
              </a:extLst>
            </p:cNvPr>
            <p:cNvSpPr txBox="1"/>
            <p:nvPr/>
          </p:nvSpPr>
          <p:spPr>
            <a:xfrm>
              <a:off x="3673280" y="977047"/>
              <a:ext cx="918055" cy="1322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 err="1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데이터무제한을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사용하는 고객일수록</a:t>
              </a:r>
              <a:endPara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ctr"/>
              <a:r>
                <a:rPr lang="ko-KR" altLang="en-US" sz="1600" dirty="0" err="1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이탈률이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늘어남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2921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399CE-47E7-CC4B-2973-3165FB109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D8A6F47-BCFA-4030-FA5E-F893C56B791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24E44EA-8BB9-4356-A6E2-F3B626433E95}" type="slidenum">
              <a:rPr lang="ko-KR" altLang="en-US" smtClean="0"/>
              <a:pPr/>
              <a:t>14</a:t>
            </a:fld>
            <a:endParaRPr lang="ko-KR" altLang="en-US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35" name="텍스트 개체 틀 134">
            <a:extLst>
              <a:ext uri="{FF2B5EF4-FFF2-40B4-BE49-F238E27FC236}">
                <a16:creationId xmlns:a16="http://schemas.microsoft.com/office/drawing/2014/main" id="{23A91D9C-8B73-0986-2986-434E7E7E40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분석결과 </a:t>
            </a:r>
            <a:r>
              <a:rPr lang="en-US" altLang="ko-KR" sz="2000" dirty="0"/>
              <a:t>_</a:t>
            </a:r>
            <a:r>
              <a:rPr lang="ko-KR" altLang="en-US" sz="2000" dirty="0" err="1"/>
              <a:t>이탈률과</a:t>
            </a:r>
            <a:r>
              <a:rPr lang="ko-KR" altLang="en-US" sz="2000" dirty="0"/>
              <a:t> 상관성이 높은 변수 분석</a:t>
            </a:r>
            <a:endParaRPr lang="ko-KR" altLang="en-US" dirty="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2AC1CE7-CE9E-B6E7-6AC6-A74E669302E9}"/>
              </a:ext>
            </a:extLst>
          </p:cNvPr>
          <p:cNvSpPr/>
          <p:nvPr/>
        </p:nvSpPr>
        <p:spPr>
          <a:xfrm>
            <a:off x="247650" y="746894"/>
            <a:ext cx="11696700" cy="5775158"/>
          </a:xfrm>
          <a:prstGeom prst="roundRect">
            <a:avLst>
              <a:gd name="adj" fmla="val 3453"/>
            </a:avLst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17" dirty="0">
              <a:solidFill>
                <a:srgbClr val="B96B6B"/>
              </a:solidFill>
            </a:endParaRPr>
          </a:p>
        </p:txBody>
      </p: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76E4F137-5F13-AF4E-001D-0D1C548E02EE}"/>
              </a:ext>
            </a:extLst>
          </p:cNvPr>
          <p:cNvGrpSpPr/>
          <p:nvPr/>
        </p:nvGrpSpPr>
        <p:grpSpPr>
          <a:xfrm>
            <a:off x="7872365" y="1343661"/>
            <a:ext cx="3467887" cy="2575398"/>
            <a:chOff x="7923165" y="1191261"/>
            <a:chExt cx="3467887" cy="2575398"/>
          </a:xfrm>
        </p:grpSpPr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F4B9855A-80F9-585E-8875-D5CE444C56D6}"/>
                </a:ext>
              </a:extLst>
            </p:cNvPr>
            <p:cNvGrpSpPr/>
            <p:nvPr/>
          </p:nvGrpSpPr>
          <p:grpSpPr>
            <a:xfrm>
              <a:off x="7923165" y="1191261"/>
              <a:ext cx="3467887" cy="2575398"/>
              <a:chOff x="403794" y="1091808"/>
              <a:chExt cx="4861225" cy="3610147"/>
            </a:xfrm>
          </p:grpSpPr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09466E98-1920-C74A-29E2-66454F1D5196}"/>
                  </a:ext>
                </a:extLst>
              </p:cNvPr>
              <p:cNvGrpSpPr/>
              <p:nvPr/>
            </p:nvGrpSpPr>
            <p:grpSpPr>
              <a:xfrm>
                <a:off x="403794" y="1232771"/>
                <a:ext cx="4861225" cy="3469184"/>
                <a:chOff x="374861" y="1136518"/>
                <a:chExt cx="5374006" cy="3835131"/>
              </a:xfrm>
            </p:grpSpPr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0D5CF1A1-F0EB-A564-D565-09A2393CB54A}"/>
                    </a:ext>
                  </a:extLst>
                </p:cNvPr>
                <p:cNvSpPr txBox="1"/>
                <p:nvPr/>
              </p:nvSpPr>
              <p:spPr>
                <a:xfrm>
                  <a:off x="1249005" y="4542398"/>
                  <a:ext cx="2223560" cy="4292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200" dirty="0"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부양자 없음</a:t>
                  </a:r>
                  <a:endParaRPr lang="en-US" altLang="ko-KR" sz="12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endParaRPr>
                </a:p>
              </p:txBody>
            </p:sp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82C440A1-A697-BB97-8530-3027E9BAFA99}"/>
                    </a:ext>
                  </a:extLst>
                </p:cNvPr>
                <p:cNvSpPr txBox="1"/>
                <p:nvPr/>
              </p:nvSpPr>
              <p:spPr>
                <a:xfrm>
                  <a:off x="3599196" y="4542398"/>
                  <a:ext cx="2021417" cy="4292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200" dirty="0"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부양자 있음</a:t>
                  </a:r>
                  <a:endParaRPr lang="en-US" altLang="ko-KR" sz="12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endParaRPr>
                </a:p>
              </p:txBody>
            </p:sp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DA11045C-49D7-55CA-0B0C-49291680D743}"/>
                    </a:ext>
                  </a:extLst>
                </p:cNvPr>
                <p:cNvSpPr txBox="1"/>
                <p:nvPr/>
              </p:nvSpPr>
              <p:spPr>
                <a:xfrm>
                  <a:off x="1441960" y="3071590"/>
                  <a:ext cx="1837652" cy="4769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1400" dirty="0"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29.8%</a:t>
                  </a:r>
                </a:p>
              </p:txBody>
            </p:sp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6E84EDE5-3669-C960-BC8C-57FCE5F60FCF}"/>
                    </a:ext>
                  </a:extLst>
                </p:cNvPr>
                <p:cNvSpPr txBox="1"/>
                <p:nvPr/>
              </p:nvSpPr>
              <p:spPr>
                <a:xfrm>
                  <a:off x="3691079" y="3773356"/>
                  <a:ext cx="1837652" cy="4769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1400" dirty="0"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6.3%</a:t>
                  </a:r>
                </a:p>
              </p:txBody>
            </p:sp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D1340793-3A11-686C-48FD-6E8B3DC94893}"/>
                    </a:ext>
                  </a:extLst>
                </p:cNvPr>
                <p:cNvSpPr txBox="1"/>
                <p:nvPr/>
              </p:nvSpPr>
              <p:spPr>
                <a:xfrm rot="16200000">
                  <a:off x="-97266" y="2718240"/>
                  <a:ext cx="1380657" cy="4364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200" dirty="0" err="1"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이탈률</a:t>
                  </a:r>
                  <a:r>
                    <a:rPr lang="ko-KR" altLang="en-US" sz="1200" dirty="0"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 </a:t>
                  </a:r>
                  <a:r>
                    <a:rPr lang="en-US" altLang="ko-KR" sz="1200" dirty="0"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(%)</a:t>
                  </a:r>
                </a:p>
              </p:txBody>
            </p:sp>
            <p:sp>
              <p:nvSpPr>
                <p:cNvPr id="136" name="직사각형 135">
                  <a:extLst>
                    <a:ext uri="{FF2B5EF4-FFF2-40B4-BE49-F238E27FC236}">
                      <a16:creationId xmlns:a16="http://schemas.microsoft.com/office/drawing/2014/main" id="{1E3A9C86-6527-8FF8-F1B4-E77B94E0B08F}"/>
                    </a:ext>
                  </a:extLst>
                </p:cNvPr>
                <p:cNvSpPr/>
                <p:nvPr/>
              </p:nvSpPr>
              <p:spPr>
                <a:xfrm>
                  <a:off x="1454853" y="3562771"/>
                  <a:ext cx="1811866" cy="951946"/>
                </a:xfrm>
                <a:prstGeom prst="rect">
                  <a:avLst/>
                </a:prstGeom>
                <a:solidFill>
                  <a:srgbClr val="4F97D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7" name="직사각형 136">
                  <a:extLst>
                    <a:ext uri="{FF2B5EF4-FFF2-40B4-BE49-F238E27FC236}">
                      <a16:creationId xmlns:a16="http://schemas.microsoft.com/office/drawing/2014/main" id="{C79EFCC2-AC84-1831-D1E8-298CF941EDB9}"/>
                    </a:ext>
                  </a:extLst>
                </p:cNvPr>
                <p:cNvSpPr/>
                <p:nvPr/>
              </p:nvSpPr>
              <p:spPr>
                <a:xfrm>
                  <a:off x="3716866" y="4192547"/>
                  <a:ext cx="1811866" cy="322167"/>
                </a:xfrm>
                <a:prstGeom prst="rect">
                  <a:avLst/>
                </a:prstGeom>
                <a:solidFill>
                  <a:srgbClr val="8695A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8" name="직사각형 137">
                  <a:extLst>
                    <a:ext uri="{FF2B5EF4-FFF2-40B4-BE49-F238E27FC236}">
                      <a16:creationId xmlns:a16="http://schemas.microsoft.com/office/drawing/2014/main" id="{7D0600F7-CC8A-D23A-F7E7-FFA92A922E08}"/>
                    </a:ext>
                  </a:extLst>
                </p:cNvPr>
                <p:cNvSpPr/>
                <p:nvPr/>
              </p:nvSpPr>
              <p:spPr>
                <a:xfrm>
                  <a:off x="1236133" y="1136518"/>
                  <a:ext cx="4512734" cy="3378200"/>
                </a:xfrm>
                <a:prstGeom prst="rect">
                  <a:avLst/>
                </a:prstGeom>
                <a:noFill/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23" name="그룹 122">
                <a:extLst>
                  <a:ext uri="{FF2B5EF4-FFF2-40B4-BE49-F238E27FC236}">
                    <a16:creationId xmlns:a16="http://schemas.microsoft.com/office/drawing/2014/main" id="{6198C8CE-D660-5F6E-3C63-0CA0384B4D0E}"/>
                  </a:ext>
                </a:extLst>
              </p:cNvPr>
              <p:cNvGrpSpPr/>
              <p:nvPr/>
            </p:nvGrpSpPr>
            <p:grpSpPr>
              <a:xfrm>
                <a:off x="599963" y="1091808"/>
                <a:ext cx="640891" cy="3374782"/>
                <a:chOff x="6501229" y="1244208"/>
                <a:chExt cx="640891" cy="3374782"/>
              </a:xfrm>
            </p:grpSpPr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130B2C5F-7FBB-76D1-1185-4C159799A72A}"/>
                    </a:ext>
                  </a:extLst>
                </p:cNvPr>
                <p:cNvSpPr txBox="1"/>
                <p:nvPr/>
              </p:nvSpPr>
              <p:spPr>
                <a:xfrm>
                  <a:off x="6501229" y="1244208"/>
                  <a:ext cx="640891" cy="3667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altLang="ko-KR" sz="1100" dirty="0">
                      <a:solidFill>
                        <a:schemeClr val="bg2">
                          <a:lumMod val="25000"/>
                        </a:schemeClr>
                      </a:solidFill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100</a:t>
                  </a:r>
                </a:p>
              </p:txBody>
            </p:sp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4CD3D999-5C72-ACED-48DF-B95700250106}"/>
                    </a:ext>
                  </a:extLst>
                </p:cNvPr>
                <p:cNvSpPr txBox="1"/>
                <p:nvPr/>
              </p:nvSpPr>
              <p:spPr>
                <a:xfrm>
                  <a:off x="6530359" y="1845821"/>
                  <a:ext cx="582629" cy="3667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altLang="ko-KR" sz="1100" dirty="0">
                      <a:solidFill>
                        <a:schemeClr val="bg2">
                          <a:lumMod val="25000"/>
                        </a:schemeClr>
                      </a:solidFill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80</a:t>
                  </a:r>
                </a:p>
              </p:txBody>
            </p:sp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A3F287A4-1998-8F00-321B-FCBE60370397}"/>
                    </a:ext>
                  </a:extLst>
                </p:cNvPr>
                <p:cNvSpPr txBox="1"/>
                <p:nvPr/>
              </p:nvSpPr>
              <p:spPr>
                <a:xfrm>
                  <a:off x="6530358" y="4252270"/>
                  <a:ext cx="582629" cy="3667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altLang="ko-KR" sz="1100" dirty="0">
                      <a:solidFill>
                        <a:schemeClr val="bg2">
                          <a:lumMod val="25000"/>
                        </a:schemeClr>
                      </a:solidFill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0</a:t>
                  </a:r>
                </a:p>
              </p:txBody>
            </p:sp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5C4A40BE-4231-DEF3-E294-CC21A2830B89}"/>
                    </a:ext>
                  </a:extLst>
                </p:cNvPr>
                <p:cNvSpPr txBox="1"/>
                <p:nvPr/>
              </p:nvSpPr>
              <p:spPr>
                <a:xfrm>
                  <a:off x="6530361" y="3650657"/>
                  <a:ext cx="582627" cy="3667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altLang="ko-KR" sz="1100" dirty="0">
                      <a:solidFill>
                        <a:schemeClr val="bg2">
                          <a:lumMod val="25000"/>
                        </a:schemeClr>
                      </a:solidFill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20</a:t>
                  </a:r>
                </a:p>
              </p:txBody>
            </p:sp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02DE7C37-4754-CB77-F431-A267D2C35937}"/>
                    </a:ext>
                  </a:extLst>
                </p:cNvPr>
                <p:cNvSpPr txBox="1"/>
                <p:nvPr/>
              </p:nvSpPr>
              <p:spPr>
                <a:xfrm>
                  <a:off x="6530359" y="3049046"/>
                  <a:ext cx="582629" cy="3667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altLang="ko-KR" sz="1100" dirty="0">
                      <a:solidFill>
                        <a:schemeClr val="bg2">
                          <a:lumMod val="25000"/>
                        </a:schemeClr>
                      </a:solidFill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40</a:t>
                  </a:r>
                </a:p>
              </p:txBody>
            </p:sp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46A2464E-EC92-742A-FF9B-9B3C9ACB319B}"/>
                    </a:ext>
                  </a:extLst>
                </p:cNvPr>
                <p:cNvSpPr txBox="1"/>
                <p:nvPr/>
              </p:nvSpPr>
              <p:spPr>
                <a:xfrm>
                  <a:off x="6530359" y="2447432"/>
                  <a:ext cx="582629" cy="3667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altLang="ko-KR" sz="1100" dirty="0">
                      <a:solidFill>
                        <a:schemeClr val="bg2">
                          <a:lumMod val="25000"/>
                        </a:schemeClr>
                      </a:solidFill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60</a:t>
                  </a:r>
                </a:p>
              </p:txBody>
            </p:sp>
          </p:grpSp>
        </p:grp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5434CED6-FBC9-BD96-D8CC-BF874F0C97A3}"/>
                </a:ext>
              </a:extLst>
            </p:cNvPr>
            <p:cNvSpPr/>
            <p:nvPr/>
          </p:nvSpPr>
          <p:spPr>
            <a:xfrm>
              <a:off x="9991399" y="2523802"/>
              <a:ext cx="1334534" cy="939167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56" name="그룹 255">
            <a:extLst>
              <a:ext uri="{FF2B5EF4-FFF2-40B4-BE49-F238E27FC236}">
                <a16:creationId xmlns:a16="http://schemas.microsoft.com/office/drawing/2014/main" id="{EB54EC0A-167D-BEF6-DEE4-A54D38DB0CE5}"/>
              </a:ext>
            </a:extLst>
          </p:cNvPr>
          <p:cNvGrpSpPr/>
          <p:nvPr/>
        </p:nvGrpSpPr>
        <p:grpSpPr>
          <a:xfrm>
            <a:off x="4187422" y="1426415"/>
            <a:ext cx="3484147" cy="2405709"/>
            <a:chOff x="4101062" y="1337515"/>
            <a:chExt cx="3484147" cy="2405709"/>
          </a:xfrm>
        </p:grpSpPr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58B0D8A1-7BD7-B3FF-F8CF-FD9B1A4D0A39}"/>
                </a:ext>
              </a:extLst>
            </p:cNvPr>
            <p:cNvSpPr txBox="1"/>
            <p:nvPr/>
          </p:nvSpPr>
          <p:spPr>
            <a:xfrm rot="16200000">
              <a:off x="3452686" y="2383148"/>
              <a:ext cx="1578368" cy="2816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Density (10</a:t>
              </a:r>
              <a:r>
                <a:rPr lang="en-US" altLang="ko-KR" sz="1200" baseline="300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-4</a:t>
              </a:r>
              <a:r>
                <a:rPr lang="en-US" altLang="ko-KR" sz="12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)</a:t>
              </a:r>
            </a:p>
          </p:txBody>
        </p: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E04FBE9-5AFE-5101-E20C-C26C88AD2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601634" y="1371601"/>
              <a:ext cx="2849033" cy="2171700"/>
            </a:xfrm>
            <a:prstGeom prst="rect">
              <a:avLst/>
            </a:prstGeom>
          </p:spPr>
        </p:pic>
        <p:cxnSp>
          <p:nvCxnSpPr>
            <p:cNvPr id="139" name="직선 연결선 138">
              <a:extLst>
                <a:ext uri="{FF2B5EF4-FFF2-40B4-BE49-F238E27FC236}">
                  <a16:creationId xmlns:a16="http://schemas.microsoft.com/office/drawing/2014/main" id="{B1C01922-8B13-2967-7E6D-8101FCEEAF85}"/>
                </a:ext>
              </a:extLst>
            </p:cNvPr>
            <p:cNvCxnSpPr>
              <a:cxnSpLocks/>
            </p:cNvCxnSpPr>
            <p:nvPr/>
          </p:nvCxnSpPr>
          <p:spPr>
            <a:xfrm>
              <a:off x="5085503" y="1380490"/>
              <a:ext cx="0" cy="2175510"/>
            </a:xfrm>
            <a:prstGeom prst="line">
              <a:avLst/>
            </a:prstGeom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6BE00936-46CF-C479-DA67-ED7BBCB65C8C}"/>
                </a:ext>
              </a:extLst>
            </p:cNvPr>
            <p:cNvSpPr txBox="1"/>
            <p:nvPr/>
          </p:nvSpPr>
          <p:spPr>
            <a:xfrm>
              <a:off x="4426959" y="3512391"/>
              <a:ext cx="50291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9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0</a:t>
              </a: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E9A49BDA-041C-9714-A418-0F1E82A60512}"/>
                </a:ext>
              </a:extLst>
            </p:cNvPr>
            <p:cNvSpPr txBox="1"/>
            <p:nvPr/>
          </p:nvSpPr>
          <p:spPr>
            <a:xfrm>
              <a:off x="4877135" y="3512392"/>
              <a:ext cx="45719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9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500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E7E72DF6-8C59-95E7-DEDE-2E690DC5224B}"/>
                </a:ext>
              </a:extLst>
            </p:cNvPr>
            <p:cNvSpPr txBox="1"/>
            <p:nvPr/>
          </p:nvSpPr>
          <p:spPr>
            <a:xfrm>
              <a:off x="5281591" y="3512392"/>
              <a:ext cx="50291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9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1000</a:t>
              </a: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8F52B057-DA92-5F70-0CEE-FCB1563972C4}"/>
                </a:ext>
              </a:extLst>
            </p:cNvPr>
            <p:cNvSpPr txBox="1"/>
            <p:nvPr/>
          </p:nvSpPr>
          <p:spPr>
            <a:xfrm>
              <a:off x="5731767" y="3512392"/>
              <a:ext cx="50291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9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1500</a:t>
              </a: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4CB2760D-390A-AAA7-09BC-6E49EBAE67B2}"/>
                </a:ext>
              </a:extLst>
            </p:cNvPr>
            <p:cNvSpPr txBox="1"/>
            <p:nvPr/>
          </p:nvSpPr>
          <p:spPr>
            <a:xfrm>
              <a:off x="6181943" y="3512392"/>
              <a:ext cx="50291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9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2000</a:t>
              </a: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53E57786-53E9-8694-C27D-0A4BA30EBA7E}"/>
                </a:ext>
              </a:extLst>
            </p:cNvPr>
            <p:cNvSpPr txBox="1"/>
            <p:nvPr/>
          </p:nvSpPr>
          <p:spPr>
            <a:xfrm>
              <a:off x="6632119" y="3512392"/>
              <a:ext cx="50291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9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2500</a:t>
              </a: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06DF014-FB6D-7C02-33CE-20981C54F44A}"/>
                </a:ext>
              </a:extLst>
            </p:cNvPr>
            <p:cNvSpPr txBox="1"/>
            <p:nvPr/>
          </p:nvSpPr>
          <p:spPr>
            <a:xfrm>
              <a:off x="7082293" y="3512392"/>
              <a:ext cx="50291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9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3000</a:t>
              </a: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A4A51B6F-DBA8-FFEC-5DC2-A7CD31EE4C10}"/>
                </a:ext>
              </a:extLst>
            </p:cNvPr>
            <p:cNvSpPr txBox="1"/>
            <p:nvPr/>
          </p:nvSpPr>
          <p:spPr>
            <a:xfrm>
              <a:off x="4285191" y="3437249"/>
              <a:ext cx="32295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9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0</a:t>
              </a:r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3B185152-8ECE-9303-DE6F-CC123A558464}"/>
                </a:ext>
              </a:extLst>
            </p:cNvPr>
            <p:cNvSpPr txBox="1"/>
            <p:nvPr/>
          </p:nvSpPr>
          <p:spPr>
            <a:xfrm>
              <a:off x="4285191" y="3087295"/>
              <a:ext cx="32295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9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004786A3-D8F1-0DF2-5559-B5E4439A46D9}"/>
                </a:ext>
              </a:extLst>
            </p:cNvPr>
            <p:cNvSpPr txBox="1"/>
            <p:nvPr/>
          </p:nvSpPr>
          <p:spPr>
            <a:xfrm>
              <a:off x="4285191" y="2737339"/>
              <a:ext cx="32295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9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4</a:t>
              </a: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312EAC5C-459A-EC90-F518-DF6912D2AED7}"/>
                </a:ext>
              </a:extLst>
            </p:cNvPr>
            <p:cNvSpPr txBox="1"/>
            <p:nvPr/>
          </p:nvSpPr>
          <p:spPr>
            <a:xfrm>
              <a:off x="4285191" y="2387383"/>
              <a:ext cx="32295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9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6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41DE8EC4-9258-C9AB-6A11-A3A6D2E3AA78}"/>
                </a:ext>
              </a:extLst>
            </p:cNvPr>
            <p:cNvSpPr txBox="1"/>
            <p:nvPr/>
          </p:nvSpPr>
          <p:spPr>
            <a:xfrm>
              <a:off x="4285191" y="2037427"/>
              <a:ext cx="32295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9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8</a:t>
              </a: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97417423-794B-CCEB-0925-293213B3120C}"/>
                </a:ext>
              </a:extLst>
            </p:cNvPr>
            <p:cNvSpPr txBox="1"/>
            <p:nvPr/>
          </p:nvSpPr>
          <p:spPr>
            <a:xfrm>
              <a:off x="4285191" y="1687471"/>
              <a:ext cx="32295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9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10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F4F2F949-CFE6-CFB9-3947-7DDBEACC645A}"/>
                </a:ext>
              </a:extLst>
            </p:cNvPr>
            <p:cNvSpPr txBox="1"/>
            <p:nvPr/>
          </p:nvSpPr>
          <p:spPr>
            <a:xfrm>
              <a:off x="4285191" y="1337515"/>
              <a:ext cx="32295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9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12</a:t>
              </a:r>
            </a:p>
          </p:txBody>
        </p:sp>
        <p:sp>
          <p:nvSpPr>
            <p:cNvPr id="211" name="직사각형 210">
              <a:extLst>
                <a:ext uri="{FF2B5EF4-FFF2-40B4-BE49-F238E27FC236}">
                  <a16:creationId xmlns:a16="http://schemas.microsoft.com/office/drawing/2014/main" id="{05C828C9-2144-8283-8BD6-2989BFB46437}"/>
                </a:ext>
              </a:extLst>
            </p:cNvPr>
            <p:cNvSpPr/>
            <p:nvPr/>
          </p:nvSpPr>
          <p:spPr>
            <a:xfrm>
              <a:off x="4558101" y="1362452"/>
              <a:ext cx="2912102" cy="2179977"/>
            </a:xfrm>
            <a:prstGeom prst="rect">
              <a:avLst/>
            </a:prstGeom>
            <a:noFill/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24" name="그룹 223">
              <a:extLst>
                <a:ext uri="{FF2B5EF4-FFF2-40B4-BE49-F238E27FC236}">
                  <a16:creationId xmlns:a16="http://schemas.microsoft.com/office/drawing/2014/main" id="{F975CBFE-B760-FAB6-B35F-82A058CAAF42}"/>
                </a:ext>
              </a:extLst>
            </p:cNvPr>
            <p:cNvGrpSpPr/>
            <p:nvPr/>
          </p:nvGrpSpPr>
          <p:grpSpPr>
            <a:xfrm>
              <a:off x="6656914" y="1392766"/>
              <a:ext cx="793753" cy="427682"/>
              <a:chOff x="6409265" y="1456266"/>
              <a:chExt cx="793753" cy="427682"/>
            </a:xfrm>
          </p:grpSpPr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E2B8BD0E-566C-31DD-5F03-E043961FDB6C}"/>
                  </a:ext>
                </a:extLst>
              </p:cNvPr>
              <p:cNvSpPr txBox="1"/>
              <p:nvPr/>
            </p:nvSpPr>
            <p:spPr>
              <a:xfrm>
                <a:off x="6611300" y="1456266"/>
                <a:ext cx="591718" cy="2308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ko-KR" altLang="en-US" sz="9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이탈고객</a:t>
                </a:r>
                <a:endParaRPr lang="en-US" altLang="ko-KR" sz="9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223" name="직사각형 222">
                <a:extLst>
                  <a:ext uri="{FF2B5EF4-FFF2-40B4-BE49-F238E27FC236}">
                    <a16:creationId xmlns:a16="http://schemas.microsoft.com/office/drawing/2014/main" id="{100077D2-A801-4A76-4FB9-60AB8C349178}"/>
                  </a:ext>
                </a:extLst>
              </p:cNvPr>
              <p:cNvSpPr/>
              <p:nvPr/>
            </p:nvSpPr>
            <p:spPr>
              <a:xfrm>
                <a:off x="6409265" y="1523999"/>
                <a:ext cx="224367" cy="76200"/>
              </a:xfrm>
              <a:prstGeom prst="rect">
                <a:avLst/>
              </a:prstGeom>
              <a:solidFill>
                <a:srgbClr val="FBD7D6"/>
              </a:solidFill>
              <a:ln w="9525">
                <a:solidFill>
                  <a:srgbClr val="F6A4A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DECD2F40-6892-7828-8414-537D4F2B4A55}"/>
                  </a:ext>
                </a:extLst>
              </p:cNvPr>
              <p:cNvSpPr txBox="1"/>
              <p:nvPr/>
            </p:nvSpPr>
            <p:spPr>
              <a:xfrm>
                <a:off x="6611300" y="1653116"/>
                <a:ext cx="591718" cy="2308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ko-KR" altLang="en-US" sz="9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유지고객</a:t>
                </a:r>
                <a:endParaRPr lang="en-US" altLang="ko-KR" sz="9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222" name="직사각형 221">
                <a:extLst>
                  <a:ext uri="{FF2B5EF4-FFF2-40B4-BE49-F238E27FC236}">
                    <a16:creationId xmlns:a16="http://schemas.microsoft.com/office/drawing/2014/main" id="{9A63E9D6-3BD2-4604-32E3-085438E77EA3}"/>
                  </a:ext>
                </a:extLst>
              </p:cNvPr>
              <p:cNvSpPr/>
              <p:nvPr/>
            </p:nvSpPr>
            <p:spPr>
              <a:xfrm>
                <a:off x="6409265" y="1727199"/>
                <a:ext cx="224367" cy="76200"/>
              </a:xfrm>
              <a:prstGeom prst="rect">
                <a:avLst/>
              </a:prstGeom>
              <a:solidFill>
                <a:srgbClr val="DBC6DF"/>
              </a:solidFill>
              <a:ln w="9525">
                <a:solidFill>
                  <a:srgbClr val="B68CB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84AB3EFE-ADB9-28EC-3508-270C055043EF}"/>
              </a:ext>
            </a:extLst>
          </p:cNvPr>
          <p:cNvGrpSpPr/>
          <p:nvPr/>
        </p:nvGrpSpPr>
        <p:grpSpPr>
          <a:xfrm>
            <a:off x="4555213" y="913117"/>
            <a:ext cx="3081576" cy="338554"/>
            <a:chOff x="4555212" y="824217"/>
            <a:chExt cx="3081576" cy="338554"/>
          </a:xfrm>
        </p:grpSpPr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80E04F97-4C1B-285C-1155-51D3612B7AD3}"/>
                </a:ext>
              </a:extLst>
            </p:cNvPr>
            <p:cNvCxnSpPr>
              <a:cxnSpLocks/>
            </p:cNvCxnSpPr>
            <p:nvPr/>
          </p:nvCxnSpPr>
          <p:spPr>
            <a:xfrm>
              <a:off x="4555212" y="993494"/>
              <a:ext cx="3081576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2768995-D09F-AE61-624F-886F9B07DDE1}"/>
                </a:ext>
              </a:extLst>
            </p:cNvPr>
            <p:cNvSpPr txBox="1"/>
            <p:nvPr/>
          </p:nvSpPr>
          <p:spPr>
            <a:xfrm>
              <a:off x="5011278" y="824217"/>
              <a:ext cx="2169445" cy="338554"/>
            </a:xfrm>
            <a:prstGeom prst="rect">
              <a:avLst/>
            </a:prstGeom>
            <a:solidFill>
              <a:srgbClr val="D9E6F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6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가입기간에 따른 </a:t>
              </a:r>
              <a:r>
                <a:rPr lang="ko-KR" altLang="en-US" sz="1600" dirty="0" err="1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이탈률</a:t>
              </a:r>
              <a:endParaRPr lang="en-US" altLang="ko-KR" sz="16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443CF69E-48AB-24F9-B80A-FE7740AC9671}"/>
              </a:ext>
            </a:extLst>
          </p:cNvPr>
          <p:cNvGrpSpPr/>
          <p:nvPr/>
        </p:nvGrpSpPr>
        <p:grpSpPr>
          <a:xfrm>
            <a:off x="8368401" y="913117"/>
            <a:ext cx="3081576" cy="338554"/>
            <a:chOff x="8352445" y="824217"/>
            <a:chExt cx="3081576" cy="338554"/>
          </a:xfrm>
        </p:grpSpPr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71D132C0-D756-0A95-6DDB-993B2B250B76}"/>
                </a:ext>
              </a:extLst>
            </p:cNvPr>
            <p:cNvCxnSpPr>
              <a:cxnSpLocks/>
            </p:cNvCxnSpPr>
            <p:nvPr/>
          </p:nvCxnSpPr>
          <p:spPr>
            <a:xfrm>
              <a:off x="8352445" y="993494"/>
              <a:ext cx="3081576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C353574-952E-E0B9-FEDF-2535BA07A2D3}"/>
                </a:ext>
              </a:extLst>
            </p:cNvPr>
            <p:cNvSpPr txBox="1"/>
            <p:nvPr/>
          </p:nvSpPr>
          <p:spPr>
            <a:xfrm>
              <a:off x="8700038" y="824217"/>
              <a:ext cx="2386390" cy="338554"/>
            </a:xfrm>
            <a:prstGeom prst="rect">
              <a:avLst/>
            </a:prstGeom>
            <a:solidFill>
              <a:srgbClr val="D9E6F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6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부양자 유무에 따른 </a:t>
              </a:r>
              <a:r>
                <a:rPr lang="ko-KR" altLang="en-US" sz="1600" dirty="0" err="1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이탈률</a:t>
              </a:r>
              <a:endParaRPr lang="en-US" altLang="ko-KR" sz="16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1F4C24A8-B7A4-2095-3335-E496429FF5C3}"/>
              </a:ext>
            </a:extLst>
          </p:cNvPr>
          <p:cNvGrpSpPr/>
          <p:nvPr/>
        </p:nvGrpSpPr>
        <p:grpSpPr>
          <a:xfrm>
            <a:off x="4262037" y="3955711"/>
            <a:ext cx="3682127" cy="1003572"/>
            <a:chOff x="4267516" y="3866811"/>
            <a:chExt cx="3682127" cy="1003572"/>
          </a:xfrm>
        </p:grpSpPr>
        <p:sp>
          <p:nvSpPr>
            <p:cNvPr id="86" name="사각형: 둥근 모서리 85">
              <a:extLst>
                <a:ext uri="{FF2B5EF4-FFF2-40B4-BE49-F238E27FC236}">
                  <a16:creationId xmlns:a16="http://schemas.microsoft.com/office/drawing/2014/main" id="{78F534FF-0A9D-969B-B62D-318DA5215F9D}"/>
                </a:ext>
              </a:extLst>
            </p:cNvPr>
            <p:cNvSpPr/>
            <p:nvPr/>
          </p:nvSpPr>
          <p:spPr>
            <a:xfrm>
              <a:off x="4267516" y="3866811"/>
              <a:ext cx="3682127" cy="1003572"/>
            </a:xfrm>
            <a:prstGeom prst="roundRect">
              <a:avLst>
                <a:gd name="adj" fmla="val 3402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BF1EF627-7893-5C4A-4518-070194090727}"/>
                </a:ext>
              </a:extLst>
            </p:cNvPr>
            <p:cNvSpPr txBox="1"/>
            <p:nvPr/>
          </p:nvSpPr>
          <p:spPr>
            <a:xfrm>
              <a:off x="4313255" y="4072646"/>
              <a:ext cx="32400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6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가입기간 </a:t>
              </a:r>
              <a:r>
                <a:rPr lang="en-US" altLang="ko-KR" sz="16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500</a:t>
              </a:r>
              <a:r>
                <a:rPr lang="ko-KR" altLang="en-US" sz="16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일 이하 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구간에서 이탈자가 가장 많이 발생</a:t>
              </a:r>
              <a:endPara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05C4A17-DD7C-74C3-7582-E40881F22477}"/>
              </a:ext>
            </a:extLst>
          </p:cNvPr>
          <p:cNvGrpSpPr/>
          <p:nvPr/>
        </p:nvGrpSpPr>
        <p:grpSpPr>
          <a:xfrm>
            <a:off x="8061775" y="3955712"/>
            <a:ext cx="3682127" cy="1032447"/>
            <a:chOff x="8064816" y="3866812"/>
            <a:chExt cx="3682127" cy="1032447"/>
          </a:xfrm>
        </p:grpSpPr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E02925E0-2FB9-991C-4DBA-018987644BE9}"/>
                </a:ext>
              </a:extLst>
            </p:cNvPr>
            <p:cNvSpPr/>
            <p:nvPr/>
          </p:nvSpPr>
          <p:spPr>
            <a:xfrm>
              <a:off x="8064816" y="3866812"/>
              <a:ext cx="3682127" cy="1032447"/>
            </a:xfrm>
            <a:prstGeom prst="roundRect">
              <a:avLst>
                <a:gd name="adj" fmla="val 3402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BD9B3656-7CEB-76D5-F679-670EDD22722E}"/>
                </a:ext>
              </a:extLst>
            </p:cNvPr>
            <p:cNvSpPr txBox="1"/>
            <p:nvPr/>
          </p:nvSpPr>
          <p:spPr>
            <a:xfrm>
              <a:off x="8285613" y="4090648"/>
              <a:ext cx="32400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부양자가 있는 고객의 </a:t>
              </a:r>
              <a:r>
                <a:rPr lang="ko-KR" altLang="en-US" sz="1600" dirty="0" err="1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이탈률은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6.3%, 1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인 가구의 </a:t>
              </a:r>
              <a:r>
                <a:rPr lang="ko-KR" altLang="en-US" sz="1600" dirty="0" err="1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이탈률은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29.8%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인 것</a:t>
              </a:r>
              <a:endPara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39207147-F711-BD53-D6FC-6DF7AE241BBC}"/>
              </a:ext>
            </a:extLst>
          </p:cNvPr>
          <p:cNvGrpSpPr/>
          <p:nvPr/>
        </p:nvGrpSpPr>
        <p:grpSpPr>
          <a:xfrm>
            <a:off x="4254936" y="5245498"/>
            <a:ext cx="3682127" cy="996447"/>
            <a:chOff x="4204819" y="5156598"/>
            <a:chExt cx="3682127" cy="996447"/>
          </a:xfrm>
        </p:grpSpPr>
        <p:sp>
          <p:nvSpPr>
            <p:cNvPr id="280" name="사각형: 둥근 모서리 279">
              <a:extLst>
                <a:ext uri="{FF2B5EF4-FFF2-40B4-BE49-F238E27FC236}">
                  <a16:creationId xmlns:a16="http://schemas.microsoft.com/office/drawing/2014/main" id="{06EC0872-C98D-04D4-985B-1CD35C28C9EB}"/>
                </a:ext>
              </a:extLst>
            </p:cNvPr>
            <p:cNvSpPr/>
            <p:nvPr/>
          </p:nvSpPr>
          <p:spPr>
            <a:xfrm>
              <a:off x="4204819" y="5156598"/>
              <a:ext cx="3682127" cy="996447"/>
            </a:xfrm>
            <a:prstGeom prst="roundRect">
              <a:avLst>
                <a:gd name="adj" fmla="val 34028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1FCEAB1E-94DA-3361-4635-43F7FF92FD4C}"/>
                </a:ext>
              </a:extLst>
            </p:cNvPr>
            <p:cNvSpPr txBox="1"/>
            <p:nvPr/>
          </p:nvSpPr>
          <p:spPr>
            <a:xfrm>
              <a:off x="4425882" y="5258832"/>
              <a:ext cx="324000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초기 </a:t>
              </a:r>
              <a:r>
                <a:rPr lang="ko-KR" altLang="en-US" sz="16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고객 경험 관리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가 이탈 방지의</a:t>
              </a:r>
              <a:endPara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핵심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, 400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일에 장기로 전환 유도</a:t>
              </a:r>
              <a:endPara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가능한 혜택을 제공</a:t>
              </a:r>
              <a:endPara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AC2C760C-3E2C-C84D-2C67-AE5F21BD0FB2}"/>
              </a:ext>
            </a:extLst>
          </p:cNvPr>
          <p:cNvGrpSpPr/>
          <p:nvPr/>
        </p:nvGrpSpPr>
        <p:grpSpPr>
          <a:xfrm>
            <a:off x="8061775" y="5245498"/>
            <a:ext cx="3682127" cy="996447"/>
            <a:chOff x="8064550" y="5156598"/>
            <a:chExt cx="3682127" cy="996447"/>
          </a:xfrm>
        </p:grpSpPr>
        <p:sp>
          <p:nvSpPr>
            <p:cNvPr id="282" name="사각형: 둥근 모서리 281">
              <a:extLst>
                <a:ext uri="{FF2B5EF4-FFF2-40B4-BE49-F238E27FC236}">
                  <a16:creationId xmlns:a16="http://schemas.microsoft.com/office/drawing/2014/main" id="{956B57A2-3E8C-08DF-8910-37466B9EDE74}"/>
                </a:ext>
              </a:extLst>
            </p:cNvPr>
            <p:cNvSpPr/>
            <p:nvPr/>
          </p:nvSpPr>
          <p:spPr>
            <a:xfrm>
              <a:off x="8064550" y="5156598"/>
              <a:ext cx="3682127" cy="996447"/>
            </a:xfrm>
            <a:prstGeom prst="roundRect">
              <a:avLst>
                <a:gd name="adj" fmla="val 34028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6C069ACD-19FE-2CCB-F7AF-C122EF112DBE}"/>
                </a:ext>
              </a:extLst>
            </p:cNvPr>
            <p:cNvSpPr txBox="1"/>
            <p:nvPr/>
          </p:nvSpPr>
          <p:spPr>
            <a:xfrm>
              <a:off x="8285613" y="5362432"/>
              <a:ext cx="32400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6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가족 단위 결합이 통신사 변경을 어렵게 만드는 것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을 알 수 있음</a:t>
              </a:r>
              <a:endPara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25670768-3D97-7495-B25A-B93A53975F9D}"/>
              </a:ext>
            </a:extLst>
          </p:cNvPr>
          <p:cNvGrpSpPr/>
          <p:nvPr/>
        </p:nvGrpSpPr>
        <p:grpSpPr>
          <a:xfrm>
            <a:off x="315865" y="1359038"/>
            <a:ext cx="3455187" cy="2575397"/>
            <a:chOff x="421596" y="1091808"/>
            <a:chExt cx="4843423" cy="3610149"/>
          </a:xfrm>
        </p:grpSpPr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F13E0C46-B75A-CCF6-5986-578D86027DC7}"/>
                </a:ext>
              </a:extLst>
            </p:cNvPr>
            <p:cNvGrpSpPr/>
            <p:nvPr/>
          </p:nvGrpSpPr>
          <p:grpSpPr>
            <a:xfrm>
              <a:off x="421596" y="1232771"/>
              <a:ext cx="4843423" cy="3469186"/>
              <a:chOff x="394541" y="1136518"/>
              <a:chExt cx="5354326" cy="3835130"/>
            </a:xfrm>
          </p:grpSpPr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85618DBE-FD59-C244-32BC-2E9331D799F5}"/>
                  </a:ext>
                </a:extLst>
              </p:cNvPr>
              <p:cNvSpPr txBox="1"/>
              <p:nvPr/>
            </p:nvSpPr>
            <p:spPr>
              <a:xfrm>
                <a:off x="1427652" y="4542397"/>
                <a:ext cx="1837652" cy="4292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2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계좌</a:t>
                </a:r>
                <a:r>
                  <a:rPr lang="en-US" altLang="ko-KR" sz="12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/</a:t>
                </a:r>
                <a:r>
                  <a:rPr lang="ko-KR" altLang="en-US" sz="12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전자결제</a:t>
                </a:r>
                <a:endParaRPr lang="en-US" altLang="ko-KR" sz="12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B0CE43A3-4D90-67B7-A9B6-8FF9F5D18E7E}"/>
                  </a:ext>
                </a:extLst>
              </p:cNvPr>
              <p:cNvSpPr txBox="1"/>
              <p:nvPr/>
            </p:nvSpPr>
            <p:spPr>
              <a:xfrm>
                <a:off x="3628987" y="4542397"/>
                <a:ext cx="1837652" cy="4292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2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신용카드 결제</a:t>
                </a:r>
                <a:endParaRPr lang="en-US" altLang="ko-KR" sz="12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E9DE5E7E-6E46-A124-B7B7-2F6F5C12DD21}"/>
                  </a:ext>
                </a:extLst>
              </p:cNvPr>
              <p:cNvSpPr txBox="1"/>
              <p:nvPr/>
            </p:nvSpPr>
            <p:spPr>
              <a:xfrm>
                <a:off x="1461519" y="3055846"/>
                <a:ext cx="1837653" cy="3077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32.1%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5CAEDBF4-5721-D859-B1E3-F99A401D8B3B}"/>
                  </a:ext>
                </a:extLst>
              </p:cNvPr>
              <p:cNvSpPr txBox="1"/>
              <p:nvPr/>
            </p:nvSpPr>
            <p:spPr>
              <a:xfrm>
                <a:off x="3688254" y="3688730"/>
                <a:ext cx="1837653" cy="3077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13.6%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94461A8A-B264-D283-1D3F-11338138231F}"/>
                  </a:ext>
                </a:extLst>
              </p:cNvPr>
              <p:cNvSpPr txBox="1"/>
              <p:nvPr/>
            </p:nvSpPr>
            <p:spPr>
              <a:xfrm rot="16200000">
                <a:off x="-77586" y="2718241"/>
                <a:ext cx="1380657" cy="4364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200" dirty="0" err="1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이탈률</a:t>
                </a:r>
                <a:r>
                  <a:rPr lang="ko-KR" altLang="en-US" sz="12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 </a:t>
                </a:r>
                <a:r>
                  <a:rPr lang="en-US" altLang="ko-KR" sz="12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(%)</a:t>
                </a:r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13F82533-57F2-12F8-4DBD-0159D0A28202}"/>
                  </a:ext>
                </a:extLst>
              </p:cNvPr>
              <p:cNvSpPr/>
              <p:nvPr/>
            </p:nvSpPr>
            <p:spPr>
              <a:xfrm>
                <a:off x="1456267" y="3426884"/>
                <a:ext cx="1811866" cy="1087834"/>
              </a:xfrm>
              <a:prstGeom prst="rect">
                <a:avLst/>
              </a:prstGeom>
              <a:solidFill>
                <a:srgbClr val="4F97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858B5CC9-AC72-F88E-BC5F-F7F9521F64EC}"/>
                  </a:ext>
                </a:extLst>
              </p:cNvPr>
              <p:cNvSpPr/>
              <p:nvPr/>
            </p:nvSpPr>
            <p:spPr>
              <a:xfrm>
                <a:off x="3716866" y="4051300"/>
                <a:ext cx="1811866" cy="463417"/>
              </a:xfrm>
              <a:prstGeom prst="rect">
                <a:avLst/>
              </a:prstGeom>
              <a:solidFill>
                <a:srgbClr val="B9CCD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E2966801-3597-3C9A-0C6C-C3FEB811A376}"/>
                  </a:ext>
                </a:extLst>
              </p:cNvPr>
              <p:cNvSpPr/>
              <p:nvPr/>
            </p:nvSpPr>
            <p:spPr>
              <a:xfrm>
                <a:off x="1236133" y="1136518"/>
                <a:ext cx="4512734" cy="3378200"/>
              </a:xfrm>
              <a:prstGeom prst="rect">
                <a:avLst/>
              </a:prstGeom>
              <a:no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D23E9845-8964-2F94-1878-E7D1B83ACCE1}"/>
                  </a:ext>
                </a:extLst>
              </p:cNvPr>
              <p:cNvSpPr/>
              <p:nvPr/>
            </p:nvSpPr>
            <p:spPr>
              <a:xfrm>
                <a:off x="1318459" y="3103962"/>
                <a:ext cx="2068059" cy="1420641"/>
              </a:xfrm>
              <a:prstGeom prst="rect">
                <a:avLst/>
              </a:prstGeom>
              <a:noFill/>
              <a:ln w="57150">
                <a:solidFill>
                  <a:srgbClr val="FF0000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8C065E1E-0AF5-28A2-C445-5A52EB3B079F}"/>
                </a:ext>
              </a:extLst>
            </p:cNvPr>
            <p:cNvGrpSpPr/>
            <p:nvPr/>
          </p:nvGrpSpPr>
          <p:grpSpPr>
            <a:xfrm>
              <a:off x="614205" y="1091808"/>
              <a:ext cx="640891" cy="3374782"/>
              <a:chOff x="6515471" y="1244208"/>
              <a:chExt cx="640891" cy="3374782"/>
            </a:xfrm>
          </p:grpSpPr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190BBD6-3BD8-E882-1134-02C2DA5F1202}"/>
                  </a:ext>
                </a:extLst>
              </p:cNvPr>
              <p:cNvSpPr txBox="1"/>
              <p:nvPr/>
            </p:nvSpPr>
            <p:spPr>
              <a:xfrm>
                <a:off x="6515471" y="1244208"/>
                <a:ext cx="640891" cy="3667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ko-KR" sz="1100" dirty="0">
                    <a:solidFill>
                      <a:schemeClr val="bg2">
                        <a:lumMod val="2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100</a:t>
                </a: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12E3AEB0-030C-52A2-0EB4-A95C62E1AB3A}"/>
                  </a:ext>
                </a:extLst>
              </p:cNvPr>
              <p:cNvSpPr txBox="1"/>
              <p:nvPr/>
            </p:nvSpPr>
            <p:spPr>
              <a:xfrm>
                <a:off x="6544601" y="1845820"/>
                <a:ext cx="582629" cy="3667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ko-KR" sz="1100" dirty="0">
                    <a:solidFill>
                      <a:schemeClr val="bg2">
                        <a:lumMod val="2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80</a:t>
                </a: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59E34F10-23BD-FE5D-7857-58EE55CC6719}"/>
                  </a:ext>
                </a:extLst>
              </p:cNvPr>
              <p:cNvSpPr txBox="1"/>
              <p:nvPr/>
            </p:nvSpPr>
            <p:spPr>
              <a:xfrm>
                <a:off x="6544600" y="4252269"/>
                <a:ext cx="582629" cy="3667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ko-KR" sz="1100" dirty="0">
                    <a:solidFill>
                      <a:schemeClr val="bg2">
                        <a:lumMod val="2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0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9BFE272B-FC23-D13B-35FF-E6A9C3A7C75D}"/>
                  </a:ext>
                </a:extLst>
              </p:cNvPr>
              <p:cNvSpPr txBox="1"/>
              <p:nvPr/>
            </p:nvSpPr>
            <p:spPr>
              <a:xfrm>
                <a:off x="6544603" y="3650658"/>
                <a:ext cx="582627" cy="3667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ko-KR" sz="1100" dirty="0">
                    <a:solidFill>
                      <a:schemeClr val="bg2">
                        <a:lumMod val="2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20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5E13AB83-AA89-4D7A-37AC-063FA81BAB1A}"/>
                  </a:ext>
                </a:extLst>
              </p:cNvPr>
              <p:cNvSpPr txBox="1"/>
              <p:nvPr/>
            </p:nvSpPr>
            <p:spPr>
              <a:xfrm>
                <a:off x="6544601" y="3049046"/>
                <a:ext cx="582629" cy="3667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ko-KR" sz="1100" dirty="0">
                    <a:solidFill>
                      <a:schemeClr val="bg2">
                        <a:lumMod val="2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40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35D5614-FED7-FE7A-AB9B-124349CCA5B3}"/>
                  </a:ext>
                </a:extLst>
              </p:cNvPr>
              <p:cNvSpPr txBox="1"/>
              <p:nvPr/>
            </p:nvSpPr>
            <p:spPr>
              <a:xfrm>
                <a:off x="6544601" y="2447431"/>
                <a:ext cx="582629" cy="3667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ko-KR" sz="1100" dirty="0">
                    <a:solidFill>
                      <a:schemeClr val="bg2">
                        <a:lumMod val="2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60</a:t>
                </a:r>
              </a:p>
            </p:txBody>
          </p:sp>
        </p:grp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2391B496-FD0D-57C8-63FB-B319B86329C1}"/>
              </a:ext>
            </a:extLst>
          </p:cNvPr>
          <p:cNvGrpSpPr/>
          <p:nvPr/>
        </p:nvGrpSpPr>
        <p:grpSpPr>
          <a:xfrm>
            <a:off x="762574" y="913117"/>
            <a:ext cx="3081576" cy="338554"/>
            <a:chOff x="748421" y="824217"/>
            <a:chExt cx="3081576" cy="338554"/>
          </a:xfrm>
        </p:grpSpPr>
        <p:cxnSp>
          <p:nvCxnSpPr>
            <p:cNvPr id="108" name="직선 연결선 107">
              <a:extLst>
                <a:ext uri="{FF2B5EF4-FFF2-40B4-BE49-F238E27FC236}">
                  <a16:creationId xmlns:a16="http://schemas.microsoft.com/office/drawing/2014/main" id="{D45907C4-D13C-FDB9-797B-4ED5FAC76891}"/>
                </a:ext>
              </a:extLst>
            </p:cNvPr>
            <p:cNvCxnSpPr>
              <a:cxnSpLocks/>
            </p:cNvCxnSpPr>
            <p:nvPr/>
          </p:nvCxnSpPr>
          <p:spPr>
            <a:xfrm>
              <a:off x="748421" y="993494"/>
              <a:ext cx="3081576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E49B2461-1B05-36EB-7FC5-DF484F6363C1}"/>
                </a:ext>
              </a:extLst>
            </p:cNvPr>
            <p:cNvSpPr txBox="1"/>
            <p:nvPr/>
          </p:nvSpPr>
          <p:spPr>
            <a:xfrm>
              <a:off x="976695" y="824217"/>
              <a:ext cx="2625029" cy="338554"/>
            </a:xfrm>
            <a:prstGeom prst="rect">
              <a:avLst/>
            </a:prstGeom>
            <a:solidFill>
              <a:srgbClr val="D9E6F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6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결제방식에 따른 </a:t>
              </a:r>
              <a:r>
                <a:rPr lang="ko-KR" altLang="en-US" sz="1600" dirty="0" err="1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이탈률</a:t>
              </a:r>
              <a:endParaRPr lang="en-US" altLang="ko-KR" sz="1600" dirty="0">
                <a:solidFill>
                  <a:prstClr val="black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DBF40978-F8CA-5F99-4758-788557744B48}"/>
              </a:ext>
            </a:extLst>
          </p:cNvPr>
          <p:cNvGrpSpPr/>
          <p:nvPr/>
        </p:nvGrpSpPr>
        <p:grpSpPr>
          <a:xfrm>
            <a:off x="462299" y="3955711"/>
            <a:ext cx="3682127" cy="996447"/>
            <a:chOff x="3661585" y="930495"/>
            <a:chExt cx="941444" cy="225358"/>
          </a:xfrm>
        </p:grpSpPr>
        <p:sp>
          <p:nvSpPr>
            <p:cNvPr id="111" name="사각형: 둥근 모서리 110">
              <a:extLst>
                <a:ext uri="{FF2B5EF4-FFF2-40B4-BE49-F238E27FC236}">
                  <a16:creationId xmlns:a16="http://schemas.microsoft.com/office/drawing/2014/main" id="{A3756DA6-6078-98DA-1E7E-A49AE8C00FBE}"/>
                </a:ext>
              </a:extLst>
            </p:cNvPr>
            <p:cNvSpPr/>
            <p:nvPr/>
          </p:nvSpPr>
          <p:spPr>
            <a:xfrm>
              <a:off x="3661585" y="930495"/>
              <a:ext cx="941444" cy="225358"/>
            </a:xfrm>
            <a:prstGeom prst="roundRect">
              <a:avLst>
                <a:gd name="adj" fmla="val 3402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F560F497-82B4-2D6A-F7B8-E66C1DE50E8C}"/>
                </a:ext>
              </a:extLst>
            </p:cNvPr>
            <p:cNvSpPr txBox="1"/>
            <p:nvPr/>
          </p:nvSpPr>
          <p:spPr>
            <a:xfrm>
              <a:off x="3673280" y="977047"/>
              <a:ext cx="918055" cy="1322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계좌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/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전자 결제의 </a:t>
              </a:r>
              <a:r>
                <a:rPr lang="ko-KR" altLang="en-US" sz="1600" dirty="0" err="1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이탈률이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더 높음을 확인</a:t>
              </a:r>
              <a:endPara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ctr"/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신용카드 결제 유도가 필요함</a:t>
              </a:r>
            </a:p>
          </p:txBody>
        </p: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955A40ED-968C-2832-B5DD-382E226C817C}"/>
              </a:ext>
            </a:extLst>
          </p:cNvPr>
          <p:cNvGrpSpPr/>
          <p:nvPr/>
        </p:nvGrpSpPr>
        <p:grpSpPr>
          <a:xfrm>
            <a:off x="462299" y="5245498"/>
            <a:ext cx="3682127" cy="996447"/>
            <a:chOff x="462299" y="5245498"/>
            <a:chExt cx="3682127" cy="996447"/>
          </a:xfrm>
        </p:grpSpPr>
        <p:sp>
          <p:nvSpPr>
            <p:cNvPr id="115" name="사각형: 둥근 모서리 114">
              <a:extLst>
                <a:ext uri="{FF2B5EF4-FFF2-40B4-BE49-F238E27FC236}">
                  <a16:creationId xmlns:a16="http://schemas.microsoft.com/office/drawing/2014/main" id="{86D82B20-B8D7-51A0-E095-115F83058EC4}"/>
                </a:ext>
              </a:extLst>
            </p:cNvPr>
            <p:cNvSpPr/>
            <p:nvPr/>
          </p:nvSpPr>
          <p:spPr>
            <a:xfrm>
              <a:off x="462299" y="5245498"/>
              <a:ext cx="3682127" cy="996447"/>
            </a:xfrm>
            <a:prstGeom prst="roundRect">
              <a:avLst>
                <a:gd name="adj" fmla="val 34028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4162403-C5AB-F2AF-D722-0991A9E52C22}"/>
                </a:ext>
              </a:extLst>
            </p:cNvPr>
            <p:cNvSpPr txBox="1"/>
            <p:nvPr/>
          </p:nvSpPr>
          <p:spPr>
            <a:xfrm>
              <a:off x="683362" y="5451334"/>
              <a:ext cx="32400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신용카드 </a:t>
              </a:r>
              <a:r>
                <a:rPr lang="ko-KR" altLang="en-US" sz="16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결제 시 요금 할인 혜택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으로 신용카드 결제 유도</a:t>
              </a:r>
              <a:endPara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1757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9707A-4FD1-E528-027B-F3C51D43F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사각형: 둥근 모서리 127">
            <a:extLst>
              <a:ext uri="{FF2B5EF4-FFF2-40B4-BE49-F238E27FC236}">
                <a16:creationId xmlns:a16="http://schemas.microsoft.com/office/drawing/2014/main" id="{F07FF4C4-E4C7-C2C0-5CEA-C0A2C3ED6E02}"/>
              </a:ext>
            </a:extLst>
          </p:cNvPr>
          <p:cNvSpPr/>
          <p:nvPr/>
        </p:nvSpPr>
        <p:spPr>
          <a:xfrm>
            <a:off x="276526" y="962527"/>
            <a:ext cx="5469756" cy="3580598"/>
          </a:xfrm>
          <a:prstGeom prst="roundRect">
            <a:avLst>
              <a:gd name="adj" fmla="val 3453"/>
            </a:avLst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17" dirty="0">
              <a:solidFill>
                <a:srgbClr val="B96B6B"/>
              </a:solidFill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94512F-EDAF-A0CB-9A21-A908A7D19D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003" y="122767"/>
            <a:ext cx="5320060" cy="420687"/>
          </a:xfrm>
        </p:spPr>
        <p:txBody>
          <a:bodyPr/>
          <a:lstStyle/>
          <a:p>
            <a:r>
              <a:rPr lang="ko-KR" altLang="en-US" dirty="0"/>
              <a:t>분석결과 </a:t>
            </a:r>
            <a:r>
              <a:rPr lang="en-US" altLang="ko-KR" sz="2000" dirty="0"/>
              <a:t>_</a:t>
            </a:r>
            <a:r>
              <a:rPr lang="ko-KR" altLang="en-US" sz="2000" dirty="0"/>
              <a:t>이탈여부예측모델 수립</a:t>
            </a:r>
            <a:endParaRPr lang="ko-KR" altLang="en-US" dirty="0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914823BD-ACD2-D1D6-D57B-B05ABB15E6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24E44EA-8BB9-4356-A6E2-F3B626433E95}" type="slidenum">
              <a:rPr lang="ko-KR" altLang="en-US" smtClean="0"/>
              <a:pPr/>
              <a:t>15</a:t>
            </a:fld>
            <a:endParaRPr lang="ko-KR" altLang="en-US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D8FB254-E25A-C637-6DE2-197A53F6458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86080" y="5295386"/>
            <a:ext cx="5234187" cy="876814"/>
          </a:xfrm>
          <a:prstGeom prst="rect">
            <a:avLst/>
          </a:prstGeom>
        </p:spPr>
      </p:pic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81825F48-3221-275D-52A4-E6720655A409}"/>
              </a:ext>
            </a:extLst>
          </p:cNvPr>
          <p:cNvSpPr/>
          <p:nvPr/>
        </p:nvSpPr>
        <p:spPr>
          <a:xfrm>
            <a:off x="1687485" y="767517"/>
            <a:ext cx="2647838" cy="403394"/>
          </a:xfrm>
          <a:prstGeom prst="roundRect">
            <a:avLst>
              <a:gd name="adj" fmla="val 50000"/>
            </a:avLst>
          </a:prstGeom>
          <a:solidFill>
            <a:srgbClr val="0E46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예측 이탈 여부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40A47DCE-EE23-67B2-511C-618724BD8BC0}"/>
              </a:ext>
            </a:extLst>
          </p:cNvPr>
          <p:cNvGrpSpPr/>
          <p:nvPr/>
        </p:nvGrpSpPr>
        <p:grpSpPr>
          <a:xfrm>
            <a:off x="1291488" y="1282222"/>
            <a:ext cx="2975711" cy="2214513"/>
            <a:chOff x="1172241" y="1248356"/>
            <a:chExt cx="3596204" cy="2676282"/>
          </a:xfrm>
        </p:grpSpPr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43DCD88C-D89C-18ED-4805-672CEDBF1387}"/>
                </a:ext>
              </a:extLst>
            </p:cNvPr>
            <p:cNvGrpSpPr/>
            <p:nvPr/>
          </p:nvGrpSpPr>
          <p:grpSpPr>
            <a:xfrm>
              <a:off x="1761424" y="1299407"/>
              <a:ext cx="3007021" cy="2160000"/>
              <a:chOff x="2367813" y="1501538"/>
              <a:chExt cx="2160000" cy="2160000"/>
            </a:xfrm>
          </p:grpSpPr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D32CCB08-E502-7C9A-D401-969899507810}"/>
                  </a:ext>
                </a:extLst>
              </p:cNvPr>
              <p:cNvSpPr/>
              <p:nvPr/>
            </p:nvSpPr>
            <p:spPr>
              <a:xfrm>
                <a:off x="2367813" y="1501538"/>
                <a:ext cx="2160000" cy="2160000"/>
              </a:xfrm>
              <a:prstGeom prst="rect">
                <a:avLst/>
              </a:prstGeom>
              <a:solidFill>
                <a:srgbClr val="D9E6F6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6431FFF6-46D1-7ADE-5A31-5FF874AED9F0}"/>
                  </a:ext>
                </a:extLst>
              </p:cNvPr>
              <p:cNvSpPr/>
              <p:nvPr/>
            </p:nvSpPr>
            <p:spPr>
              <a:xfrm>
                <a:off x="3447813" y="2581538"/>
                <a:ext cx="1080000" cy="1080000"/>
              </a:xfrm>
              <a:prstGeom prst="rect">
                <a:avLst/>
              </a:prstGeom>
              <a:solidFill>
                <a:srgbClr val="BCD7E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65D9ACA6-E2A1-2601-BC63-D04D09C855E2}"/>
                  </a:ext>
                </a:extLst>
              </p:cNvPr>
              <p:cNvSpPr/>
              <p:nvPr/>
            </p:nvSpPr>
            <p:spPr>
              <a:xfrm>
                <a:off x="2367813" y="1501538"/>
                <a:ext cx="1080000" cy="1080000"/>
              </a:xfrm>
              <a:prstGeom prst="rect">
                <a:avLst/>
              </a:prstGeom>
              <a:solidFill>
                <a:srgbClr val="08326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8F611D37-5FC6-421C-F098-54BAD15B4035}"/>
                </a:ext>
              </a:extLst>
            </p:cNvPr>
            <p:cNvSpPr txBox="1"/>
            <p:nvPr/>
          </p:nvSpPr>
          <p:spPr>
            <a:xfrm>
              <a:off x="3415096" y="1706286"/>
              <a:ext cx="11858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4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C253B605-25D9-B9F8-F3B6-59D7FCE46B03}"/>
                </a:ext>
              </a:extLst>
            </p:cNvPr>
            <p:cNvSpPr txBox="1"/>
            <p:nvPr/>
          </p:nvSpPr>
          <p:spPr>
            <a:xfrm>
              <a:off x="3415096" y="2774690"/>
              <a:ext cx="11858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1668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91EF29F-1AB2-5644-54EF-6E6C31E04751}"/>
                </a:ext>
              </a:extLst>
            </p:cNvPr>
            <p:cNvSpPr txBox="1"/>
            <p:nvPr/>
          </p:nvSpPr>
          <p:spPr>
            <a:xfrm>
              <a:off x="1903930" y="2774690"/>
              <a:ext cx="11858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34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712011D0-C4D7-E504-DBD5-DA0030292D00}"/>
                </a:ext>
              </a:extLst>
            </p:cNvPr>
            <p:cNvSpPr txBox="1"/>
            <p:nvPr/>
          </p:nvSpPr>
          <p:spPr>
            <a:xfrm>
              <a:off x="1903930" y="1706286"/>
              <a:ext cx="11858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schemeClr val="bg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5157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3E53407B-5898-D2F9-128C-F3379F6EA4E8}"/>
                </a:ext>
              </a:extLst>
            </p:cNvPr>
            <p:cNvSpPr txBox="1"/>
            <p:nvPr/>
          </p:nvSpPr>
          <p:spPr>
            <a:xfrm>
              <a:off x="1893698" y="3417762"/>
              <a:ext cx="1185852" cy="3161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0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4A6FA97B-1F8E-E07C-8E34-672A4BE4F06F}"/>
                </a:ext>
              </a:extLst>
            </p:cNvPr>
            <p:cNvSpPr txBox="1"/>
            <p:nvPr/>
          </p:nvSpPr>
          <p:spPr>
            <a:xfrm>
              <a:off x="3404864" y="3417762"/>
              <a:ext cx="1185852" cy="3161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32107278-BB7C-35B0-1172-5454CE8E6FAE}"/>
                </a:ext>
              </a:extLst>
            </p:cNvPr>
            <p:cNvSpPr txBox="1"/>
            <p:nvPr/>
          </p:nvSpPr>
          <p:spPr>
            <a:xfrm rot="16200000">
              <a:off x="1029056" y="1683201"/>
              <a:ext cx="1185852" cy="3161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0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CEC3CFB-FC59-3BAF-FC3C-4385650229F7}"/>
                </a:ext>
              </a:extLst>
            </p:cNvPr>
            <p:cNvSpPr txBox="1"/>
            <p:nvPr/>
          </p:nvSpPr>
          <p:spPr>
            <a:xfrm rot="16200000">
              <a:off x="1029055" y="2792334"/>
              <a:ext cx="1185852" cy="3161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3ED3CD4D-8C40-9275-971F-475E8129CB9C}"/>
                </a:ext>
              </a:extLst>
            </p:cNvPr>
            <p:cNvSpPr txBox="1"/>
            <p:nvPr/>
          </p:nvSpPr>
          <p:spPr>
            <a:xfrm rot="16200000">
              <a:off x="749948" y="2225892"/>
              <a:ext cx="1185852" cy="3412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dirty="0" err="1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실제값</a:t>
              </a:r>
              <a:endPara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1468D261-52A7-5BCF-D4EA-0F044E00E822}"/>
                </a:ext>
              </a:extLst>
            </p:cNvPr>
            <p:cNvSpPr txBox="1"/>
            <p:nvPr/>
          </p:nvSpPr>
          <p:spPr>
            <a:xfrm>
              <a:off x="2642752" y="3583371"/>
              <a:ext cx="1185852" cy="3412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dirty="0" err="1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예측값</a:t>
              </a:r>
              <a:endPara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pic>
        <p:nvPicPr>
          <p:cNvPr id="117" name="그림 116">
            <a:extLst>
              <a:ext uri="{FF2B5EF4-FFF2-40B4-BE49-F238E27FC236}">
                <a16:creationId xmlns:a16="http://schemas.microsoft.com/office/drawing/2014/main" id="{3F646D5F-DA73-7771-85CD-3E17BD045AC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85733" y="1324555"/>
            <a:ext cx="423333" cy="1858341"/>
          </a:xfrm>
          <a:prstGeom prst="rect">
            <a:avLst/>
          </a:prstGeom>
        </p:spPr>
      </p:pic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1ACAAF46-4444-82E0-C9E2-45A21FE2E6B8}"/>
              </a:ext>
            </a:extLst>
          </p:cNvPr>
          <p:cNvSpPr/>
          <p:nvPr/>
        </p:nvSpPr>
        <p:spPr>
          <a:xfrm>
            <a:off x="575734" y="5283938"/>
            <a:ext cx="4936066" cy="708345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96" name="표 95">
            <a:extLst>
              <a:ext uri="{FF2B5EF4-FFF2-40B4-BE49-F238E27FC236}">
                <a16:creationId xmlns:a16="http://schemas.microsoft.com/office/drawing/2014/main" id="{2D810B73-D6F1-5D2B-9F90-F36AD1043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016494"/>
              </p:ext>
            </p:extLst>
          </p:nvPr>
        </p:nvGraphicFramePr>
        <p:xfrm>
          <a:off x="731685" y="3666066"/>
          <a:ext cx="4636535" cy="71029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927307">
                  <a:extLst>
                    <a:ext uri="{9D8B030D-6E8A-4147-A177-3AD203B41FA5}">
                      <a16:colId xmlns:a16="http://schemas.microsoft.com/office/drawing/2014/main" val="2879984572"/>
                    </a:ext>
                  </a:extLst>
                </a:gridCol>
                <a:gridCol w="927307">
                  <a:extLst>
                    <a:ext uri="{9D8B030D-6E8A-4147-A177-3AD203B41FA5}">
                      <a16:colId xmlns:a16="http://schemas.microsoft.com/office/drawing/2014/main" val="3039440823"/>
                    </a:ext>
                  </a:extLst>
                </a:gridCol>
                <a:gridCol w="927307">
                  <a:extLst>
                    <a:ext uri="{9D8B030D-6E8A-4147-A177-3AD203B41FA5}">
                      <a16:colId xmlns:a16="http://schemas.microsoft.com/office/drawing/2014/main" val="2523936486"/>
                    </a:ext>
                  </a:extLst>
                </a:gridCol>
                <a:gridCol w="927307">
                  <a:extLst>
                    <a:ext uri="{9D8B030D-6E8A-4147-A177-3AD203B41FA5}">
                      <a16:colId xmlns:a16="http://schemas.microsoft.com/office/drawing/2014/main" val="275180132"/>
                    </a:ext>
                  </a:extLst>
                </a:gridCol>
                <a:gridCol w="927307">
                  <a:extLst>
                    <a:ext uri="{9D8B030D-6E8A-4147-A177-3AD203B41FA5}">
                      <a16:colId xmlns:a16="http://schemas.microsoft.com/office/drawing/2014/main" val="2848879242"/>
                    </a:ext>
                  </a:extLst>
                </a:gridCol>
              </a:tblGrid>
              <a:tr h="355146"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120000"/>
                        </a:lnSpc>
                        <a:defRPr/>
                      </a:pPr>
                      <a:endParaRPr lang="ko-KR" altLang="en-US" sz="1200" b="0" kern="100" dirty="0">
                        <a:solidFill>
                          <a:prstClr val="black"/>
                        </a:solidFill>
                        <a:latin typeface="나눔스퀘어_ac ExtraBold" panose="020B0600000101010101" pitchFamily="50" charset="-127"/>
                        <a:ea typeface="나눔스퀘어_ac Extra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1200" b="0" kern="100" dirty="0">
                          <a:solidFill>
                            <a:prstClr val="black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  <a:cs typeface="Times New Roman" panose="02020603050405020304" pitchFamily="18" charset="0"/>
                        </a:rPr>
                        <a:t>AUC</a:t>
                      </a:r>
                      <a:endParaRPr lang="ko-KR" altLang="en-US" sz="1200" b="0" kern="100" dirty="0">
                        <a:solidFill>
                          <a:prstClr val="black"/>
                        </a:solidFill>
                        <a:latin typeface="나눔스퀘어_ac ExtraBold" panose="020B0600000101010101" pitchFamily="50" charset="-127"/>
                        <a:ea typeface="나눔스퀘어_ac Extra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1200" b="0" kern="100" dirty="0">
                          <a:solidFill>
                            <a:prstClr val="black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  <a:cs typeface="Times New Roman" panose="02020603050405020304" pitchFamily="18" charset="0"/>
                        </a:rPr>
                        <a:t>Precision</a:t>
                      </a:r>
                      <a:endParaRPr lang="ko-KR" altLang="en-US" sz="1200" b="0" kern="100" dirty="0">
                        <a:solidFill>
                          <a:prstClr val="black"/>
                        </a:solidFill>
                        <a:latin typeface="나눔스퀘어_ac ExtraBold" panose="020B0600000101010101" pitchFamily="50" charset="-127"/>
                        <a:ea typeface="나눔스퀘어_ac Extra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1200" b="0" kern="100" dirty="0">
                          <a:solidFill>
                            <a:srgbClr val="0022C3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  <a:cs typeface="Times New Roman" panose="02020603050405020304" pitchFamily="18" charset="0"/>
                        </a:rPr>
                        <a:t>Recall</a:t>
                      </a:r>
                      <a:endParaRPr lang="ko-KR" altLang="en-US" sz="1200" b="0" kern="100" dirty="0">
                        <a:solidFill>
                          <a:srgbClr val="0022C3"/>
                        </a:solidFill>
                        <a:latin typeface="나눔스퀘어_ac ExtraBold" panose="020B0600000101010101" pitchFamily="50" charset="-127"/>
                        <a:ea typeface="나눔스퀘어_ac Extra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1200" b="0" kern="100" dirty="0">
                          <a:solidFill>
                            <a:prstClr val="black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  <a:cs typeface="Times New Roman" panose="02020603050405020304" pitchFamily="18" charset="0"/>
                        </a:rPr>
                        <a:t>F1</a:t>
                      </a:r>
                      <a:endParaRPr lang="ko-KR" altLang="en-US" sz="1200" b="0" kern="100" dirty="0">
                        <a:solidFill>
                          <a:prstClr val="black"/>
                        </a:solidFill>
                        <a:latin typeface="나눔스퀘어_ac ExtraBold" panose="020B0600000101010101" pitchFamily="50" charset="-127"/>
                        <a:ea typeface="나눔스퀘어_ac Extra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916537"/>
                  </a:ext>
                </a:extLst>
              </a:tr>
              <a:tr h="355146"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1200" b="0" kern="100" dirty="0" err="1">
                          <a:solidFill>
                            <a:prstClr val="black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  <a:cs typeface="Times New Roman" panose="02020603050405020304" pitchFamily="18" charset="0"/>
                        </a:rPr>
                        <a:t>LightGBM</a:t>
                      </a:r>
                      <a:endParaRPr lang="ko-KR" altLang="en-US" sz="1200" b="0" kern="100" dirty="0">
                        <a:solidFill>
                          <a:prstClr val="black"/>
                        </a:solidFill>
                        <a:latin typeface="나눔스퀘어_ac ExtraBold" panose="020B0600000101010101" pitchFamily="50" charset="-127"/>
                        <a:ea typeface="나눔스퀘어_ac Extra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1200" b="0" kern="100" dirty="0">
                          <a:solidFill>
                            <a:prstClr val="black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  <a:cs typeface="Times New Roman" panose="02020603050405020304" pitchFamily="18" charset="0"/>
                        </a:rPr>
                        <a:t>0.9738</a:t>
                      </a:r>
                      <a:endParaRPr lang="ko-KR" altLang="en-US" sz="1200" b="0" kern="100" dirty="0">
                        <a:solidFill>
                          <a:prstClr val="black"/>
                        </a:solidFill>
                        <a:latin typeface="나눔스퀘어_ac ExtraBold" panose="020B0600000101010101" pitchFamily="50" charset="-127"/>
                        <a:ea typeface="나눔스퀘어_ac Extra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1200" b="0" kern="100" dirty="0">
                          <a:solidFill>
                            <a:prstClr val="black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  <a:cs typeface="Times New Roman" panose="02020603050405020304" pitchFamily="18" charset="0"/>
                        </a:rPr>
                        <a:t>0.9872</a:t>
                      </a:r>
                      <a:endParaRPr lang="ko-KR" altLang="en-US" sz="1200" b="0" kern="100" dirty="0">
                        <a:solidFill>
                          <a:prstClr val="black"/>
                        </a:solidFill>
                        <a:latin typeface="나눔스퀘어_ac ExtraBold" panose="020B0600000101010101" pitchFamily="50" charset="-127"/>
                        <a:ea typeface="나눔스퀘어_ac Extra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1200" b="0" kern="100" dirty="0">
                          <a:solidFill>
                            <a:srgbClr val="0022C3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  <a:cs typeface="Times New Roman" panose="02020603050405020304" pitchFamily="18" charset="0"/>
                        </a:rPr>
                        <a:t>0.9059</a:t>
                      </a:r>
                      <a:endParaRPr lang="ko-KR" altLang="en-US" sz="1200" b="0" kern="100" dirty="0">
                        <a:solidFill>
                          <a:srgbClr val="0022C3"/>
                        </a:solidFill>
                        <a:latin typeface="나눔스퀘어_ac ExtraBold" panose="020B0600000101010101" pitchFamily="50" charset="-127"/>
                        <a:ea typeface="나눔스퀘어_ac Extra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1200" b="0" kern="100" dirty="0">
                          <a:solidFill>
                            <a:prstClr val="black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  <a:cs typeface="Times New Roman" panose="02020603050405020304" pitchFamily="18" charset="0"/>
                        </a:rPr>
                        <a:t>0.9448</a:t>
                      </a:r>
                      <a:endParaRPr lang="ko-KR" altLang="en-US" sz="1200" b="0" kern="100" dirty="0">
                        <a:solidFill>
                          <a:prstClr val="black"/>
                        </a:solidFill>
                        <a:latin typeface="나눔스퀘어_ac ExtraBold" panose="020B0600000101010101" pitchFamily="50" charset="-127"/>
                        <a:ea typeface="나눔스퀘어_ac Extra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696782"/>
                  </a:ext>
                </a:extLst>
              </a:tr>
            </a:tbl>
          </a:graphicData>
        </a:graphic>
      </p:graphicFrame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0EEFA00F-27F2-0072-7BFF-6DAFFCE7D7A9}"/>
              </a:ext>
            </a:extLst>
          </p:cNvPr>
          <p:cNvGrpSpPr/>
          <p:nvPr/>
        </p:nvGrpSpPr>
        <p:grpSpPr>
          <a:xfrm>
            <a:off x="6222790" y="4866650"/>
            <a:ext cx="5351352" cy="1616551"/>
            <a:chOff x="3420324" y="4832784"/>
            <a:chExt cx="5351352" cy="1616551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DCDD5ADB-ED49-2D4C-0DC6-85A1CCE47F3E}"/>
                </a:ext>
              </a:extLst>
            </p:cNvPr>
            <p:cNvSpPr/>
            <p:nvPr/>
          </p:nvSpPr>
          <p:spPr>
            <a:xfrm>
              <a:off x="3420324" y="4832784"/>
              <a:ext cx="5351352" cy="1616551"/>
            </a:xfrm>
            <a:prstGeom prst="roundRect">
              <a:avLst>
                <a:gd name="adj" fmla="val 31875"/>
              </a:avLst>
            </a:prstGeom>
            <a:solidFill>
              <a:schemeClr val="bg2">
                <a:lumMod val="75000"/>
                <a:alpha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C4071E46-DE8E-8E94-D1A1-D4E4521665E3}"/>
                </a:ext>
              </a:extLst>
            </p:cNvPr>
            <p:cNvSpPr txBox="1"/>
            <p:nvPr/>
          </p:nvSpPr>
          <p:spPr>
            <a:xfrm>
              <a:off x="3932769" y="5243322"/>
              <a:ext cx="4326462" cy="7954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6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</a:t>
              </a:r>
              <a:r>
                <a:rPr lang="ko-KR" altLang="en-US" sz="16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일 때</a:t>
              </a:r>
              <a:r>
                <a:rPr lang="en-US" altLang="ko-KR" sz="16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, 90.0% </a:t>
              </a:r>
              <a:r>
                <a:rPr lang="ko-KR" altLang="en-US" sz="16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재현율로 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이탈 징후 사전 포착 가능</a:t>
              </a:r>
              <a:endPara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ctr">
                <a:lnSpc>
                  <a:spcPct val="150000"/>
                </a:lnSpc>
                <a:tabLst>
                  <a:tab pos="6011863" algn="l"/>
                </a:tabLst>
              </a:pPr>
              <a:r>
                <a:rPr lang="ko-KR" altLang="en-US" sz="16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가입기간 및 요금 체계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가</a:t>
              </a:r>
              <a:r>
                <a:rPr lang="ko-KR" altLang="en-US" sz="1600" dirty="0">
                  <a:solidFill>
                    <a:srgbClr val="3181B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이탈의 결정적인 요인</a:t>
              </a:r>
              <a:endPara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5670FEBA-1932-A4BE-241B-43EC82296719}"/>
              </a:ext>
            </a:extLst>
          </p:cNvPr>
          <p:cNvGrpSpPr/>
          <p:nvPr/>
        </p:nvGrpSpPr>
        <p:grpSpPr>
          <a:xfrm>
            <a:off x="6471143" y="1488450"/>
            <a:ext cx="4857258" cy="1263217"/>
            <a:chOff x="2178543" y="4832784"/>
            <a:chExt cx="7834915" cy="1263217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58C9C4F0-5642-D343-12A3-27A387795DBD}"/>
                </a:ext>
              </a:extLst>
            </p:cNvPr>
            <p:cNvSpPr/>
            <p:nvPr/>
          </p:nvSpPr>
          <p:spPr>
            <a:xfrm>
              <a:off x="2178543" y="4832784"/>
              <a:ext cx="7834915" cy="1263217"/>
            </a:xfrm>
            <a:prstGeom prst="roundRect">
              <a:avLst>
                <a:gd name="adj" fmla="val 31875"/>
              </a:avLst>
            </a:prstGeom>
            <a:solidFill>
              <a:schemeClr val="bg2">
                <a:lumMod val="75000"/>
                <a:alpha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93F64C94-205E-9989-7433-8FA08A2FD48E}"/>
                </a:ext>
              </a:extLst>
            </p:cNvPr>
            <p:cNvSpPr txBox="1"/>
            <p:nvPr/>
          </p:nvSpPr>
          <p:spPr>
            <a:xfrm>
              <a:off x="2612094" y="5058656"/>
              <a:ext cx="7336240" cy="7954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과거 이탈 고객의 특성을 학습하여 현재 고객 중 이탈 가능성이 높은 사용자를 수치화</a:t>
              </a:r>
              <a:endPara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732DFDC4-F406-3494-EAAF-FEBC8CC280CC}"/>
              </a:ext>
            </a:extLst>
          </p:cNvPr>
          <p:cNvGrpSpPr/>
          <p:nvPr/>
        </p:nvGrpSpPr>
        <p:grpSpPr>
          <a:xfrm>
            <a:off x="6471143" y="2868516"/>
            <a:ext cx="4857258" cy="1263217"/>
            <a:chOff x="2178543" y="4832784"/>
            <a:chExt cx="7834915" cy="1263217"/>
          </a:xfrm>
        </p:grpSpPr>
        <p:sp>
          <p:nvSpPr>
            <p:cNvPr id="126" name="사각형: 둥근 모서리 125">
              <a:extLst>
                <a:ext uri="{FF2B5EF4-FFF2-40B4-BE49-F238E27FC236}">
                  <a16:creationId xmlns:a16="http://schemas.microsoft.com/office/drawing/2014/main" id="{A28F4208-DBAB-99DD-AE1C-4154B76B3BF5}"/>
                </a:ext>
              </a:extLst>
            </p:cNvPr>
            <p:cNvSpPr/>
            <p:nvPr/>
          </p:nvSpPr>
          <p:spPr>
            <a:xfrm>
              <a:off x="2178543" y="4832784"/>
              <a:ext cx="7834915" cy="1263217"/>
            </a:xfrm>
            <a:prstGeom prst="roundRect">
              <a:avLst>
                <a:gd name="adj" fmla="val 31875"/>
              </a:avLst>
            </a:prstGeom>
            <a:solidFill>
              <a:schemeClr val="bg2">
                <a:lumMod val="75000"/>
                <a:alpha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3C203274-CD7F-E1C9-CBA5-2C2525B76F64}"/>
                </a:ext>
              </a:extLst>
            </p:cNvPr>
            <p:cNvSpPr txBox="1"/>
            <p:nvPr/>
          </p:nvSpPr>
          <p:spPr>
            <a:xfrm>
              <a:off x="2612094" y="5058656"/>
              <a:ext cx="7336240" cy="7954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고객의 이탈 원인을 데이터 기반으로 규명하여 방어 전략 수립을 위함</a:t>
              </a:r>
              <a:endPara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6136F516-5283-BE4A-9B0B-C32A8CC6EC30}"/>
              </a:ext>
            </a:extLst>
          </p:cNvPr>
          <p:cNvSpPr/>
          <p:nvPr/>
        </p:nvSpPr>
        <p:spPr>
          <a:xfrm>
            <a:off x="276526" y="4841507"/>
            <a:ext cx="5469756" cy="1607419"/>
          </a:xfrm>
          <a:prstGeom prst="roundRect">
            <a:avLst>
              <a:gd name="adj" fmla="val 3453"/>
            </a:avLst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17" dirty="0">
              <a:solidFill>
                <a:srgbClr val="B96B6B"/>
              </a:solidFill>
            </a:endParaRP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175AA129-2D9D-E68D-DE49-D2C7DBAA3041}"/>
              </a:ext>
            </a:extLst>
          </p:cNvPr>
          <p:cNvSpPr/>
          <p:nvPr/>
        </p:nvSpPr>
        <p:spPr>
          <a:xfrm>
            <a:off x="1686604" y="4653725"/>
            <a:ext cx="2649600" cy="403394"/>
          </a:xfrm>
          <a:prstGeom prst="roundRect">
            <a:avLst>
              <a:gd name="adj" fmla="val 50000"/>
            </a:avLst>
          </a:prstGeom>
          <a:solidFill>
            <a:srgbClr val="0E46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LightGBM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변수 중요도</a:t>
            </a:r>
          </a:p>
        </p:txBody>
      </p:sp>
      <p:pic>
        <p:nvPicPr>
          <p:cNvPr id="100" name="그래픽 99" descr="갈매기형 화살표 단색으로 채워진">
            <a:extLst>
              <a:ext uri="{FF2B5EF4-FFF2-40B4-BE49-F238E27FC236}">
                <a16:creationId xmlns:a16="http://schemas.microsoft.com/office/drawing/2014/main" id="{991F015A-F693-C200-5685-E89243BD40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3767" y="5439434"/>
            <a:ext cx="656924" cy="656924"/>
          </a:xfrm>
          <a:prstGeom prst="rect">
            <a:avLst/>
          </a:prstGeom>
        </p:spPr>
      </p:pic>
      <p:sp>
        <p:nvSpPr>
          <p:cNvPr id="130" name="사각형: 둥근 모서리 129">
            <a:extLst>
              <a:ext uri="{FF2B5EF4-FFF2-40B4-BE49-F238E27FC236}">
                <a16:creationId xmlns:a16="http://schemas.microsoft.com/office/drawing/2014/main" id="{B85C7758-B61B-1B6B-DE96-E777E4FF5C61}"/>
              </a:ext>
            </a:extLst>
          </p:cNvPr>
          <p:cNvSpPr/>
          <p:nvPr/>
        </p:nvSpPr>
        <p:spPr>
          <a:xfrm>
            <a:off x="6169326" y="962527"/>
            <a:ext cx="5469756" cy="3580598"/>
          </a:xfrm>
          <a:prstGeom prst="roundRect">
            <a:avLst>
              <a:gd name="adj" fmla="val 3453"/>
            </a:avLst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17" dirty="0">
              <a:solidFill>
                <a:srgbClr val="B96B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9926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9F3E4D-8232-93E4-98EF-E8F5ABF208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분석결과 </a:t>
            </a:r>
            <a:r>
              <a:rPr lang="en-US" altLang="ko-KR" sz="2000" dirty="0"/>
              <a:t>_LTV </a:t>
            </a:r>
            <a:r>
              <a:rPr lang="ko-KR" altLang="en-US" sz="2000" dirty="0"/>
              <a:t>적용을 위한 군집화</a:t>
            </a:r>
            <a:endParaRPr lang="ko-KR" altLang="en-US" dirty="0"/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DF5FC4B2-9BB0-4DC1-2625-E9911AE775EE}"/>
              </a:ext>
            </a:extLst>
          </p:cNvPr>
          <p:cNvCxnSpPr>
            <a:cxnSpLocks/>
          </p:cNvCxnSpPr>
          <p:nvPr/>
        </p:nvCxnSpPr>
        <p:spPr>
          <a:xfrm flipV="1">
            <a:off x="657061" y="11050768"/>
            <a:ext cx="10836000" cy="1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D7D8BAD0-19C3-9F6A-C32E-11F2A3124948}"/>
              </a:ext>
            </a:extLst>
          </p:cNvPr>
          <p:cNvGrpSpPr/>
          <p:nvPr/>
        </p:nvGrpSpPr>
        <p:grpSpPr>
          <a:xfrm>
            <a:off x="671464" y="753310"/>
            <a:ext cx="10849072" cy="597525"/>
            <a:chOff x="671464" y="753310"/>
            <a:chExt cx="10849072" cy="597525"/>
          </a:xfrm>
        </p:grpSpPr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7CD02FFC-768C-265E-D575-F34B52F59E45}"/>
                </a:ext>
              </a:extLst>
            </p:cNvPr>
            <p:cNvSpPr/>
            <p:nvPr/>
          </p:nvSpPr>
          <p:spPr>
            <a:xfrm>
              <a:off x="671464" y="753310"/>
              <a:ext cx="10849072" cy="597525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BD337959-F2F5-7C75-60A9-C172DDF6C1D1}"/>
                </a:ext>
              </a:extLst>
            </p:cNvPr>
            <p:cNvSpPr txBox="1"/>
            <p:nvPr/>
          </p:nvSpPr>
          <p:spPr>
            <a:xfrm>
              <a:off x="819759" y="872092"/>
              <a:ext cx="10552483" cy="35996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82159" tIns="41080" rIns="82159" bIns="4108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altLang="ko-KR" dirty="0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[</a:t>
              </a:r>
              <a:r>
                <a:rPr lang="ko-KR" altLang="en-US" dirty="0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군집 기준</a:t>
              </a:r>
              <a:r>
                <a:rPr lang="en-US" altLang="ko-KR" dirty="0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]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고객의 </a:t>
              </a:r>
              <a:r>
                <a:rPr lang="ko-KR" altLang="en-US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서비스 이용 형태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를 가장 잘 설명하는 변수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(</a:t>
              </a:r>
              <a:r>
                <a:rPr lang="ko-KR" altLang="en-US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요금</a:t>
              </a:r>
              <a:r>
                <a:rPr lang="en-US" altLang="ko-KR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, </a:t>
              </a:r>
              <a:r>
                <a:rPr lang="ko-KR" altLang="en-US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사용량</a:t>
              </a:r>
              <a:r>
                <a:rPr lang="en-US" altLang="ko-KR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, </a:t>
              </a:r>
              <a:r>
                <a:rPr lang="ko-KR" altLang="en-US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이용기간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)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를 중심으로 </a:t>
              </a:r>
              <a:r>
                <a:rPr lang="en-US" altLang="ko-KR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K=4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군집 구성</a:t>
              </a:r>
            </a:p>
          </p:txBody>
        </p:sp>
      </p:grpSp>
      <p:sp>
        <p:nvSpPr>
          <p:cNvPr id="35" name="슬라이드 번호 개체 틀 34">
            <a:extLst>
              <a:ext uri="{FF2B5EF4-FFF2-40B4-BE49-F238E27FC236}">
                <a16:creationId xmlns:a16="http://schemas.microsoft.com/office/drawing/2014/main" id="{65946AAB-E573-624F-38D9-245B2A6F8FB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24E44EA-8BB9-4356-A6E2-F3B626433E95}" type="slidenum">
              <a:rPr lang="ko-KR" altLang="en-US" smtClean="0"/>
              <a:pPr/>
              <a:t>16</a:t>
            </a:fld>
            <a:endParaRPr lang="ko-KR" altLang="en-US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C95BF23-C074-EDFA-55E5-9E07D8A57A1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667" y="1429788"/>
            <a:ext cx="7340600" cy="2633682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E5A1E084-0390-46FA-1C7C-18F224EDA707}"/>
              </a:ext>
            </a:extLst>
          </p:cNvPr>
          <p:cNvSpPr txBox="1"/>
          <p:nvPr/>
        </p:nvSpPr>
        <p:spPr>
          <a:xfrm>
            <a:off x="904658" y="2223985"/>
            <a:ext cx="680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D52728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군집</a:t>
            </a:r>
            <a:r>
              <a:rPr lang="en-US" altLang="ko-KR" sz="1400" dirty="0">
                <a:solidFill>
                  <a:srgbClr val="D52728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</a:t>
            </a:r>
            <a:endParaRPr lang="ko-KR" altLang="en-US" sz="1400" dirty="0">
              <a:solidFill>
                <a:srgbClr val="D52728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C978CE4-6756-1B15-2FF5-0CB689D7A557}"/>
              </a:ext>
            </a:extLst>
          </p:cNvPr>
          <p:cNvSpPr txBox="1"/>
          <p:nvPr/>
        </p:nvSpPr>
        <p:spPr>
          <a:xfrm>
            <a:off x="3472053" y="3329429"/>
            <a:ext cx="680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7F0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군집</a:t>
            </a:r>
            <a:r>
              <a:rPr lang="en-US" altLang="ko-KR" sz="1400" dirty="0">
                <a:solidFill>
                  <a:srgbClr val="FF7F0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</a:t>
            </a:r>
            <a:endParaRPr lang="ko-KR" altLang="en-US" sz="1400" dirty="0">
              <a:solidFill>
                <a:srgbClr val="FF7F0E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48E39C3-523B-7980-383D-A9B07A298AAD}"/>
              </a:ext>
            </a:extLst>
          </p:cNvPr>
          <p:cNvSpPr txBox="1"/>
          <p:nvPr/>
        </p:nvSpPr>
        <p:spPr>
          <a:xfrm>
            <a:off x="1218839" y="3329429"/>
            <a:ext cx="680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2CA02C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군집</a:t>
            </a:r>
            <a:r>
              <a:rPr lang="en-US" altLang="ko-KR" sz="1400" dirty="0">
                <a:solidFill>
                  <a:srgbClr val="2CA02C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</a:t>
            </a:r>
            <a:endParaRPr lang="ko-KR" altLang="en-US" sz="1400" dirty="0">
              <a:solidFill>
                <a:srgbClr val="2CA02C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C4C6EB0-3068-FBE7-54CB-29A65DBD3C51}"/>
              </a:ext>
            </a:extLst>
          </p:cNvPr>
          <p:cNvSpPr txBox="1"/>
          <p:nvPr/>
        </p:nvSpPr>
        <p:spPr>
          <a:xfrm>
            <a:off x="1494810" y="1409335"/>
            <a:ext cx="680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3181BA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군집</a:t>
            </a:r>
            <a:r>
              <a:rPr lang="en-US" altLang="ko-KR" sz="1400" dirty="0">
                <a:solidFill>
                  <a:srgbClr val="3181BA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0</a:t>
            </a:r>
            <a:endParaRPr lang="ko-KR" altLang="en-US" sz="1400" dirty="0">
              <a:solidFill>
                <a:srgbClr val="3181BA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3FED7683-1784-8C24-C2B6-1220A8832955}"/>
              </a:ext>
            </a:extLst>
          </p:cNvPr>
          <p:cNvGrpSpPr/>
          <p:nvPr/>
        </p:nvGrpSpPr>
        <p:grpSpPr>
          <a:xfrm>
            <a:off x="8323833" y="1730543"/>
            <a:ext cx="2705023" cy="1987015"/>
            <a:chOff x="8755080" y="2197139"/>
            <a:chExt cx="2391500" cy="1756712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640423F-727F-7958-2392-114890499915}"/>
                </a:ext>
              </a:extLst>
            </p:cNvPr>
            <p:cNvSpPr txBox="1"/>
            <p:nvPr/>
          </p:nvSpPr>
          <p:spPr>
            <a:xfrm>
              <a:off x="8755080" y="2197139"/>
              <a:ext cx="854963" cy="516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 err="1">
                  <a:solidFill>
                    <a:srgbClr val="44AA44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저가치</a:t>
              </a:r>
              <a:r>
                <a:rPr lang="ko-KR" altLang="en-US" sz="1600" dirty="0">
                  <a:solidFill>
                    <a:srgbClr val="44AA44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 </a:t>
              </a:r>
              <a:endParaRPr lang="en-US" altLang="ko-KR" sz="1600" dirty="0">
                <a:solidFill>
                  <a:srgbClr val="44AA44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endParaRPr>
            </a:p>
            <a:p>
              <a:pPr algn="ctr"/>
              <a:r>
                <a:rPr lang="ko-KR" altLang="en-US" sz="1600" dirty="0">
                  <a:solidFill>
                    <a:srgbClr val="44AA44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유지군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B714A8A-3D93-DD2E-73BF-20078CC76CEE}"/>
                </a:ext>
              </a:extLst>
            </p:cNvPr>
            <p:cNvSpPr txBox="1"/>
            <p:nvPr/>
          </p:nvSpPr>
          <p:spPr>
            <a:xfrm>
              <a:off x="9481116" y="2197139"/>
              <a:ext cx="854963" cy="516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rgbClr val="2D7FB8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신규 </a:t>
              </a:r>
              <a:endParaRPr lang="en-US" altLang="ko-KR" sz="1600" dirty="0">
                <a:solidFill>
                  <a:srgbClr val="2D7FB8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endParaRPr>
            </a:p>
            <a:p>
              <a:pPr algn="ctr"/>
              <a:r>
                <a:rPr lang="ko-KR" altLang="en-US" sz="1600" dirty="0">
                  <a:solidFill>
                    <a:srgbClr val="2D7FB8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불만족군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26A6012-B5E0-4FE8-61B3-9242823BCEFB}"/>
                </a:ext>
              </a:extLst>
            </p:cNvPr>
            <p:cNvSpPr txBox="1"/>
            <p:nvPr/>
          </p:nvSpPr>
          <p:spPr>
            <a:xfrm>
              <a:off x="9481116" y="3436854"/>
              <a:ext cx="854963" cy="516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 err="1">
                  <a:solidFill>
                    <a:srgbClr val="FF7F0E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고가치</a:t>
              </a:r>
              <a:r>
                <a:rPr lang="ko-KR" altLang="en-US" sz="1600" dirty="0">
                  <a:solidFill>
                    <a:srgbClr val="FF7F0E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 </a:t>
              </a:r>
              <a:endParaRPr lang="en-US" altLang="ko-KR" sz="1600" dirty="0">
                <a:solidFill>
                  <a:srgbClr val="FF7F0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endParaRPr>
            </a:p>
            <a:p>
              <a:pPr algn="ctr"/>
              <a:r>
                <a:rPr lang="ko-KR" altLang="en-US" sz="1600" dirty="0" err="1">
                  <a:solidFill>
                    <a:srgbClr val="FF7F0E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충성군</a:t>
              </a:r>
              <a:endParaRPr lang="ko-KR" altLang="en-US" sz="1600" dirty="0">
                <a:solidFill>
                  <a:srgbClr val="FF7F0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2965C99-C7E2-34EA-0A6D-D1A4FE75B51D}"/>
                </a:ext>
              </a:extLst>
            </p:cNvPr>
            <p:cNvSpPr txBox="1"/>
            <p:nvPr/>
          </p:nvSpPr>
          <p:spPr>
            <a:xfrm>
              <a:off x="10206121" y="2197139"/>
              <a:ext cx="940459" cy="516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 err="1">
                  <a:solidFill>
                    <a:srgbClr val="D52728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고매출</a:t>
              </a:r>
              <a:endParaRPr lang="en-US" altLang="ko-KR" sz="1600" dirty="0">
                <a:solidFill>
                  <a:srgbClr val="D52728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endParaRPr>
            </a:p>
            <a:p>
              <a:pPr algn="ctr"/>
              <a:r>
                <a:rPr lang="ko-KR" altLang="en-US" sz="1600" dirty="0">
                  <a:solidFill>
                    <a:srgbClr val="D52728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이탈위험군</a:t>
              </a:r>
            </a:p>
          </p:txBody>
        </p:sp>
      </p:grpSp>
      <p:sp>
        <p:nvSpPr>
          <p:cNvPr id="66" name="자유형: 도형 65">
            <a:extLst>
              <a:ext uri="{FF2B5EF4-FFF2-40B4-BE49-F238E27FC236}">
                <a16:creationId xmlns:a16="http://schemas.microsoft.com/office/drawing/2014/main" id="{A65CDD9D-21AA-231E-31FB-3C2FD3248EF6}"/>
              </a:ext>
            </a:extLst>
          </p:cNvPr>
          <p:cNvSpPr/>
          <p:nvPr/>
        </p:nvSpPr>
        <p:spPr>
          <a:xfrm rot="10800000">
            <a:off x="8923830" y="2289677"/>
            <a:ext cx="1386746" cy="878256"/>
          </a:xfrm>
          <a:custGeom>
            <a:avLst/>
            <a:gdLst>
              <a:gd name="csX0" fmla="*/ 477085 w 954169"/>
              <a:gd name="csY0" fmla="*/ 0 h 704850"/>
              <a:gd name="csX1" fmla="*/ 954169 w 954169"/>
              <a:gd name="csY1" fmla="*/ 298450 h 704850"/>
              <a:gd name="csX2" fmla="*/ 674047 w 954169"/>
              <a:gd name="csY2" fmla="*/ 298450 h 704850"/>
              <a:gd name="csX3" fmla="*/ 954169 w 954169"/>
              <a:gd name="csY3" fmla="*/ 704850 h 704850"/>
              <a:gd name="csX4" fmla="*/ 0 w 954169"/>
              <a:gd name="csY4" fmla="*/ 704850 h 704850"/>
              <a:gd name="csX5" fmla="*/ 280124 w 954169"/>
              <a:gd name="csY5" fmla="*/ 298450 h 704850"/>
              <a:gd name="csX6" fmla="*/ 0 w 954169"/>
              <a:gd name="csY6" fmla="*/ 298450 h 704850"/>
              <a:gd name="csX0" fmla="*/ 497302 w 974386"/>
              <a:gd name="csY0" fmla="*/ 0 h 704850"/>
              <a:gd name="csX1" fmla="*/ 974386 w 974386"/>
              <a:gd name="csY1" fmla="*/ 298450 h 704850"/>
              <a:gd name="csX2" fmla="*/ 694264 w 974386"/>
              <a:gd name="csY2" fmla="*/ 298450 h 704850"/>
              <a:gd name="csX3" fmla="*/ 974386 w 974386"/>
              <a:gd name="csY3" fmla="*/ 704850 h 704850"/>
              <a:gd name="csX4" fmla="*/ 20217 w 974386"/>
              <a:gd name="csY4" fmla="*/ 704850 h 704850"/>
              <a:gd name="csX5" fmla="*/ 300341 w 974386"/>
              <a:gd name="csY5" fmla="*/ 298450 h 704850"/>
              <a:gd name="csX6" fmla="*/ 20217 w 974386"/>
              <a:gd name="csY6" fmla="*/ 298450 h 704850"/>
              <a:gd name="csX7" fmla="*/ 497302 w 974386"/>
              <a:gd name="csY7" fmla="*/ 0 h 704850"/>
              <a:gd name="csX0" fmla="*/ 477085 w 954169"/>
              <a:gd name="csY0" fmla="*/ 0 h 704850"/>
              <a:gd name="csX1" fmla="*/ 954169 w 954169"/>
              <a:gd name="csY1" fmla="*/ 298450 h 704850"/>
              <a:gd name="csX2" fmla="*/ 674047 w 954169"/>
              <a:gd name="csY2" fmla="*/ 298450 h 704850"/>
              <a:gd name="csX3" fmla="*/ 954169 w 954169"/>
              <a:gd name="csY3" fmla="*/ 704850 h 704850"/>
              <a:gd name="csX4" fmla="*/ 0 w 954169"/>
              <a:gd name="csY4" fmla="*/ 704850 h 704850"/>
              <a:gd name="csX5" fmla="*/ 280124 w 954169"/>
              <a:gd name="csY5" fmla="*/ 298450 h 704850"/>
              <a:gd name="csX6" fmla="*/ 0 w 954169"/>
              <a:gd name="csY6" fmla="*/ 298450 h 704850"/>
              <a:gd name="csX7" fmla="*/ 477085 w 954169"/>
              <a:gd name="csY7" fmla="*/ 0 h 704850"/>
              <a:gd name="csX0" fmla="*/ 477085 w 974386"/>
              <a:gd name="csY0" fmla="*/ 0 h 704850"/>
              <a:gd name="csX1" fmla="*/ 954169 w 974386"/>
              <a:gd name="csY1" fmla="*/ 298450 h 704850"/>
              <a:gd name="csX2" fmla="*/ 674047 w 974386"/>
              <a:gd name="csY2" fmla="*/ 298450 h 704850"/>
              <a:gd name="csX3" fmla="*/ 954169 w 974386"/>
              <a:gd name="csY3" fmla="*/ 704850 h 704850"/>
              <a:gd name="csX4" fmla="*/ 0 w 974386"/>
              <a:gd name="csY4" fmla="*/ 704850 h 704850"/>
              <a:gd name="csX5" fmla="*/ 280124 w 974386"/>
              <a:gd name="csY5" fmla="*/ 298450 h 704850"/>
              <a:gd name="csX6" fmla="*/ 0 w 974386"/>
              <a:gd name="csY6" fmla="*/ 298450 h 704850"/>
              <a:gd name="csX7" fmla="*/ 477085 w 974386"/>
              <a:gd name="csY7" fmla="*/ 0 h 704850"/>
              <a:gd name="csX0" fmla="*/ 477085 w 954169"/>
              <a:gd name="csY0" fmla="*/ 0 h 704850"/>
              <a:gd name="csX1" fmla="*/ 954169 w 954169"/>
              <a:gd name="csY1" fmla="*/ 298450 h 704850"/>
              <a:gd name="csX2" fmla="*/ 674047 w 954169"/>
              <a:gd name="csY2" fmla="*/ 298450 h 704850"/>
              <a:gd name="csX3" fmla="*/ 954169 w 954169"/>
              <a:gd name="csY3" fmla="*/ 704850 h 704850"/>
              <a:gd name="csX4" fmla="*/ 0 w 954169"/>
              <a:gd name="csY4" fmla="*/ 704850 h 704850"/>
              <a:gd name="csX5" fmla="*/ 280124 w 954169"/>
              <a:gd name="csY5" fmla="*/ 298450 h 704850"/>
              <a:gd name="csX6" fmla="*/ 0 w 954169"/>
              <a:gd name="csY6" fmla="*/ 298450 h 704850"/>
              <a:gd name="csX7" fmla="*/ 477085 w 954169"/>
              <a:gd name="csY7" fmla="*/ 0 h 704850"/>
              <a:gd name="csX0" fmla="*/ 477085 w 954169"/>
              <a:gd name="csY0" fmla="*/ 0 h 704850"/>
              <a:gd name="csX1" fmla="*/ 882329 w 954169"/>
              <a:gd name="csY1" fmla="*/ 296764 h 704850"/>
              <a:gd name="csX2" fmla="*/ 674047 w 954169"/>
              <a:gd name="csY2" fmla="*/ 298450 h 704850"/>
              <a:gd name="csX3" fmla="*/ 954169 w 954169"/>
              <a:gd name="csY3" fmla="*/ 704850 h 704850"/>
              <a:gd name="csX4" fmla="*/ 0 w 954169"/>
              <a:gd name="csY4" fmla="*/ 704850 h 704850"/>
              <a:gd name="csX5" fmla="*/ 280124 w 954169"/>
              <a:gd name="csY5" fmla="*/ 298450 h 704850"/>
              <a:gd name="csX6" fmla="*/ 0 w 954169"/>
              <a:gd name="csY6" fmla="*/ 298450 h 704850"/>
              <a:gd name="csX7" fmla="*/ 477085 w 954169"/>
              <a:gd name="csY7" fmla="*/ 0 h 704850"/>
              <a:gd name="csX0" fmla="*/ 477085 w 954169"/>
              <a:gd name="csY0" fmla="*/ 0 h 704850"/>
              <a:gd name="csX1" fmla="*/ 882329 w 954169"/>
              <a:gd name="csY1" fmla="*/ 296764 h 704850"/>
              <a:gd name="csX2" fmla="*/ 674047 w 954169"/>
              <a:gd name="csY2" fmla="*/ 298450 h 704850"/>
              <a:gd name="csX3" fmla="*/ 954169 w 954169"/>
              <a:gd name="csY3" fmla="*/ 704850 h 704850"/>
              <a:gd name="csX4" fmla="*/ 0 w 954169"/>
              <a:gd name="csY4" fmla="*/ 704850 h 704850"/>
              <a:gd name="csX5" fmla="*/ 280124 w 954169"/>
              <a:gd name="csY5" fmla="*/ 298450 h 704850"/>
              <a:gd name="csX6" fmla="*/ 79698 w 954169"/>
              <a:gd name="csY6" fmla="*/ 299329 h 704850"/>
              <a:gd name="csX7" fmla="*/ 477085 w 954169"/>
              <a:gd name="csY7" fmla="*/ 0 h 7048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54169" h="704850">
                <a:moveTo>
                  <a:pt x="477085" y="0"/>
                </a:moveTo>
                <a:lnTo>
                  <a:pt x="882329" y="296764"/>
                </a:lnTo>
                <a:lnTo>
                  <a:pt x="674047" y="298450"/>
                </a:lnTo>
                <a:cubicBezTo>
                  <a:pt x="674047" y="366183"/>
                  <a:pt x="740543" y="632884"/>
                  <a:pt x="954169" y="704850"/>
                </a:cubicBezTo>
                <a:lnTo>
                  <a:pt x="0" y="704850"/>
                </a:lnTo>
                <a:cubicBezTo>
                  <a:pt x="177643" y="632884"/>
                  <a:pt x="280124" y="366183"/>
                  <a:pt x="280124" y="298450"/>
                </a:cubicBezTo>
                <a:lnTo>
                  <a:pt x="79698" y="299329"/>
                </a:lnTo>
                <a:lnTo>
                  <a:pt x="477085" y="0"/>
                </a:lnTo>
                <a:close/>
              </a:path>
            </a:pathLst>
          </a:custGeom>
          <a:gradFill flip="none" rotWithShape="1">
            <a:gsLst>
              <a:gs pos="0">
                <a:srgbClr val="D52728">
                  <a:alpha val="0"/>
                </a:srgbClr>
              </a:gs>
              <a:gs pos="100000">
                <a:srgbClr val="D52728">
                  <a:alpha val="38000"/>
                  <a:lumMod val="93000"/>
                  <a:lumOff val="7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8D456540-FF28-E3BF-5782-5AE1C298BD60}"/>
              </a:ext>
            </a:extLst>
          </p:cNvPr>
          <p:cNvGrpSpPr/>
          <p:nvPr/>
        </p:nvGrpSpPr>
        <p:grpSpPr>
          <a:xfrm>
            <a:off x="1022388" y="4108296"/>
            <a:ext cx="10147224" cy="2588837"/>
            <a:chOff x="1118376" y="4108296"/>
            <a:chExt cx="10147224" cy="2588837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B1EB7EE3-C0BD-D4D7-60A3-D213D7CE70F3}"/>
                </a:ext>
              </a:extLst>
            </p:cNvPr>
            <p:cNvGrpSpPr/>
            <p:nvPr/>
          </p:nvGrpSpPr>
          <p:grpSpPr>
            <a:xfrm>
              <a:off x="1118376" y="4108296"/>
              <a:ext cx="10056584" cy="2584836"/>
              <a:chOff x="1406170" y="1222942"/>
              <a:chExt cx="8105275" cy="2288608"/>
            </a:xfrm>
          </p:grpSpPr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571F6563-C583-B714-366D-3B19726C30D2}"/>
                  </a:ext>
                </a:extLst>
              </p:cNvPr>
              <p:cNvSpPr/>
              <p:nvPr/>
            </p:nvSpPr>
            <p:spPr>
              <a:xfrm>
                <a:off x="1406170" y="1222942"/>
                <a:ext cx="8105275" cy="453458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56E0CE42-B991-13CB-1261-9924FBBC9424}"/>
                  </a:ext>
                </a:extLst>
              </p:cNvPr>
              <p:cNvSpPr/>
              <p:nvPr/>
            </p:nvSpPr>
            <p:spPr>
              <a:xfrm rot="16200000">
                <a:off x="1185013" y="1444103"/>
                <a:ext cx="2288606" cy="1846287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7349A93-B35E-B61E-6165-DB73635F834D}"/>
                </a:ext>
              </a:extLst>
            </p:cNvPr>
            <p:cNvSpPr txBox="1"/>
            <p:nvPr/>
          </p:nvSpPr>
          <p:spPr>
            <a:xfrm>
              <a:off x="1137743" y="4187695"/>
              <a:ext cx="11379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군집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7924E78-3A2D-66C1-7186-96B164BC522A}"/>
                </a:ext>
              </a:extLst>
            </p:cNvPr>
            <p:cNvSpPr txBox="1"/>
            <p:nvPr/>
          </p:nvSpPr>
          <p:spPr>
            <a:xfrm>
              <a:off x="5529136" y="4187695"/>
              <a:ext cx="13939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데이터 사용량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63C3426F-A97D-9909-13B6-2934B9549EE8}"/>
                </a:ext>
              </a:extLst>
            </p:cNvPr>
            <p:cNvCxnSpPr>
              <a:cxnSpLocks/>
            </p:cNvCxnSpPr>
            <p:nvPr/>
          </p:nvCxnSpPr>
          <p:spPr>
            <a:xfrm>
              <a:off x="5560441" y="4118035"/>
              <a:ext cx="0" cy="2563005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68C1410E-6BA1-89FE-CAFE-9FB9CD3DA356}"/>
                </a:ext>
              </a:extLst>
            </p:cNvPr>
            <p:cNvCxnSpPr>
              <a:cxnSpLocks/>
            </p:cNvCxnSpPr>
            <p:nvPr/>
          </p:nvCxnSpPr>
          <p:spPr>
            <a:xfrm>
              <a:off x="1125493" y="6697133"/>
              <a:ext cx="10078341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E6B9653-21DF-7798-A443-1A418B66074A}"/>
                </a:ext>
              </a:extLst>
            </p:cNvPr>
            <p:cNvSpPr txBox="1"/>
            <p:nvPr/>
          </p:nvSpPr>
          <p:spPr>
            <a:xfrm>
              <a:off x="4588629" y="4187695"/>
              <a:ext cx="10454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가입기간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8CDA386-078C-F6EC-626D-81BB6DE9F9A2}"/>
                </a:ext>
              </a:extLst>
            </p:cNvPr>
            <p:cNvSpPr txBox="1"/>
            <p:nvPr/>
          </p:nvSpPr>
          <p:spPr>
            <a:xfrm>
              <a:off x="1137742" y="4736343"/>
              <a:ext cx="23115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군집 </a:t>
              </a:r>
              <a:r>
                <a:rPr lang="en-US" altLang="ko-KR" sz="1600" dirty="0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0. </a:t>
              </a:r>
              <a:r>
                <a:rPr lang="ko-KR" altLang="en-US" sz="1600" dirty="0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신규 불만족군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CB8DC65-4E66-FA11-DE3A-77E93B9F1F8F}"/>
                </a:ext>
              </a:extLst>
            </p:cNvPr>
            <p:cNvSpPr txBox="1"/>
            <p:nvPr/>
          </p:nvSpPr>
          <p:spPr>
            <a:xfrm>
              <a:off x="5650096" y="4733318"/>
              <a:ext cx="1152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24.6</a:t>
              </a:r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57B1B0C-8A0A-2681-A7F8-B01E299C27EF}"/>
                </a:ext>
              </a:extLst>
            </p:cNvPr>
            <p:cNvSpPr txBox="1"/>
            <p:nvPr/>
          </p:nvSpPr>
          <p:spPr>
            <a:xfrm>
              <a:off x="4679349" y="4736343"/>
              <a:ext cx="864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단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B1CEF18-A651-CC00-1ED8-3399EFAA2E20}"/>
                </a:ext>
              </a:extLst>
            </p:cNvPr>
            <p:cNvSpPr txBox="1"/>
            <p:nvPr/>
          </p:nvSpPr>
          <p:spPr>
            <a:xfrm>
              <a:off x="1137742" y="5246824"/>
              <a:ext cx="23115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군집 </a:t>
              </a:r>
              <a:r>
                <a:rPr lang="en-US" altLang="ko-KR" sz="1600" dirty="0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1. </a:t>
              </a:r>
              <a:r>
                <a:rPr lang="ko-KR" altLang="en-US" sz="1600" dirty="0" err="1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고가치</a:t>
              </a:r>
              <a:r>
                <a:rPr lang="ko-KR" altLang="en-US" sz="1600" dirty="0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 </a:t>
              </a:r>
              <a:r>
                <a:rPr lang="ko-KR" altLang="en-US" sz="1600" dirty="0" err="1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충성군</a:t>
              </a:r>
              <a:endParaRPr lang="ko-KR" altLang="en-US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84283C1-A8DB-81FC-6865-BCDDD15FE671}"/>
                </a:ext>
              </a:extLst>
            </p:cNvPr>
            <p:cNvSpPr txBox="1"/>
            <p:nvPr/>
          </p:nvSpPr>
          <p:spPr>
            <a:xfrm>
              <a:off x="5650096" y="5238393"/>
              <a:ext cx="1152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28.2</a:t>
              </a:r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8517A3A-58A9-CA86-62DE-FB0C799D6A5D}"/>
                </a:ext>
              </a:extLst>
            </p:cNvPr>
            <p:cNvSpPr txBox="1"/>
            <p:nvPr/>
          </p:nvSpPr>
          <p:spPr>
            <a:xfrm>
              <a:off x="4679349" y="5246824"/>
              <a:ext cx="864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장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6C233C5-666B-4F32-7889-8A02A17DE0A7}"/>
                </a:ext>
              </a:extLst>
            </p:cNvPr>
            <p:cNvSpPr txBox="1"/>
            <p:nvPr/>
          </p:nvSpPr>
          <p:spPr>
            <a:xfrm>
              <a:off x="1137742" y="5757306"/>
              <a:ext cx="23115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군집 </a:t>
              </a:r>
              <a:r>
                <a:rPr lang="en-US" altLang="ko-KR" sz="1600" dirty="0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2. </a:t>
              </a:r>
              <a:r>
                <a:rPr lang="ko-KR" altLang="en-US" sz="1600" dirty="0" err="1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저가치</a:t>
              </a:r>
              <a:r>
                <a:rPr lang="ko-KR" altLang="en-US" sz="1600" dirty="0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 유지군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F2BC1DB-845B-D61F-597C-288D947A2355}"/>
                </a:ext>
              </a:extLst>
            </p:cNvPr>
            <p:cNvSpPr txBox="1"/>
            <p:nvPr/>
          </p:nvSpPr>
          <p:spPr>
            <a:xfrm>
              <a:off x="5650096" y="5767033"/>
              <a:ext cx="1152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0.9</a:t>
              </a:r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7B0FB37-9523-BB18-8AB7-0FD10D2E4909}"/>
                </a:ext>
              </a:extLst>
            </p:cNvPr>
            <p:cNvSpPr txBox="1"/>
            <p:nvPr/>
          </p:nvSpPr>
          <p:spPr>
            <a:xfrm>
              <a:off x="4679349" y="5757306"/>
              <a:ext cx="864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중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9863801-DF9E-C5C5-2615-44AF8F096C01}"/>
                </a:ext>
              </a:extLst>
            </p:cNvPr>
            <p:cNvSpPr txBox="1"/>
            <p:nvPr/>
          </p:nvSpPr>
          <p:spPr>
            <a:xfrm>
              <a:off x="1137742" y="6267788"/>
              <a:ext cx="23115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군집 </a:t>
              </a:r>
              <a:r>
                <a:rPr lang="en-US" altLang="ko-KR" sz="1600" dirty="0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3. </a:t>
              </a:r>
              <a:r>
                <a:rPr lang="ko-KR" altLang="en-US" sz="1600" dirty="0" err="1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고매출</a:t>
              </a:r>
              <a:r>
                <a:rPr lang="ko-KR" altLang="en-US" sz="1600" dirty="0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 이탈위험군</a:t>
              </a:r>
            </a:p>
          </p:txBody>
        </p: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D488D81B-5319-6C28-5954-B9AFD6994F76}"/>
                </a:ext>
              </a:extLst>
            </p:cNvPr>
            <p:cNvGrpSpPr/>
            <p:nvPr/>
          </p:nvGrpSpPr>
          <p:grpSpPr>
            <a:xfrm>
              <a:off x="3235711" y="4187695"/>
              <a:ext cx="1581229" cy="2449425"/>
              <a:chOff x="3268753" y="4187695"/>
              <a:chExt cx="1306801" cy="2449425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AE01A8A-6335-7101-0F43-0C50C006F5F4}"/>
                  </a:ext>
                </a:extLst>
              </p:cNvPr>
              <p:cNvSpPr txBox="1"/>
              <p:nvPr/>
            </p:nvSpPr>
            <p:spPr>
              <a:xfrm>
                <a:off x="3268753" y="4187695"/>
                <a:ext cx="130680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600" dirty="0">
                    <a:latin typeface="나눔스퀘어_ac ExtraBold" panose="020B0600000101010101" pitchFamily="50" charset="-127"/>
                    <a:ea typeface="나눔스퀘어_ac ExtraBold" panose="020B0600000101010101" pitchFamily="50" charset="-127"/>
                  </a:rPr>
                  <a:t>LTV</a:t>
                </a:r>
                <a:r>
                  <a:rPr lang="ko-KR" altLang="en-US" sz="1600" dirty="0">
                    <a:latin typeface="나눔스퀘어_ac ExtraBold" panose="020B0600000101010101" pitchFamily="50" charset="-127"/>
                    <a:ea typeface="나눔스퀘어_ac ExtraBold" panose="020B0600000101010101" pitchFamily="50" charset="-127"/>
                  </a:rPr>
                  <a:t> 점수 순위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4964E99-AAAF-4520-98E1-5CF1E03A85C8}"/>
                  </a:ext>
                </a:extLst>
              </p:cNvPr>
              <p:cNvSpPr txBox="1"/>
              <p:nvPr/>
            </p:nvSpPr>
            <p:spPr>
              <a:xfrm>
                <a:off x="3268753" y="4736343"/>
                <a:ext cx="1306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3</a:t>
                </a:r>
                <a:endPara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D490A1F-F42C-2BA4-2186-9E6DB18AFB1A}"/>
                  </a:ext>
                </a:extLst>
              </p:cNvPr>
              <p:cNvSpPr txBox="1"/>
              <p:nvPr/>
            </p:nvSpPr>
            <p:spPr>
              <a:xfrm>
                <a:off x="3268753" y="5246824"/>
                <a:ext cx="1306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1</a:t>
                </a:r>
                <a:endPara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081EF00-13A2-C6C5-AEB7-AC1CC498E1F5}"/>
                  </a:ext>
                </a:extLst>
              </p:cNvPr>
              <p:cNvSpPr txBox="1"/>
              <p:nvPr/>
            </p:nvSpPr>
            <p:spPr>
              <a:xfrm>
                <a:off x="3268753" y="5757306"/>
                <a:ext cx="1306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4</a:t>
                </a:r>
                <a:endParaRPr lang="ko-KR" altLang="en-US" baseline="300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3697DA6-701A-1254-5972-062C9BF57762}"/>
                  </a:ext>
                </a:extLst>
              </p:cNvPr>
              <p:cNvSpPr txBox="1"/>
              <p:nvPr/>
            </p:nvSpPr>
            <p:spPr>
              <a:xfrm>
                <a:off x="3268753" y="6267788"/>
                <a:ext cx="1306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2</a:t>
                </a:r>
                <a:endPara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9F21640-A3AB-4733-2F8A-1C073DF833F5}"/>
                </a:ext>
              </a:extLst>
            </p:cNvPr>
            <p:cNvSpPr txBox="1"/>
            <p:nvPr/>
          </p:nvSpPr>
          <p:spPr>
            <a:xfrm>
              <a:off x="5650096" y="6267788"/>
              <a:ext cx="1152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26.6</a:t>
              </a:r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89AF539-8250-9292-F9CA-BE9D6832A60C}"/>
                </a:ext>
              </a:extLst>
            </p:cNvPr>
            <p:cNvSpPr txBox="1"/>
            <p:nvPr/>
          </p:nvSpPr>
          <p:spPr>
            <a:xfrm>
              <a:off x="4679349" y="6267788"/>
              <a:ext cx="864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중</a:t>
              </a:r>
            </a:p>
          </p:txBody>
        </p: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3BA2F04D-7618-CF45-8005-7B24F1CB606D}"/>
                </a:ext>
              </a:extLst>
            </p:cNvPr>
            <p:cNvCxnSpPr>
              <a:cxnSpLocks/>
            </p:cNvCxnSpPr>
            <p:nvPr/>
          </p:nvCxnSpPr>
          <p:spPr>
            <a:xfrm>
              <a:off x="3406017" y="4129328"/>
              <a:ext cx="0" cy="2563005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8949DA49-0EBC-9319-6748-6080551DB601}"/>
                </a:ext>
              </a:extLst>
            </p:cNvPr>
            <p:cNvCxnSpPr>
              <a:cxnSpLocks/>
            </p:cNvCxnSpPr>
            <p:nvPr/>
          </p:nvCxnSpPr>
          <p:spPr>
            <a:xfrm>
              <a:off x="1125493" y="4611446"/>
              <a:ext cx="10049467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직선 연결선 1">
              <a:extLst>
                <a:ext uri="{FF2B5EF4-FFF2-40B4-BE49-F238E27FC236}">
                  <a16:creationId xmlns:a16="http://schemas.microsoft.com/office/drawing/2014/main" id="{60239004-5EFA-E805-D369-2B4CE075BFBC}"/>
                </a:ext>
              </a:extLst>
            </p:cNvPr>
            <p:cNvCxnSpPr>
              <a:cxnSpLocks/>
            </p:cNvCxnSpPr>
            <p:nvPr/>
          </p:nvCxnSpPr>
          <p:spPr>
            <a:xfrm>
              <a:off x="4647311" y="4118035"/>
              <a:ext cx="0" cy="2563005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E2354E2A-8192-D953-A374-BFBE4655A7EB}"/>
                </a:ext>
              </a:extLst>
            </p:cNvPr>
            <p:cNvCxnSpPr>
              <a:cxnSpLocks/>
            </p:cNvCxnSpPr>
            <p:nvPr/>
          </p:nvCxnSpPr>
          <p:spPr>
            <a:xfrm>
              <a:off x="6855842" y="4118035"/>
              <a:ext cx="0" cy="2563005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0B93401-7067-48C8-323D-7C7054AF3B4C}"/>
                </a:ext>
              </a:extLst>
            </p:cNvPr>
            <p:cNvSpPr txBox="1"/>
            <p:nvPr/>
          </p:nvSpPr>
          <p:spPr>
            <a:xfrm>
              <a:off x="6721210" y="4187695"/>
              <a:ext cx="20408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부가서비스 결합지수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C6D1CD0-1F2C-E552-7505-A162A084DC01}"/>
                </a:ext>
              </a:extLst>
            </p:cNvPr>
            <p:cNvSpPr txBox="1"/>
            <p:nvPr/>
          </p:nvSpPr>
          <p:spPr>
            <a:xfrm>
              <a:off x="6898308" y="4733318"/>
              <a:ext cx="16866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24.6</a:t>
              </a:r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5CEE9EB-5FE9-6363-70AD-D7C60CE557BF}"/>
                </a:ext>
              </a:extLst>
            </p:cNvPr>
            <p:cNvSpPr txBox="1"/>
            <p:nvPr/>
          </p:nvSpPr>
          <p:spPr>
            <a:xfrm>
              <a:off x="6898308" y="5238393"/>
              <a:ext cx="16866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28.2</a:t>
              </a:r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6D4E69B-C9B4-C95E-CD07-557A2CAA5670}"/>
                </a:ext>
              </a:extLst>
            </p:cNvPr>
            <p:cNvSpPr txBox="1"/>
            <p:nvPr/>
          </p:nvSpPr>
          <p:spPr>
            <a:xfrm>
              <a:off x="6898308" y="5767033"/>
              <a:ext cx="16866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0.9</a:t>
              </a:r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8CE809A-A4DA-D7E8-A7C4-612A8375CD14}"/>
                </a:ext>
              </a:extLst>
            </p:cNvPr>
            <p:cNvSpPr txBox="1"/>
            <p:nvPr/>
          </p:nvSpPr>
          <p:spPr>
            <a:xfrm>
              <a:off x="6898308" y="6267788"/>
              <a:ext cx="16866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26.6</a:t>
              </a:r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19C8AC8C-E768-9C9B-0220-73017E35384E}"/>
                </a:ext>
              </a:extLst>
            </p:cNvPr>
            <p:cNvCxnSpPr>
              <a:cxnSpLocks/>
            </p:cNvCxnSpPr>
            <p:nvPr/>
          </p:nvCxnSpPr>
          <p:spPr>
            <a:xfrm>
              <a:off x="8603619" y="4118035"/>
              <a:ext cx="0" cy="2563005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E9C242CC-EEF0-ABE4-A3DB-6388E34C51D3}"/>
                </a:ext>
              </a:extLst>
            </p:cNvPr>
            <p:cNvGrpSpPr/>
            <p:nvPr/>
          </p:nvGrpSpPr>
          <p:grpSpPr>
            <a:xfrm>
              <a:off x="8242263" y="4187695"/>
              <a:ext cx="2040838" cy="2418647"/>
              <a:chOff x="8144897" y="4187695"/>
              <a:chExt cx="2040838" cy="2418647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54AD065-9A08-02EC-EC8A-7AEA58D34B77}"/>
                  </a:ext>
                </a:extLst>
              </p:cNvPr>
              <p:cNvSpPr txBox="1"/>
              <p:nvPr/>
            </p:nvSpPr>
            <p:spPr>
              <a:xfrm>
                <a:off x="8144897" y="4187695"/>
                <a:ext cx="204083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600" dirty="0" err="1">
                    <a:latin typeface="나눔스퀘어_ac ExtraBold" panose="020B0600000101010101" pitchFamily="50" charset="-127"/>
                    <a:ea typeface="나눔스퀘어_ac ExtraBold" panose="020B0600000101010101" pitchFamily="50" charset="-127"/>
                  </a:rPr>
                  <a:t>평균과금액</a:t>
                </a:r>
                <a:r>
                  <a:rPr lang="en-US" altLang="ko-KR" sz="1600" dirty="0">
                    <a:latin typeface="나눔스퀘어_ac ExtraBold" panose="020B0600000101010101" pitchFamily="50" charset="-127"/>
                    <a:ea typeface="나눔스퀘어_ac ExtraBold" panose="020B0600000101010101" pitchFamily="50" charset="-127"/>
                  </a:rPr>
                  <a:t>(</a:t>
                </a:r>
                <a:r>
                  <a:rPr lang="ko-KR" altLang="en-US" sz="1600" dirty="0">
                    <a:latin typeface="나눔스퀘어_ac ExtraBold" panose="020B0600000101010101" pitchFamily="50" charset="-127"/>
                    <a:ea typeface="나눔스퀘어_ac ExtraBold" panose="020B0600000101010101" pitchFamily="50" charset="-127"/>
                  </a:rPr>
                  <a:t>원</a:t>
                </a:r>
                <a:r>
                  <a:rPr lang="en-US" altLang="ko-KR" sz="1600" dirty="0">
                    <a:latin typeface="나눔스퀘어_ac ExtraBold" panose="020B0600000101010101" pitchFamily="50" charset="-127"/>
                    <a:ea typeface="나눔스퀘어_ac ExtraBold" panose="020B0600000101010101" pitchFamily="50" charset="-127"/>
                  </a:rPr>
                  <a:t>)</a:t>
                </a:r>
                <a:endParaRPr lang="ko-KR" altLang="en-US" sz="1600" dirty="0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5617197-9E0E-C55C-9968-5B430CA73B99}"/>
                  </a:ext>
                </a:extLst>
              </p:cNvPr>
              <p:cNvSpPr txBox="1"/>
              <p:nvPr/>
            </p:nvSpPr>
            <p:spPr>
              <a:xfrm>
                <a:off x="8321995" y="4733318"/>
                <a:ext cx="168664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60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83,03</a:t>
                </a:r>
                <a:r>
                  <a:rPr lang="en-US" altLang="ko-KR" sz="16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7</a:t>
                </a:r>
                <a:endParaRPr lang="en-US" altLang="ko-KR" sz="160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B3502E1-4F0F-EC78-5C5B-C4B33B52B8B0}"/>
                  </a:ext>
                </a:extLst>
              </p:cNvPr>
              <p:cNvSpPr txBox="1"/>
              <p:nvPr/>
            </p:nvSpPr>
            <p:spPr>
              <a:xfrm>
                <a:off x="8321995" y="5238393"/>
                <a:ext cx="168664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6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101,343</a:t>
                </a:r>
                <a:endPara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75506AD-A220-0B18-9769-6CFA70C05B28}"/>
                  </a:ext>
                </a:extLst>
              </p:cNvPr>
              <p:cNvSpPr txBox="1"/>
              <p:nvPr/>
            </p:nvSpPr>
            <p:spPr>
              <a:xfrm>
                <a:off x="8321995" y="5767033"/>
                <a:ext cx="168664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6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25,956</a:t>
                </a:r>
                <a:endPara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0D4DAEB-AB3B-1085-8BE2-57A035034864}"/>
                  </a:ext>
                </a:extLst>
              </p:cNvPr>
              <p:cNvSpPr txBox="1"/>
              <p:nvPr/>
            </p:nvSpPr>
            <p:spPr>
              <a:xfrm>
                <a:off x="8321995" y="6267788"/>
                <a:ext cx="168664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6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90,149</a:t>
                </a:r>
                <a:endPara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</p:grp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F4D2C836-A35A-800D-72BE-00DCDCFAD9EF}"/>
                </a:ext>
              </a:extLst>
            </p:cNvPr>
            <p:cNvCxnSpPr>
              <a:cxnSpLocks/>
            </p:cNvCxnSpPr>
            <p:nvPr/>
          </p:nvCxnSpPr>
          <p:spPr>
            <a:xfrm>
              <a:off x="9937762" y="4118035"/>
              <a:ext cx="0" cy="2563005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F13FE89-9458-384D-92B6-7AA293599272}"/>
                </a:ext>
              </a:extLst>
            </p:cNvPr>
            <p:cNvSpPr txBox="1"/>
            <p:nvPr/>
          </p:nvSpPr>
          <p:spPr>
            <a:xfrm>
              <a:off x="9871680" y="4187695"/>
              <a:ext cx="13939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개선방안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C8A09CE-6BD6-2030-3FA9-E5350ED1C30A}"/>
                </a:ext>
              </a:extLst>
            </p:cNvPr>
            <p:cNvSpPr txBox="1"/>
            <p:nvPr/>
          </p:nvSpPr>
          <p:spPr>
            <a:xfrm>
              <a:off x="9992640" y="5254179"/>
              <a:ext cx="1152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-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89614EB-DF86-B20C-87D1-513EF0387B6C}"/>
                </a:ext>
              </a:extLst>
            </p:cNvPr>
            <p:cNvSpPr txBox="1"/>
            <p:nvPr/>
          </p:nvSpPr>
          <p:spPr>
            <a:xfrm>
              <a:off x="9992640" y="5759255"/>
              <a:ext cx="1152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ARPU 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증가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E9B104F-FC4C-9BAD-4969-A11A2170E3E1}"/>
                </a:ext>
              </a:extLst>
            </p:cNvPr>
            <p:cNvSpPr/>
            <p:nvPr/>
          </p:nvSpPr>
          <p:spPr>
            <a:xfrm>
              <a:off x="5698067" y="5728826"/>
              <a:ext cx="1058333" cy="38946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2FF9096-2B8F-7CA4-9F08-762861A9A8E1}"/>
                </a:ext>
              </a:extLst>
            </p:cNvPr>
            <p:cNvSpPr txBox="1"/>
            <p:nvPr/>
          </p:nvSpPr>
          <p:spPr>
            <a:xfrm>
              <a:off x="9992640" y="4765229"/>
              <a:ext cx="1152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이탈방지</a:t>
              </a:r>
              <a:endPara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915C423-3612-46E7-5ED2-A37472825635}"/>
                </a:ext>
              </a:extLst>
            </p:cNvPr>
            <p:cNvSpPr txBox="1"/>
            <p:nvPr/>
          </p:nvSpPr>
          <p:spPr>
            <a:xfrm>
              <a:off x="9992640" y="6270179"/>
              <a:ext cx="1152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이탈방지</a:t>
              </a:r>
              <a:endPara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875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76FD9-CA05-BCA9-980C-B53415E5D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CC2D10-37C8-7828-ADA3-EA17091C65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분석결과 </a:t>
            </a:r>
            <a:r>
              <a:rPr lang="en-US" altLang="ko-KR" sz="2000" dirty="0"/>
              <a:t>_</a:t>
            </a:r>
            <a:r>
              <a:rPr lang="ko-KR" altLang="en-US" sz="2000" dirty="0"/>
              <a:t>군집분석</a:t>
            </a:r>
            <a:endParaRPr lang="ko-KR" altLang="en-US" dirty="0"/>
          </a:p>
        </p:txBody>
      </p:sp>
      <p:sp>
        <p:nvSpPr>
          <p:cNvPr id="28" name="슬라이드 번호 개체 틀 27">
            <a:extLst>
              <a:ext uri="{FF2B5EF4-FFF2-40B4-BE49-F238E27FC236}">
                <a16:creationId xmlns:a16="http://schemas.microsoft.com/office/drawing/2014/main" id="{F5A9B7E9-61B0-A0BA-41B0-DEC24FD548D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24E44EA-8BB9-4356-A6E2-F3B626433E95}" type="slidenum">
              <a:rPr lang="ko-KR" altLang="en-US" smtClean="0"/>
              <a:pPr/>
              <a:t>17</a:t>
            </a:fld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C71A6A1-9081-AB5F-CC1A-4211402CFCAD}"/>
              </a:ext>
            </a:extLst>
          </p:cNvPr>
          <p:cNvSpPr/>
          <p:nvPr/>
        </p:nvSpPr>
        <p:spPr>
          <a:xfrm>
            <a:off x="446156" y="2823339"/>
            <a:ext cx="5332176" cy="76085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초기 경험 개선을 위해</a:t>
            </a:r>
            <a:r>
              <a:rPr lang="en-US" altLang="ko-KR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불만 사항을 선제적으로 파악하고 </a:t>
            </a:r>
            <a:r>
              <a:rPr lang="ko-KR" altLang="en-US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요금제 적정성 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점검 필요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163681E-3A70-FB03-9069-990CCBD51AA6}"/>
              </a:ext>
            </a:extLst>
          </p:cNvPr>
          <p:cNvSpPr/>
          <p:nvPr/>
        </p:nvSpPr>
        <p:spPr>
          <a:xfrm>
            <a:off x="446156" y="1824443"/>
            <a:ext cx="5332176" cy="76085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가입 초기 단계에서 서비스에 안착하지 못하고 </a:t>
            </a:r>
            <a:endParaRPr lang="en-US" altLang="ko-KR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이탈을 고민하는 그룹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6015B7-920C-6969-7049-860422D017EE}"/>
              </a:ext>
            </a:extLst>
          </p:cNvPr>
          <p:cNvSpPr txBox="1"/>
          <p:nvPr/>
        </p:nvSpPr>
        <p:spPr>
          <a:xfrm>
            <a:off x="395356" y="950023"/>
            <a:ext cx="2905870" cy="3907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2159" tIns="41080" rIns="82159" bIns="410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0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군집 </a:t>
            </a:r>
            <a:r>
              <a:rPr lang="en-US" altLang="ko-KR" sz="20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0. </a:t>
            </a:r>
            <a:r>
              <a:rPr lang="ko-KR" altLang="en-US" sz="20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신규 불만족군</a:t>
            </a:r>
            <a:endParaRPr lang="ko-KR" altLang="en-US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2" name="Picture 2" descr="Torchic, Pokemon, Cute PNG Image">
            <a:extLst>
              <a:ext uri="{FF2B5EF4-FFF2-40B4-BE49-F238E27FC236}">
                <a16:creationId xmlns:a16="http://schemas.microsoft.com/office/drawing/2014/main" id="{1748E1E2-1A8A-C1B4-B199-144168279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88899" y="-2255654"/>
            <a:ext cx="1612900" cy="225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1996C96-7B08-B0E7-1A6F-A8B24F97AB7A}"/>
              </a:ext>
            </a:extLst>
          </p:cNvPr>
          <p:cNvSpPr/>
          <p:nvPr/>
        </p:nvSpPr>
        <p:spPr>
          <a:xfrm>
            <a:off x="256770" y="856849"/>
            <a:ext cx="5744588" cy="2820202"/>
          </a:xfrm>
          <a:prstGeom prst="roundRect">
            <a:avLst>
              <a:gd name="adj" fmla="val 3453"/>
            </a:avLst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17" dirty="0">
              <a:solidFill>
                <a:srgbClr val="B96B6B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F70A241-3B3A-E127-C7F7-E39C269293EB}"/>
              </a:ext>
            </a:extLst>
          </p:cNvPr>
          <p:cNvSpPr/>
          <p:nvPr/>
        </p:nvSpPr>
        <p:spPr>
          <a:xfrm>
            <a:off x="6339548" y="2823339"/>
            <a:ext cx="5332176" cy="76085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'VIP </a:t>
            </a:r>
            <a:r>
              <a:rPr lang="ko-KR" altLang="en-US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전용 혜택</a:t>
            </a:r>
            <a:r>
              <a:rPr lang="en-US" altLang="ko-KR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'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이나 </a:t>
            </a:r>
            <a:r>
              <a:rPr lang="en-US" altLang="ko-KR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'</a:t>
            </a:r>
            <a:r>
              <a:rPr lang="ko-KR" altLang="en-US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멤버십 강화</a:t>
            </a:r>
            <a:r>
              <a:rPr lang="en-US" altLang="ko-KR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'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통해 </a:t>
            </a:r>
            <a:endParaRPr lang="en-US" altLang="ko-KR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현재의 만족도를 유지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21FBDD9-BE12-E3DE-12B3-95C61BBDD290}"/>
              </a:ext>
            </a:extLst>
          </p:cNvPr>
          <p:cNvSpPr/>
          <p:nvPr/>
        </p:nvSpPr>
        <p:spPr>
          <a:xfrm>
            <a:off x="6339548" y="1824443"/>
            <a:ext cx="5332176" cy="76085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돈도 가장 많이 내고</a:t>
            </a:r>
            <a:r>
              <a:rPr lang="en-US" altLang="ko-KR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서비스도 가장 다양하게 쓰며</a:t>
            </a:r>
            <a:r>
              <a:rPr lang="en-US" altLang="ko-KR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가장 오래 머물고 있는 핵심 고객층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F73058-D9BC-12DC-654D-E502305F32FF}"/>
              </a:ext>
            </a:extLst>
          </p:cNvPr>
          <p:cNvSpPr txBox="1"/>
          <p:nvPr/>
        </p:nvSpPr>
        <p:spPr>
          <a:xfrm>
            <a:off x="6288748" y="950023"/>
            <a:ext cx="3033052" cy="3907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2159" tIns="41080" rIns="82159" bIns="410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0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군집 </a:t>
            </a:r>
            <a:r>
              <a:rPr lang="en-US" altLang="ko-KR" sz="20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1. </a:t>
            </a:r>
            <a:r>
              <a:rPr lang="ko-KR" altLang="en-US" sz="2000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고가치</a:t>
            </a:r>
            <a:r>
              <a:rPr lang="ko-KR" altLang="en-US" sz="20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충성 고객</a:t>
            </a:r>
            <a:endParaRPr lang="ko-KR" altLang="en-US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5" name="Picture 6" descr="Cat pokemon – Artofit">
            <a:extLst>
              <a:ext uri="{FF2B5EF4-FFF2-40B4-BE49-F238E27FC236}">
                <a16:creationId xmlns:a16="http://schemas.microsoft.com/office/drawing/2014/main" id="{0509021F-EC9F-02FF-ECCC-566739793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19599" y="-2007220"/>
            <a:ext cx="1790701" cy="2007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7CB5EBC-92EB-B63B-F4AE-3599CFAB82B2}"/>
              </a:ext>
            </a:extLst>
          </p:cNvPr>
          <p:cNvSpPr/>
          <p:nvPr/>
        </p:nvSpPr>
        <p:spPr>
          <a:xfrm>
            <a:off x="6190643" y="856849"/>
            <a:ext cx="5744588" cy="2820202"/>
          </a:xfrm>
          <a:prstGeom prst="roundRect">
            <a:avLst>
              <a:gd name="adj" fmla="val 3453"/>
            </a:avLst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17" dirty="0">
              <a:solidFill>
                <a:srgbClr val="B96B6B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52D5E7F-4E55-5E94-B1F1-B84E5E3CA7B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78981" y="-2235200"/>
            <a:ext cx="2235200" cy="223520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50C73340-514D-E359-A56C-40E8AFA8BED7}"/>
              </a:ext>
            </a:extLst>
          </p:cNvPr>
          <p:cNvSpPr/>
          <p:nvPr/>
        </p:nvSpPr>
        <p:spPr>
          <a:xfrm>
            <a:off x="446156" y="5782439"/>
            <a:ext cx="5332176" cy="76085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'</a:t>
            </a:r>
            <a:r>
              <a:rPr lang="ko-KR" altLang="en-US" b="1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저가형 부가서비스 번들</a:t>
            </a:r>
            <a:r>
              <a:rPr lang="en-US" altLang="ko-KR" b="1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'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등을 통해 조금씩 </a:t>
            </a:r>
            <a:endParaRPr lang="en-US" altLang="ko-KR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 err="1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객단가</a:t>
            </a:r>
            <a:r>
              <a:rPr lang="en-US" altLang="ko-KR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(ARPU)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높이는 </a:t>
            </a:r>
            <a:r>
              <a:rPr lang="ko-KR" altLang="en-US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완만한 </a:t>
            </a:r>
            <a:r>
              <a:rPr lang="ko-KR" altLang="en-US" dirty="0" err="1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업셀링</a:t>
            </a:r>
            <a:r>
              <a:rPr lang="ko-KR" altLang="en-US" dirty="0" err="1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적합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2235B49-E825-F454-F740-CD3C46806AA3}"/>
              </a:ext>
            </a:extLst>
          </p:cNvPr>
          <p:cNvSpPr/>
          <p:nvPr/>
        </p:nvSpPr>
        <p:spPr>
          <a:xfrm>
            <a:off x="446156" y="4783543"/>
            <a:ext cx="5332176" cy="76085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서비스 </a:t>
            </a:r>
            <a:r>
              <a:rPr lang="ko-KR" altLang="en-US" dirty="0" err="1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이용량은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매우 적지만</a:t>
            </a:r>
            <a:r>
              <a:rPr lang="en-US" altLang="ko-KR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낮은 요금에 만족하며 </a:t>
            </a:r>
            <a:endParaRPr lang="en-US" altLang="ko-KR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장기간 이용 중인 그룹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6845D4-C537-59BC-50CB-2B202595212B}"/>
              </a:ext>
            </a:extLst>
          </p:cNvPr>
          <p:cNvSpPr txBox="1"/>
          <p:nvPr/>
        </p:nvSpPr>
        <p:spPr>
          <a:xfrm>
            <a:off x="395356" y="3909123"/>
            <a:ext cx="2905870" cy="3907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2159" tIns="41080" rIns="82159" bIns="410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0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군집 </a:t>
            </a:r>
            <a:r>
              <a:rPr lang="en-US" altLang="ko-KR" sz="20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2. </a:t>
            </a:r>
            <a:r>
              <a:rPr lang="ko-KR" altLang="en-US" sz="2000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저가치</a:t>
            </a:r>
            <a:r>
              <a:rPr lang="ko-KR" altLang="en-US" sz="20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유지군</a:t>
            </a:r>
            <a:endParaRPr lang="ko-KR" altLang="en-US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B33EE25-7C92-B859-F7BE-F395C9C42902}"/>
              </a:ext>
            </a:extLst>
          </p:cNvPr>
          <p:cNvSpPr/>
          <p:nvPr/>
        </p:nvSpPr>
        <p:spPr>
          <a:xfrm>
            <a:off x="256770" y="3815949"/>
            <a:ext cx="5744588" cy="2820202"/>
          </a:xfrm>
          <a:prstGeom prst="roundRect">
            <a:avLst>
              <a:gd name="adj" fmla="val 3453"/>
            </a:avLst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17" dirty="0">
              <a:solidFill>
                <a:srgbClr val="B96B6B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78A0ABB-FD98-2C46-F959-3BC503D0AF7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1323" y="-2044700"/>
            <a:ext cx="2150218" cy="20447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2583346A-CB2F-772A-5192-4951334BF2C2}"/>
              </a:ext>
            </a:extLst>
          </p:cNvPr>
          <p:cNvSpPr/>
          <p:nvPr/>
        </p:nvSpPr>
        <p:spPr>
          <a:xfrm>
            <a:off x="6380029" y="5782439"/>
            <a:ext cx="5332176" cy="76085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장기 가입 할인이나 결합 혜택을 제안하여 </a:t>
            </a:r>
            <a:endParaRPr lang="en-US" altLang="ko-KR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가입 기간을 늘리는</a:t>
            </a:r>
            <a:r>
              <a:rPr lang="en-US" altLang="ko-KR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전략이 필요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16669AF-967C-C62F-4DC9-A15037950391}"/>
              </a:ext>
            </a:extLst>
          </p:cNvPr>
          <p:cNvSpPr/>
          <p:nvPr/>
        </p:nvSpPr>
        <p:spPr>
          <a:xfrm>
            <a:off x="6380029" y="4783543"/>
            <a:ext cx="5332176" cy="76085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평균 </a:t>
            </a:r>
            <a:r>
              <a:rPr lang="ko-KR" altLang="en-US" dirty="0" err="1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과금액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및 부과 서비스 결합지수가 군집</a:t>
            </a:r>
            <a:r>
              <a:rPr lang="en-US" altLang="ko-KR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 준하는 </a:t>
            </a:r>
            <a:endParaRPr lang="en-US" altLang="ko-KR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수준이지만 군집 </a:t>
            </a:r>
            <a:r>
              <a:rPr lang="en-US" altLang="ko-KR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만큼 완전히 정착되지 않은 그룹</a:t>
            </a:r>
            <a:r>
              <a:rPr lang="en-US" altLang="ko-KR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ko-KR" altLang="en-US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13891C-97D1-173E-81DA-06C6CE317867}"/>
              </a:ext>
            </a:extLst>
          </p:cNvPr>
          <p:cNvSpPr txBox="1"/>
          <p:nvPr/>
        </p:nvSpPr>
        <p:spPr>
          <a:xfrm>
            <a:off x="6329228" y="3909123"/>
            <a:ext cx="3312379" cy="3907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2159" tIns="41080" rIns="82159" bIns="410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0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군집 </a:t>
            </a:r>
            <a:r>
              <a:rPr lang="en-US" altLang="ko-KR" sz="20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 </a:t>
            </a:r>
            <a:r>
              <a:rPr lang="ko-KR" altLang="en-US" sz="2000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고매출</a:t>
            </a:r>
            <a:r>
              <a:rPr lang="ko-KR" altLang="en-US" sz="20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이탈 </a:t>
            </a:r>
            <a:r>
              <a:rPr lang="ko-KR" altLang="en-US" sz="2000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위험군</a:t>
            </a:r>
            <a:endParaRPr lang="ko-KR" altLang="en-US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A2D673C-2B49-5A6D-1098-BD0BAB405142}"/>
              </a:ext>
            </a:extLst>
          </p:cNvPr>
          <p:cNvSpPr/>
          <p:nvPr/>
        </p:nvSpPr>
        <p:spPr>
          <a:xfrm>
            <a:off x="6190643" y="3815949"/>
            <a:ext cx="5744588" cy="2820202"/>
          </a:xfrm>
          <a:prstGeom prst="roundRect">
            <a:avLst>
              <a:gd name="adj" fmla="val 3453"/>
            </a:avLst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17" dirty="0">
              <a:solidFill>
                <a:srgbClr val="B96B6B"/>
              </a:solidFill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D30329E8-FF0F-DA12-E4CE-4AE0ED3FA18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226" y="1358127"/>
            <a:ext cx="694835" cy="694835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E4984BD6-04AC-A071-21D6-02FC72333182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312" y="4274112"/>
            <a:ext cx="805888" cy="805888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AE979B8D-0755-8966-E573-BEA52034AA3C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99540" y="1270000"/>
            <a:ext cx="673100" cy="673100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9C59B14-4B59-75A7-3981-BB84ECFD5C8A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806" y="4241800"/>
            <a:ext cx="710894" cy="710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574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704EA-F352-2290-3834-A6573521B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F8C044-2B22-FA98-E4A6-99C51397D1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개선방안 </a:t>
            </a:r>
            <a:r>
              <a:rPr lang="en-US" altLang="ko-KR" sz="2000" dirty="0"/>
              <a:t>_</a:t>
            </a:r>
            <a:r>
              <a:rPr lang="ko-KR" altLang="en-US" sz="2000" dirty="0"/>
              <a:t>이탈방지</a:t>
            </a:r>
            <a:r>
              <a:rPr lang="en-US" altLang="ko-KR" sz="2000" dirty="0"/>
              <a:t> </a:t>
            </a:r>
            <a:endParaRPr lang="ko-KR" altLang="en-US" sz="20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858D267-9A6E-2571-E9DB-15E702B671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24E44EA-8BB9-4356-A6E2-F3B626433E95}" type="slidenum">
              <a:rPr lang="ko-KR" altLang="en-US" smtClean="0"/>
              <a:pPr/>
              <a:t>18</a:t>
            </a:fld>
            <a:endParaRPr lang="ko-KR" altLang="en-US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FCE9C1B-439D-802D-40F0-3FD73278FF6F}"/>
              </a:ext>
            </a:extLst>
          </p:cNvPr>
          <p:cNvSpPr/>
          <p:nvPr/>
        </p:nvSpPr>
        <p:spPr>
          <a:xfrm>
            <a:off x="1067822" y="3257016"/>
            <a:ext cx="3315028" cy="4294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연령대 </a:t>
            </a:r>
            <a:r>
              <a:rPr lang="en-US" altLang="ko-KR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60~80 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노년층</a:t>
            </a: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AEC86FDA-9118-B292-1222-CDDE05B61B25}"/>
              </a:ext>
            </a:extLst>
          </p:cNvPr>
          <p:cNvGrpSpPr/>
          <p:nvPr/>
        </p:nvGrpSpPr>
        <p:grpSpPr>
          <a:xfrm>
            <a:off x="510330" y="699472"/>
            <a:ext cx="11158397" cy="1713527"/>
            <a:chOff x="510330" y="683393"/>
            <a:chExt cx="11158397" cy="1713527"/>
          </a:xfrm>
        </p:grpSpPr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1417353C-D451-BC2E-2479-55AA358208CF}"/>
                </a:ext>
              </a:extLst>
            </p:cNvPr>
            <p:cNvSpPr/>
            <p:nvPr/>
          </p:nvSpPr>
          <p:spPr>
            <a:xfrm>
              <a:off x="523274" y="683393"/>
              <a:ext cx="11145453" cy="1713527"/>
            </a:xfrm>
            <a:prstGeom prst="roundRect">
              <a:avLst>
                <a:gd name="adj" fmla="val 10713"/>
              </a:avLst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17" dirty="0">
                <a:solidFill>
                  <a:srgbClr val="B96B6B"/>
                </a:solidFill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0593D02B-BD18-A844-BC93-F350AD6A6E7B}"/>
                </a:ext>
              </a:extLst>
            </p:cNvPr>
            <p:cNvGrpSpPr/>
            <p:nvPr/>
          </p:nvGrpSpPr>
          <p:grpSpPr>
            <a:xfrm>
              <a:off x="510330" y="683394"/>
              <a:ext cx="2524970" cy="403394"/>
              <a:chOff x="808566" y="891998"/>
              <a:chExt cx="2065242" cy="403394"/>
            </a:xfrm>
          </p:grpSpPr>
          <p:sp>
            <p:nvSpPr>
              <p:cNvPr id="51" name="사각형: 둥근 한쪽 모서리 50">
                <a:extLst>
                  <a:ext uri="{FF2B5EF4-FFF2-40B4-BE49-F238E27FC236}">
                    <a16:creationId xmlns:a16="http://schemas.microsoft.com/office/drawing/2014/main" id="{E693FEF5-AB75-9037-DE83-CCF519724679}"/>
                  </a:ext>
                </a:extLst>
              </p:cNvPr>
              <p:cNvSpPr/>
              <p:nvPr/>
            </p:nvSpPr>
            <p:spPr>
              <a:xfrm flipV="1">
                <a:off x="808566" y="892610"/>
                <a:ext cx="2065242" cy="402167"/>
              </a:xfrm>
              <a:prstGeom prst="round1Rect">
                <a:avLst>
                  <a:gd name="adj" fmla="val 50000"/>
                </a:avLst>
              </a:prstGeom>
              <a:solidFill>
                <a:srgbClr val="0E469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endPara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52" name="사각형: 둥근 모서리 51">
                <a:extLst>
                  <a:ext uri="{FF2B5EF4-FFF2-40B4-BE49-F238E27FC236}">
                    <a16:creationId xmlns:a16="http://schemas.microsoft.com/office/drawing/2014/main" id="{D6C95BB2-00CA-656F-D427-E3223FD2828A}"/>
                  </a:ext>
                </a:extLst>
              </p:cNvPr>
              <p:cNvSpPr/>
              <p:nvPr/>
            </p:nvSpPr>
            <p:spPr>
              <a:xfrm>
                <a:off x="808566" y="891998"/>
                <a:ext cx="2065242" cy="403394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이탈 예측 모델 실행 결과</a:t>
                </a:r>
              </a:p>
            </p:txBody>
          </p:sp>
        </p:grpSp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68CF9A9-7498-AD8A-EE77-D12764E33E3A}"/>
              </a:ext>
            </a:extLst>
          </p:cNvPr>
          <p:cNvSpPr/>
          <p:nvPr/>
        </p:nvSpPr>
        <p:spPr>
          <a:xfrm>
            <a:off x="1067822" y="4078763"/>
            <a:ext cx="3315028" cy="4294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결제방식이 신용카드가 아닌 경우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9FF257E-D903-FB13-0A38-DF82B639F22B}"/>
              </a:ext>
            </a:extLst>
          </p:cNvPr>
          <p:cNvSpPr/>
          <p:nvPr/>
        </p:nvSpPr>
        <p:spPr>
          <a:xfrm>
            <a:off x="1067822" y="4900510"/>
            <a:ext cx="3315028" cy="4294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가입기간이 </a:t>
            </a:r>
            <a:r>
              <a:rPr lang="en-US" altLang="ko-KR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400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일 이내인 경우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6A30437-CD31-BE2D-8D99-F2A3E2DF45F2}"/>
              </a:ext>
            </a:extLst>
          </p:cNvPr>
          <p:cNvSpPr/>
          <p:nvPr/>
        </p:nvSpPr>
        <p:spPr>
          <a:xfrm>
            <a:off x="1067822" y="5722257"/>
            <a:ext cx="3315028" cy="4294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부양자가 있는 경우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0B1DCA99-FA0C-BB5B-9E76-8DC613995768}"/>
              </a:ext>
            </a:extLst>
          </p:cNvPr>
          <p:cNvGrpSpPr/>
          <p:nvPr/>
        </p:nvGrpSpPr>
        <p:grpSpPr>
          <a:xfrm>
            <a:off x="510330" y="2625549"/>
            <a:ext cx="11158397" cy="3969804"/>
            <a:chOff x="510330" y="683393"/>
            <a:chExt cx="11158397" cy="3969804"/>
          </a:xfrm>
        </p:grpSpPr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6FCBF6B1-3F81-8607-6D66-4EE84845AA37}"/>
                </a:ext>
              </a:extLst>
            </p:cNvPr>
            <p:cNvSpPr/>
            <p:nvPr/>
          </p:nvSpPr>
          <p:spPr>
            <a:xfrm>
              <a:off x="523274" y="683393"/>
              <a:ext cx="11145453" cy="3969804"/>
            </a:xfrm>
            <a:prstGeom prst="roundRect">
              <a:avLst>
                <a:gd name="adj" fmla="val 6792"/>
              </a:avLst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17" dirty="0">
                <a:solidFill>
                  <a:srgbClr val="B96B6B"/>
                </a:solidFill>
              </a:endParaRPr>
            </a:p>
          </p:txBody>
        </p: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3A193476-4001-1890-ACF4-BC9D0641F750}"/>
                </a:ext>
              </a:extLst>
            </p:cNvPr>
            <p:cNvGrpSpPr/>
            <p:nvPr/>
          </p:nvGrpSpPr>
          <p:grpSpPr>
            <a:xfrm>
              <a:off x="510330" y="683394"/>
              <a:ext cx="2461470" cy="403394"/>
              <a:chOff x="808566" y="891998"/>
              <a:chExt cx="2013304" cy="403394"/>
            </a:xfrm>
          </p:grpSpPr>
          <p:sp>
            <p:nvSpPr>
              <p:cNvPr id="62" name="사각형: 둥근 한쪽 모서리 61">
                <a:extLst>
                  <a:ext uri="{FF2B5EF4-FFF2-40B4-BE49-F238E27FC236}">
                    <a16:creationId xmlns:a16="http://schemas.microsoft.com/office/drawing/2014/main" id="{0B8C1308-EA5A-E09E-54A9-DB8735FC543C}"/>
                  </a:ext>
                </a:extLst>
              </p:cNvPr>
              <p:cNvSpPr/>
              <p:nvPr/>
            </p:nvSpPr>
            <p:spPr>
              <a:xfrm flipV="1">
                <a:off x="808566" y="892611"/>
                <a:ext cx="2013304" cy="402167"/>
              </a:xfrm>
              <a:prstGeom prst="round1Rect">
                <a:avLst>
                  <a:gd name="adj" fmla="val 50000"/>
                </a:avLst>
              </a:prstGeom>
              <a:solidFill>
                <a:srgbClr val="0E469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endPara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63" name="사각형: 둥근 모서리 62">
                <a:extLst>
                  <a:ext uri="{FF2B5EF4-FFF2-40B4-BE49-F238E27FC236}">
                    <a16:creationId xmlns:a16="http://schemas.microsoft.com/office/drawing/2014/main" id="{08CFFEB0-8592-EE08-A69A-5EDB2020050D}"/>
                  </a:ext>
                </a:extLst>
              </p:cNvPr>
              <p:cNvSpPr/>
              <p:nvPr/>
            </p:nvSpPr>
            <p:spPr>
              <a:xfrm>
                <a:off x="808566" y="891998"/>
                <a:ext cx="1926228" cy="403394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고객 상황 분석</a:t>
                </a:r>
              </a:p>
            </p:txBody>
          </p:sp>
        </p:grp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359DB6E9-2AAF-D961-DF95-40D994B218EF}"/>
              </a:ext>
            </a:extLst>
          </p:cNvPr>
          <p:cNvGrpSpPr/>
          <p:nvPr/>
        </p:nvGrpSpPr>
        <p:grpSpPr>
          <a:xfrm>
            <a:off x="4282655" y="3036251"/>
            <a:ext cx="4154111" cy="760857"/>
            <a:chOff x="5248478" y="3530081"/>
            <a:chExt cx="4154111" cy="760857"/>
          </a:xfrm>
        </p:grpSpPr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A77C5B65-AA3D-8DBB-B054-A29785DF344D}"/>
                </a:ext>
              </a:extLst>
            </p:cNvPr>
            <p:cNvSpPr/>
            <p:nvPr/>
          </p:nvSpPr>
          <p:spPr>
            <a:xfrm>
              <a:off x="5753971" y="3627541"/>
              <a:ext cx="3463636" cy="565936"/>
            </a:xfrm>
            <a:prstGeom prst="roundRect">
              <a:avLst/>
            </a:prstGeom>
            <a:solidFill>
              <a:srgbClr val="F1F3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1D292770-F16A-6C56-978C-7B24951AC64D}"/>
                </a:ext>
              </a:extLst>
            </p:cNvPr>
            <p:cNvGrpSpPr/>
            <p:nvPr/>
          </p:nvGrpSpPr>
          <p:grpSpPr>
            <a:xfrm>
              <a:off x="5248478" y="3530081"/>
              <a:ext cx="4154111" cy="760857"/>
              <a:chOff x="1549398" y="2195348"/>
              <a:chExt cx="4154111" cy="760857"/>
            </a:xfrm>
          </p:grpSpPr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2A2E5A84-7DCC-393C-66ED-F3C60F20AEF6}"/>
                  </a:ext>
                </a:extLst>
              </p:cNvPr>
              <p:cNvSpPr/>
              <p:nvPr/>
            </p:nvSpPr>
            <p:spPr>
              <a:xfrm>
                <a:off x="2046356" y="2195348"/>
                <a:ext cx="3657153" cy="76085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600" dirty="0">
                    <a:solidFill>
                      <a:schemeClr val="tx1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시니어 전용 케어 서비스 안심 서비스 결합</a:t>
                </a:r>
                <a:endParaRPr lang="en-US" altLang="ko-KR" sz="1600" dirty="0">
                  <a:solidFill>
                    <a:schemeClr val="tx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pic>
            <p:nvPicPr>
              <p:cNvPr id="67" name="그림 66">
                <a:extLst>
                  <a:ext uri="{FF2B5EF4-FFF2-40B4-BE49-F238E27FC236}">
                    <a16:creationId xmlns:a16="http://schemas.microsoft.com/office/drawing/2014/main" id="{35C8E0C2-6B03-BCA5-EAB2-E20E6782B2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49398" y="2360570"/>
                <a:ext cx="469902" cy="469902"/>
              </a:xfrm>
              <a:prstGeom prst="rect">
                <a:avLst/>
              </a:prstGeom>
            </p:spPr>
          </p:pic>
        </p:grp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1ADEB73-3036-1D58-1B3C-14C5E24DDB7E}"/>
              </a:ext>
            </a:extLst>
          </p:cNvPr>
          <p:cNvGrpSpPr/>
          <p:nvPr/>
        </p:nvGrpSpPr>
        <p:grpSpPr>
          <a:xfrm>
            <a:off x="4282655" y="3887454"/>
            <a:ext cx="4154111" cy="760857"/>
            <a:chOff x="5248478" y="3530081"/>
            <a:chExt cx="4154111" cy="760857"/>
          </a:xfrm>
        </p:grpSpPr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233DC995-6090-81E4-5F34-C01A4FE7149A}"/>
                </a:ext>
              </a:extLst>
            </p:cNvPr>
            <p:cNvSpPr/>
            <p:nvPr/>
          </p:nvSpPr>
          <p:spPr>
            <a:xfrm>
              <a:off x="5753971" y="3627541"/>
              <a:ext cx="3463636" cy="565936"/>
            </a:xfrm>
            <a:prstGeom prst="roundRect">
              <a:avLst/>
            </a:prstGeom>
            <a:solidFill>
              <a:srgbClr val="F1F3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5DF69E11-4BE4-2DCC-7920-5B3A5E88E117}"/>
                </a:ext>
              </a:extLst>
            </p:cNvPr>
            <p:cNvGrpSpPr/>
            <p:nvPr/>
          </p:nvGrpSpPr>
          <p:grpSpPr>
            <a:xfrm>
              <a:off x="5248478" y="3530081"/>
              <a:ext cx="4154111" cy="760857"/>
              <a:chOff x="1549398" y="2195348"/>
              <a:chExt cx="4154111" cy="760857"/>
            </a:xfrm>
          </p:grpSpPr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418A8523-7410-78DF-5FBC-DB33D7C75471}"/>
                  </a:ext>
                </a:extLst>
              </p:cNvPr>
              <p:cNvSpPr/>
              <p:nvPr/>
            </p:nvSpPr>
            <p:spPr>
              <a:xfrm>
                <a:off x="2046356" y="2195348"/>
                <a:ext cx="3657153" cy="76085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600" dirty="0">
                    <a:solidFill>
                      <a:schemeClr val="tx1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신용카드 결제 유도 </a:t>
                </a:r>
                <a:r>
                  <a:rPr lang="en-US" altLang="ko-KR" sz="1600" dirty="0">
                    <a:solidFill>
                      <a:schemeClr val="tx1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: </a:t>
                </a:r>
                <a:r>
                  <a:rPr lang="ko-KR" altLang="en-US" sz="1600" dirty="0">
                    <a:solidFill>
                      <a:schemeClr val="tx1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요금 </a:t>
                </a:r>
                <a:r>
                  <a:rPr lang="en-US" altLang="ko-KR" sz="1600" dirty="0">
                    <a:solidFill>
                      <a:schemeClr val="tx1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10% </a:t>
                </a:r>
                <a:r>
                  <a:rPr lang="ko-KR" altLang="en-US" sz="1600" dirty="0">
                    <a:solidFill>
                      <a:schemeClr val="tx1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할인 혜택</a:t>
                </a:r>
                <a:endParaRPr lang="en-US" altLang="ko-KR" sz="1600" dirty="0">
                  <a:solidFill>
                    <a:schemeClr val="tx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pic>
            <p:nvPicPr>
              <p:cNvPr id="75" name="그림 74">
                <a:extLst>
                  <a:ext uri="{FF2B5EF4-FFF2-40B4-BE49-F238E27FC236}">
                    <a16:creationId xmlns:a16="http://schemas.microsoft.com/office/drawing/2014/main" id="{BC8888BD-B8FA-0E2E-3449-4BE19D3B74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49398" y="2360570"/>
                <a:ext cx="469902" cy="469902"/>
              </a:xfrm>
              <a:prstGeom prst="rect">
                <a:avLst/>
              </a:prstGeom>
            </p:spPr>
          </p:pic>
        </p:grp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D73650D2-D2C9-7C95-0F0C-5620F8F9D297}"/>
              </a:ext>
            </a:extLst>
          </p:cNvPr>
          <p:cNvGrpSpPr/>
          <p:nvPr/>
        </p:nvGrpSpPr>
        <p:grpSpPr>
          <a:xfrm>
            <a:off x="4282655" y="4738657"/>
            <a:ext cx="7316680" cy="760857"/>
            <a:chOff x="4282655" y="4722332"/>
            <a:chExt cx="7316680" cy="760857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7845E822-B60A-813E-9567-7C88C7F27BF7}"/>
                </a:ext>
              </a:extLst>
            </p:cNvPr>
            <p:cNvGrpSpPr/>
            <p:nvPr/>
          </p:nvGrpSpPr>
          <p:grpSpPr>
            <a:xfrm>
              <a:off x="4282655" y="4722332"/>
              <a:ext cx="2634613" cy="760857"/>
              <a:chOff x="5248478" y="3530081"/>
              <a:chExt cx="2634613" cy="760857"/>
            </a:xfrm>
          </p:grpSpPr>
          <p:sp>
            <p:nvSpPr>
              <p:cNvPr id="77" name="사각형: 둥근 모서리 76">
                <a:extLst>
                  <a:ext uri="{FF2B5EF4-FFF2-40B4-BE49-F238E27FC236}">
                    <a16:creationId xmlns:a16="http://schemas.microsoft.com/office/drawing/2014/main" id="{2EB6C186-71F5-2902-2ECB-1917845F5A1C}"/>
                  </a:ext>
                </a:extLst>
              </p:cNvPr>
              <p:cNvSpPr/>
              <p:nvPr/>
            </p:nvSpPr>
            <p:spPr>
              <a:xfrm>
                <a:off x="5753971" y="3627541"/>
                <a:ext cx="2129119" cy="565936"/>
              </a:xfrm>
              <a:prstGeom prst="roundRect">
                <a:avLst/>
              </a:prstGeom>
              <a:solidFill>
                <a:srgbClr val="F1F3E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78" name="그룹 77">
                <a:extLst>
                  <a:ext uri="{FF2B5EF4-FFF2-40B4-BE49-F238E27FC236}">
                    <a16:creationId xmlns:a16="http://schemas.microsoft.com/office/drawing/2014/main" id="{1B96D285-4F96-25F1-7F08-745623AD0511}"/>
                  </a:ext>
                </a:extLst>
              </p:cNvPr>
              <p:cNvGrpSpPr/>
              <p:nvPr/>
            </p:nvGrpSpPr>
            <p:grpSpPr>
              <a:xfrm>
                <a:off x="5248478" y="3530081"/>
                <a:ext cx="2634613" cy="760857"/>
                <a:chOff x="1549398" y="2195348"/>
                <a:chExt cx="2634613" cy="760857"/>
              </a:xfrm>
            </p:grpSpPr>
            <p:sp>
              <p:nvSpPr>
                <p:cNvPr id="79" name="직사각형 78">
                  <a:extLst>
                    <a:ext uri="{FF2B5EF4-FFF2-40B4-BE49-F238E27FC236}">
                      <a16:creationId xmlns:a16="http://schemas.microsoft.com/office/drawing/2014/main" id="{31296530-9E59-44B1-2B8A-9F3EE2DA5C37}"/>
                    </a:ext>
                  </a:extLst>
                </p:cNvPr>
                <p:cNvSpPr/>
                <p:nvPr/>
              </p:nvSpPr>
              <p:spPr>
                <a:xfrm>
                  <a:off x="2046357" y="2195348"/>
                  <a:ext cx="2137654" cy="76085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ko-KR" sz="1600" dirty="0">
                      <a:solidFill>
                        <a:schemeClr val="tx1"/>
                      </a:solidFill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400</a:t>
                  </a:r>
                  <a:r>
                    <a:rPr lang="ko-KR" altLang="en-US" sz="1600" dirty="0">
                      <a:solidFill>
                        <a:schemeClr val="tx1"/>
                      </a:solidFill>
                      <a:latin typeface="나눔스퀘어_ac Bold" panose="020B0600000101010101" pitchFamily="50" charset="-127"/>
                      <a:ea typeface="나눔스퀘어_ac Bold" panose="020B0600000101010101" pitchFamily="50" charset="-127"/>
                    </a:rPr>
                    <a:t>일 기념 요금제 유지</a:t>
                  </a:r>
                  <a:endParaRPr lang="en-US" altLang="ko-KR" sz="1600" dirty="0">
                    <a:solidFill>
                      <a:schemeClr val="tx1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endParaRPr>
                </a:p>
              </p:txBody>
            </p:sp>
            <p:pic>
              <p:nvPicPr>
                <p:cNvPr id="80" name="그림 79">
                  <a:extLst>
                    <a:ext uri="{FF2B5EF4-FFF2-40B4-BE49-F238E27FC236}">
                      <a16:creationId xmlns:a16="http://schemas.microsoft.com/office/drawing/2014/main" id="{6C8A0B7E-A371-D1C6-B180-2FB80D25E8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49398" y="2360570"/>
                  <a:ext cx="469902" cy="469902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EEE30FC0-B7A2-5F1C-D6C6-738D69F0529B}"/>
                </a:ext>
              </a:extLst>
            </p:cNvPr>
            <p:cNvGrpSpPr/>
            <p:nvPr/>
          </p:nvGrpSpPr>
          <p:grpSpPr>
            <a:xfrm>
              <a:off x="7037213" y="4722332"/>
              <a:ext cx="2343855" cy="760857"/>
              <a:chOff x="5745436" y="3530081"/>
              <a:chExt cx="3657153" cy="760857"/>
            </a:xfrm>
          </p:grpSpPr>
          <p:sp>
            <p:nvSpPr>
              <p:cNvPr id="82" name="사각형: 둥근 모서리 81">
                <a:extLst>
                  <a:ext uri="{FF2B5EF4-FFF2-40B4-BE49-F238E27FC236}">
                    <a16:creationId xmlns:a16="http://schemas.microsoft.com/office/drawing/2014/main" id="{7C39F6CC-2106-7CCA-4058-BD2AD20E26F4}"/>
                  </a:ext>
                </a:extLst>
              </p:cNvPr>
              <p:cNvSpPr/>
              <p:nvPr/>
            </p:nvSpPr>
            <p:spPr>
              <a:xfrm>
                <a:off x="5753971" y="3627541"/>
                <a:ext cx="3595773" cy="565936"/>
              </a:xfrm>
              <a:prstGeom prst="roundRect">
                <a:avLst/>
              </a:prstGeom>
              <a:solidFill>
                <a:srgbClr val="F1F3E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E1BA9996-5572-873F-3002-6BCF03149352}"/>
                  </a:ext>
                </a:extLst>
              </p:cNvPr>
              <p:cNvSpPr/>
              <p:nvPr/>
            </p:nvSpPr>
            <p:spPr>
              <a:xfrm>
                <a:off x="5745436" y="3530081"/>
                <a:ext cx="3657153" cy="76085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dirty="0">
                    <a:solidFill>
                      <a:schemeClr val="tx1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데이터 사용량 </a:t>
                </a:r>
                <a:r>
                  <a:rPr lang="en-US" altLang="ko-KR" sz="1600" dirty="0">
                    <a:solidFill>
                      <a:schemeClr val="tx1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50GB </a:t>
                </a:r>
                <a:r>
                  <a:rPr lang="ko-KR" altLang="en-US" sz="1600" dirty="0">
                    <a:solidFill>
                      <a:schemeClr val="tx1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추가</a:t>
                </a:r>
                <a:endParaRPr lang="en-US" altLang="ko-KR" sz="1600" dirty="0">
                  <a:solidFill>
                    <a:schemeClr val="tx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</p:grp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1BAAA06B-DE4F-EBEE-54BB-83640A851033}"/>
                </a:ext>
              </a:extLst>
            </p:cNvPr>
            <p:cNvGrpSpPr/>
            <p:nvPr/>
          </p:nvGrpSpPr>
          <p:grpSpPr>
            <a:xfrm>
              <a:off x="9501013" y="4722332"/>
              <a:ext cx="2098322" cy="760857"/>
              <a:chOff x="5745438" y="3530081"/>
              <a:chExt cx="3274044" cy="760857"/>
            </a:xfrm>
          </p:grpSpPr>
          <p:sp>
            <p:nvSpPr>
              <p:cNvPr id="87" name="사각형: 둥근 모서리 86">
                <a:extLst>
                  <a:ext uri="{FF2B5EF4-FFF2-40B4-BE49-F238E27FC236}">
                    <a16:creationId xmlns:a16="http://schemas.microsoft.com/office/drawing/2014/main" id="{3653B68C-B8AE-FEC2-7B0D-E5C0B201F5B9}"/>
                  </a:ext>
                </a:extLst>
              </p:cNvPr>
              <p:cNvSpPr/>
              <p:nvPr/>
            </p:nvSpPr>
            <p:spPr>
              <a:xfrm>
                <a:off x="5753972" y="3627541"/>
                <a:ext cx="3159823" cy="565936"/>
              </a:xfrm>
              <a:prstGeom prst="roundRect">
                <a:avLst/>
              </a:prstGeom>
              <a:solidFill>
                <a:srgbClr val="F1F3E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8" name="직사각형 87">
                <a:extLst>
                  <a:ext uri="{FF2B5EF4-FFF2-40B4-BE49-F238E27FC236}">
                    <a16:creationId xmlns:a16="http://schemas.microsoft.com/office/drawing/2014/main" id="{4BB7C401-31C2-6101-6657-E0FD70DF9517}"/>
                  </a:ext>
                </a:extLst>
              </p:cNvPr>
              <p:cNvSpPr/>
              <p:nvPr/>
            </p:nvSpPr>
            <p:spPr>
              <a:xfrm>
                <a:off x="5745438" y="3530081"/>
                <a:ext cx="3274044" cy="76085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solidFill>
                      <a:schemeClr val="tx1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OTT </a:t>
                </a:r>
                <a:r>
                  <a:rPr lang="ko-KR" altLang="en-US" sz="1600" dirty="0">
                    <a:solidFill>
                      <a:schemeClr val="tx1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구독료 </a:t>
                </a:r>
                <a:r>
                  <a:rPr lang="en-US" altLang="ko-KR" sz="1600" dirty="0">
                    <a:solidFill>
                      <a:schemeClr val="tx1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70% </a:t>
                </a:r>
                <a:r>
                  <a:rPr lang="ko-KR" altLang="en-US" sz="1600" dirty="0">
                    <a:solidFill>
                      <a:schemeClr val="tx1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할인</a:t>
                </a:r>
                <a:endParaRPr lang="en-US" altLang="ko-KR" sz="1600" dirty="0">
                  <a:solidFill>
                    <a:schemeClr val="tx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</p:grp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8EB26852-BA03-C368-3F06-1F4C56D2B656}"/>
              </a:ext>
            </a:extLst>
          </p:cNvPr>
          <p:cNvGrpSpPr/>
          <p:nvPr/>
        </p:nvGrpSpPr>
        <p:grpSpPr>
          <a:xfrm>
            <a:off x="4282655" y="5589861"/>
            <a:ext cx="2618659" cy="760857"/>
            <a:chOff x="5248478" y="3530081"/>
            <a:chExt cx="2618659" cy="760857"/>
          </a:xfrm>
        </p:grpSpPr>
        <p:sp>
          <p:nvSpPr>
            <p:cNvPr id="90" name="사각형: 둥근 모서리 89">
              <a:extLst>
                <a:ext uri="{FF2B5EF4-FFF2-40B4-BE49-F238E27FC236}">
                  <a16:creationId xmlns:a16="http://schemas.microsoft.com/office/drawing/2014/main" id="{84FD5E63-80CA-CAA3-2CB6-DDD471DF1318}"/>
                </a:ext>
              </a:extLst>
            </p:cNvPr>
            <p:cNvSpPr/>
            <p:nvPr/>
          </p:nvSpPr>
          <p:spPr>
            <a:xfrm>
              <a:off x="5753971" y="3627541"/>
              <a:ext cx="2113166" cy="565936"/>
            </a:xfrm>
            <a:prstGeom prst="roundRect">
              <a:avLst/>
            </a:prstGeom>
            <a:solidFill>
              <a:srgbClr val="F1F3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ECFDE7FE-08D8-5E63-7B55-86A53778A87B}"/>
                </a:ext>
              </a:extLst>
            </p:cNvPr>
            <p:cNvGrpSpPr/>
            <p:nvPr/>
          </p:nvGrpSpPr>
          <p:grpSpPr>
            <a:xfrm>
              <a:off x="5248478" y="3530081"/>
              <a:ext cx="2599409" cy="760857"/>
              <a:chOff x="1549398" y="2195348"/>
              <a:chExt cx="2599409" cy="760857"/>
            </a:xfrm>
          </p:grpSpPr>
          <p:sp>
            <p:nvSpPr>
              <p:cNvPr id="92" name="직사각형 91">
                <a:extLst>
                  <a:ext uri="{FF2B5EF4-FFF2-40B4-BE49-F238E27FC236}">
                    <a16:creationId xmlns:a16="http://schemas.microsoft.com/office/drawing/2014/main" id="{0B54DEC5-DB62-CA29-4DCD-3FC3FEF76154}"/>
                  </a:ext>
                </a:extLst>
              </p:cNvPr>
              <p:cNvSpPr/>
              <p:nvPr/>
            </p:nvSpPr>
            <p:spPr>
              <a:xfrm>
                <a:off x="2046357" y="2195348"/>
                <a:ext cx="2102450" cy="76085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600" dirty="0">
                    <a:solidFill>
                      <a:schemeClr val="tx1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가족결합 할인 요금 추천</a:t>
                </a:r>
                <a:endParaRPr lang="en-US" altLang="ko-KR" sz="1600" dirty="0">
                  <a:solidFill>
                    <a:schemeClr val="tx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pic>
            <p:nvPicPr>
              <p:cNvPr id="93" name="그림 92">
                <a:extLst>
                  <a:ext uri="{FF2B5EF4-FFF2-40B4-BE49-F238E27FC236}">
                    <a16:creationId xmlns:a16="http://schemas.microsoft.com/office/drawing/2014/main" id="{28EC794D-E339-9E81-5B03-F81B04C8AD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49398" y="2360570"/>
                <a:ext cx="469902" cy="469902"/>
              </a:xfrm>
              <a:prstGeom prst="rect">
                <a:avLst/>
              </a:prstGeom>
            </p:spPr>
          </p:pic>
        </p:grp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FA5512BE-74DF-FCDD-47DC-6987D9452A65}"/>
              </a:ext>
            </a:extLst>
          </p:cNvPr>
          <p:cNvGrpSpPr/>
          <p:nvPr/>
        </p:nvGrpSpPr>
        <p:grpSpPr>
          <a:xfrm>
            <a:off x="7037213" y="5589861"/>
            <a:ext cx="2343855" cy="760857"/>
            <a:chOff x="5745436" y="3530081"/>
            <a:chExt cx="3657153" cy="760857"/>
          </a:xfrm>
        </p:grpSpPr>
        <p:sp>
          <p:nvSpPr>
            <p:cNvPr id="95" name="사각형: 둥근 모서리 94">
              <a:extLst>
                <a:ext uri="{FF2B5EF4-FFF2-40B4-BE49-F238E27FC236}">
                  <a16:creationId xmlns:a16="http://schemas.microsoft.com/office/drawing/2014/main" id="{99DE1925-D167-F7DC-AC48-6F106B150977}"/>
                </a:ext>
              </a:extLst>
            </p:cNvPr>
            <p:cNvSpPr/>
            <p:nvPr/>
          </p:nvSpPr>
          <p:spPr>
            <a:xfrm>
              <a:off x="5753971" y="3627541"/>
              <a:ext cx="3594967" cy="565936"/>
            </a:xfrm>
            <a:prstGeom prst="roundRect">
              <a:avLst/>
            </a:prstGeom>
            <a:solidFill>
              <a:srgbClr val="F1F3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A48C31EE-DCF2-F568-79D1-8A68DEB68501}"/>
                </a:ext>
              </a:extLst>
            </p:cNvPr>
            <p:cNvSpPr/>
            <p:nvPr/>
          </p:nvSpPr>
          <p:spPr>
            <a:xfrm>
              <a:off x="5745436" y="3530081"/>
              <a:ext cx="3657153" cy="7608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TV,</a:t>
              </a:r>
              <a:r>
                <a:rPr lang="ko-KR" altLang="en-US" sz="1600" dirty="0">
                  <a:solidFill>
                    <a:schemeClr val="tx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인터넷 결합 추천</a:t>
              </a:r>
              <a:endParaRPr lang="en-US" altLang="ko-KR" sz="1600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100" name="왼쪽 대괄호 99">
            <a:extLst>
              <a:ext uri="{FF2B5EF4-FFF2-40B4-BE49-F238E27FC236}">
                <a16:creationId xmlns:a16="http://schemas.microsoft.com/office/drawing/2014/main" id="{AA0DE07B-2F6C-3873-D48C-51C60A49503D}"/>
              </a:ext>
            </a:extLst>
          </p:cNvPr>
          <p:cNvSpPr/>
          <p:nvPr/>
        </p:nvSpPr>
        <p:spPr>
          <a:xfrm>
            <a:off x="741680" y="3459479"/>
            <a:ext cx="276892" cy="2499361"/>
          </a:xfrm>
          <a:prstGeom prst="leftBracket">
            <a:avLst>
              <a:gd name="adj" fmla="val 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6E3DBC92-2BD8-FBB6-3802-0EE2FD9CE11C}"/>
              </a:ext>
            </a:extLst>
          </p:cNvPr>
          <p:cNvGrpSpPr/>
          <p:nvPr/>
        </p:nvGrpSpPr>
        <p:grpSpPr>
          <a:xfrm>
            <a:off x="2366843" y="935837"/>
            <a:ext cx="7890114" cy="1386746"/>
            <a:chOff x="2482526" y="935837"/>
            <a:chExt cx="7890114" cy="1386746"/>
          </a:xfrm>
        </p:grpSpPr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699D547C-1C28-0ABA-9D7E-1C9691308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18123" y="981593"/>
              <a:ext cx="527055" cy="527055"/>
            </a:xfrm>
            <a:prstGeom prst="rect">
              <a:avLst/>
            </a:prstGeom>
          </p:spPr>
        </p:pic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CF6C69CE-E9FF-D3E4-99EC-C7F7DFA1CC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24878" y="981593"/>
              <a:ext cx="527055" cy="527055"/>
            </a:xfrm>
            <a:prstGeom prst="rect">
              <a:avLst/>
            </a:prstGeom>
          </p:spPr>
        </p:pic>
        <p:sp>
          <p:nvSpPr>
            <p:cNvPr id="39" name="자유형: 도형 38">
              <a:extLst>
                <a:ext uri="{FF2B5EF4-FFF2-40B4-BE49-F238E27FC236}">
                  <a16:creationId xmlns:a16="http://schemas.microsoft.com/office/drawing/2014/main" id="{98DE61E3-5C46-109C-EF3D-252796741B26}"/>
                </a:ext>
              </a:extLst>
            </p:cNvPr>
            <p:cNvSpPr/>
            <p:nvPr/>
          </p:nvSpPr>
          <p:spPr>
            <a:xfrm rot="5400000">
              <a:off x="6295624" y="1131174"/>
              <a:ext cx="1386746" cy="996072"/>
            </a:xfrm>
            <a:custGeom>
              <a:avLst/>
              <a:gdLst>
                <a:gd name="csX0" fmla="*/ 477085 w 954169"/>
                <a:gd name="csY0" fmla="*/ 0 h 704850"/>
                <a:gd name="csX1" fmla="*/ 954169 w 954169"/>
                <a:gd name="csY1" fmla="*/ 298450 h 704850"/>
                <a:gd name="csX2" fmla="*/ 674047 w 954169"/>
                <a:gd name="csY2" fmla="*/ 298450 h 704850"/>
                <a:gd name="csX3" fmla="*/ 954169 w 954169"/>
                <a:gd name="csY3" fmla="*/ 704850 h 704850"/>
                <a:gd name="csX4" fmla="*/ 0 w 954169"/>
                <a:gd name="csY4" fmla="*/ 704850 h 704850"/>
                <a:gd name="csX5" fmla="*/ 280124 w 954169"/>
                <a:gd name="csY5" fmla="*/ 298450 h 704850"/>
                <a:gd name="csX6" fmla="*/ 0 w 954169"/>
                <a:gd name="csY6" fmla="*/ 298450 h 704850"/>
                <a:gd name="csX0" fmla="*/ 497302 w 974386"/>
                <a:gd name="csY0" fmla="*/ 0 h 704850"/>
                <a:gd name="csX1" fmla="*/ 974386 w 974386"/>
                <a:gd name="csY1" fmla="*/ 298450 h 704850"/>
                <a:gd name="csX2" fmla="*/ 694264 w 974386"/>
                <a:gd name="csY2" fmla="*/ 298450 h 704850"/>
                <a:gd name="csX3" fmla="*/ 974386 w 974386"/>
                <a:gd name="csY3" fmla="*/ 704850 h 704850"/>
                <a:gd name="csX4" fmla="*/ 20217 w 974386"/>
                <a:gd name="csY4" fmla="*/ 704850 h 704850"/>
                <a:gd name="csX5" fmla="*/ 300341 w 974386"/>
                <a:gd name="csY5" fmla="*/ 298450 h 704850"/>
                <a:gd name="csX6" fmla="*/ 20217 w 974386"/>
                <a:gd name="csY6" fmla="*/ 298450 h 704850"/>
                <a:gd name="csX7" fmla="*/ 497302 w 974386"/>
                <a:gd name="csY7" fmla="*/ 0 h 704850"/>
                <a:gd name="csX0" fmla="*/ 477085 w 954169"/>
                <a:gd name="csY0" fmla="*/ 0 h 704850"/>
                <a:gd name="csX1" fmla="*/ 954169 w 954169"/>
                <a:gd name="csY1" fmla="*/ 298450 h 704850"/>
                <a:gd name="csX2" fmla="*/ 674047 w 954169"/>
                <a:gd name="csY2" fmla="*/ 298450 h 704850"/>
                <a:gd name="csX3" fmla="*/ 954169 w 954169"/>
                <a:gd name="csY3" fmla="*/ 704850 h 704850"/>
                <a:gd name="csX4" fmla="*/ 0 w 954169"/>
                <a:gd name="csY4" fmla="*/ 704850 h 704850"/>
                <a:gd name="csX5" fmla="*/ 280124 w 954169"/>
                <a:gd name="csY5" fmla="*/ 298450 h 704850"/>
                <a:gd name="csX6" fmla="*/ 0 w 954169"/>
                <a:gd name="csY6" fmla="*/ 298450 h 704850"/>
                <a:gd name="csX7" fmla="*/ 477085 w 954169"/>
                <a:gd name="csY7" fmla="*/ 0 h 704850"/>
                <a:gd name="csX0" fmla="*/ 477085 w 974386"/>
                <a:gd name="csY0" fmla="*/ 0 h 704850"/>
                <a:gd name="csX1" fmla="*/ 954169 w 974386"/>
                <a:gd name="csY1" fmla="*/ 298450 h 704850"/>
                <a:gd name="csX2" fmla="*/ 674047 w 974386"/>
                <a:gd name="csY2" fmla="*/ 298450 h 704850"/>
                <a:gd name="csX3" fmla="*/ 954169 w 974386"/>
                <a:gd name="csY3" fmla="*/ 704850 h 704850"/>
                <a:gd name="csX4" fmla="*/ 0 w 974386"/>
                <a:gd name="csY4" fmla="*/ 704850 h 704850"/>
                <a:gd name="csX5" fmla="*/ 280124 w 974386"/>
                <a:gd name="csY5" fmla="*/ 298450 h 704850"/>
                <a:gd name="csX6" fmla="*/ 0 w 974386"/>
                <a:gd name="csY6" fmla="*/ 298450 h 704850"/>
                <a:gd name="csX7" fmla="*/ 477085 w 974386"/>
                <a:gd name="csY7" fmla="*/ 0 h 704850"/>
                <a:gd name="csX0" fmla="*/ 477085 w 954169"/>
                <a:gd name="csY0" fmla="*/ 0 h 704850"/>
                <a:gd name="csX1" fmla="*/ 954169 w 954169"/>
                <a:gd name="csY1" fmla="*/ 298450 h 704850"/>
                <a:gd name="csX2" fmla="*/ 674047 w 954169"/>
                <a:gd name="csY2" fmla="*/ 298450 h 704850"/>
                <a:gd name="csX3" fmla="*/ 954169 w 954169"/>
                <a:gd name="csY3" fmla="*/ 704850 h 704850"/>
                <a:gd name="csX4" fmla="*/ 0 w 954169"/>
                <a:gd name="csY4" fmla="*/ 704850 h 704850"/>
                <a:gd name="csX5" fmla="*/ 280124 w 954169"/>
                <a:gd name="csY5" fmla="*/ 298450 h 704850"/>
                <a:gd name="csX6" fmla="*/ 0 w 954169"/>
                <a:gd name="csY6" fmla="*/ 298450 h 704850"/>
                <a:gd name="csX7" fmla="*/ 477085 w 954169"/>
                <a:gd name="csY7" fmla="*/ 0 h 704850"/>
                <a:gd name="csX0" fmla="*/ 477085 w 954169"/>
                <a:gd name="csY0" fmla="*/ 0 h 704850"/>
                <a:gd name="csX1" fmla="*/ 882329 w 954169"/>
                <a:gd name="csY1" fmla="*/ 296764 h 704850"/>
                <a:gd name="csX2" fmla="*/ 674047 w 954169"/>
                <a:gd name="csY2" fmla="*/ 298450 h 704850"/>
                <a:gd name="csX3" fmla="*/ 954169 w 954169"/>
                <a:gd name="csY3" fmla="*/ 704850 h 704850"/>
                <a:gd name="csX4" fmla="*/ 0 w 954169"/>
                <a:gd name="csY4" fmla="*/ 704850 h 704850"/>
                <a:gd name="csX5" fmla="*/ 280124 w 954169"/>
                <a:gd name="csY5" fmla="*/ 298450 h 704850"/>
                <a:gd name="csX6" fmla="*/ 0 w 954169"/>
                <a:gd name="csY6" fmla="*/ 298450 h 704850"/>
                <a:gd name="csX7" fmla="*/ 477085 w 954169"/>
                <a:gd name="csY7" fmla="*/ 0 h 704850"/>
                <a:gd name="csX0" fmla="*/ 477085 w 954169"/>
                <a:gd name="csY0" fmla="*/ 0 h 704850"/>
                <a:gd name="csX1" fmla="*/ 882329 w 954169"/>
                <a:gd name="csY1" fmla="*/ 296764 h 704850"/>
                <a:gd name="csX2" fmla="*/ 674047 w 954169"/>
                <a:gd name="csY2" fmla="*/ 298450 h 704850"/>
                <a:gd name="csX3" fmla="*/ 954169 w 954169"/>
                <a:gd name="csY3" fmla="*/ 704850 h 704850"/>
                <a:gd name="csX4" fmla="*/ 0 w 954169"/>
                <a:gd name="csY4" fmla="*/ 704850 h 704850"/>
                <a:gd name="csX5" fmla="*/ 280124 w 954169"/>
                <a:gd name="csY5" fmla="*/ 298450 h 704850"/>
                <a:gd name="csX6" fmla="*/ 79698 w 954169"/>
                <a:gd name="csY6" fmla="*/ 299329 h 704850"/>
                <a:gd name="csX7" fmla="*/ 477085 w 954169"/>
                <a:gd name="csY7" fmla="*/ 0 h 7048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954169" h="704850">
                  <a:moveTo>
                    <a:pt x="477085" y="0"/>
                  </a:moveTo>
                  <a:lnTo>
                    <a:pt x="882329" y="296764"/>
                  </a:lnTo>
                  <a:lnTo>
                    <a:pt x="674047" y="298450"/>
                  </a:lnTo>
                  <a:cubicBezTo>
                    <a:pt x="674047" y="366183"/>
                    <a:pt x="740543" y="632884"/>
                    <a:pt x="954169" y="704850"/>
                  </a:cubicBezTo>
                  <a:lnTo>
                    <a:pt x="0" y="704850"/>
                  </a:lnTo>
                  <a:cubicBezTo>
                    <a:pt x="177643" y="632884"/>
                    <a:pt x="280124" y="366183"/>
                    <a:pt x="280124" y="298450"/>
                  </a:cubicBezTo>
                  <a:lnTo>
                    <a:pt x="79698" y="299329"/>
                  </a:lnTo>
                  <a:lnTo>
                    <a:pt x="477085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52728">
                    <a:alpha val="0"/>
                  </a:srgbClr>
                </a:gs>
                <a:gs pos="100000">
                  <a:srgbClr val="D52728">
                    <a:alpha val="38000"/>
                    <a:lumMod val="93000"/>
                    <a:lumOff val="7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E1B42057-2C99-171A-7923-F5AEA6395EDB}"/>
                </a:ext>
              </a:extLst>
            </p:cNvPr>
            <p:cNvGrpSpPr/>
            <p:nvPr/>
          </p:nvGrpSpPr>
          <p:grpSpPr>
            <a:xfrm>
              <a:off x="7522974" y="1219883"/>
              <a:ext cx="2849666" cy="777487"/>
              <a:chOff x="5939277" y="710598"/>
              <a:chExt cx="2849666" cy="777487"/>
            </a:xfrm>
          </p:grpSpPr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3E53CB74-A296-663E-E1A3-1C3AE94ABAF7}"/>
                  </a:ext>
                </a:extLst>
              </p:cNvPr>
              <p:cNvSpPr/>
              <p:nvPr/>
            </p:nvSpPr>
            <p:spPr>
              <a:xfrm>
                <a:off x="5939277" y="902109"/>
                <a:ext cx="2450755" cy="39425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2000" dirty="0">
                    <a:solidFill>
                      <a:schemeClr val="tx1"/>
                    </a:solidFill>
                    <a:latin typeface="나눔스퀘어_ac ExtraBold" panose="020B0600000101010101" pitchFamily="50" charset="-127"/>
                    <a:ea typeface="나눔스퀘어_ac ExtraBold" panose="020B0600000101010101" pitchFamily="50" charset="-127"/>
                  </a:rPr>
                  <a:t>이탈 위험 점수 </a:t>
                </a:r>
                <a:r>
                  <a:rPr lang="en-US" altLang="ko-KR" sz="2000" dirty="0">
                    <a:solidFill>
                      <a:srgbClr val="0022C3"/>
                    </a:solidFill>
                    <a:latin typeface="나눔스퀘어_ac ExtraBold" panose="020B0600000101010101" pitchFamily="50" charset="-127"/>
                    <a:ea typeface="나눔스퀘어_ac ExtraBold" panose="020B0600000101010101" pitchFamily="50" charset="-127"/>
                  </a:rPr>
                  <a:t>50</a:t>
                </a:r>
                <a:r>
                  <a:rPr lang="ko-KR" altLang="en-US" sz="2000" dirty="0">
                    <a:solidFill>
                      <a:srgbClr val="0022C3"/>
                    </a:solidFill>
                    <a:latin typeface="나눔스퀘어_ac ExtraBold" panose="020B0600000101010101" pitchFamily="50" charset="-127"/>
                    <a:ea typeface="나눔스퀘어_ac ExtraBold" panose="020B0600000101010101" pitchFamily="50" charset="-127"/>
                  </a:rPr>
                  <a:t>점</a:t>
                </a:r>
              </a:p>
            </p:txBody>
          </p:sp>
          <p:pic>
            <p:nvPicPr>
              <p:cNvPr id="42" name="그래픽 41" descr="시계 방향으로 굽은 화살표 단색으로 채워진">
                <a:extLst>
                  <a:ext uri="{FF2B5EF4-FFF2-40B4-BE49-F238E27FC236}">
                    <a16:creationId xmlns:a16="http://schemas.microsoft.com/office/drawing/2014/main" id="{413A3DCB-91A8-7230-8C54-22F8AA991D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2708952">
                <a:off x="8011456" y="710598"/>
                <a:ext cx="777487" cy="777487"/>
              </a:xfrm>
              <a:prstGeom prst="rect">
                <a:avLst/>
              </a:prstGeom>
            </p:spPr>
          </p:pic>
        </p:grpSp>
        <p:grpSp>
          <p:nvGrpSpPr>
            <p:cNvPr id="102" name="그룹 101">
              <a:extLst>
                <a:ext uri="{FF2B5EF4-FFF2-40B4-BE49-F238E27FC236}">
                  <a16:creationId xmlns:a16="http://schemas.microsoft.com/office/drawing/2014/main" id="{233D36D7-2CEC-2D84-2150-591CE514CC26}"/>
                </a:ext>
              </a:extLst>
            </p:cNvPr>
            <p:cNvGrpSpPr/>
            <p:nvPr/>
          </p:nvGrpSpPr>
          <p:grpSpPr>
            <a:xfrm>
              <a:off x="2482526" y="1490144"/>
              <a:ext cx="3802276" cy="662300"/>
              <a:chOff x="1743224" y="1490144"/>
              <a:chExt cx="3802276" cy="662300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675E52D-2DC1-1564-42F7-322E83971E36}"/>
                  </a:ext>
                </a:extLst>
              </p:cNvPr>
              <p:cNvSpPr txBox="1"/>
              <p:nvPr/>
            </p:nvSpPr>
            <p:spPr>
              <a:xfrm>
                <a:off x="2588372" y="1490144"/>
                <a:ext cx="967048" cy="646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 err="1">
                    <a:solidFill>
                      <a:srgbClr val="44AA44"/>
                    </a:solidFill>
                    <a:latin typeface="나눔스퀘어_ac ExtraBold" panose="020B0600000101010101" pitchFamily="50" charset="-127"/>
                    <a:ea typeface="나눔스퀘어_ac ExtraBold" panose="020B0600000101010101" pitchFamily="50" charset="-127"/>
                  </a:rPr>
                  <a:t>저가치</a:t>
                </a:r>
                <a:r>
                  <a:rPr lang="ko-KR" altLang="en-US" dirty="0">
                    <a:solidFill>
                      <a:srgbClr val="44AA44"/>
                    </a:solidFill>
                    <a:latin typeface="나눔스퀘어_ac ExtraBold" panose="020B0600000101010101" pitchFamily="50" charset="-127"/>
                    <a:ea typeface="나눔스퀘어_ac ExtraBold" panose="020B0600000101010101" pitchFamily="50" charset="-127"/>
                  </a:rPr>
                  <a:t> </a:t>
                </a:r>
                <a:endParaRPr lang="en-US" altLang="ko-KR" dirty="0">
                  <a:solidFill>
                    <a:srgbClr val="44AA44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endParaRPr>
              </a:p>
              <a:p>
                <a:pPr algn="ctr"/>
                <a:r>
                  <a:rPr lang="ko-KR" altLang="en-US" dirty="0">
                    <a:solidFill>
                      <a:srgbClr val="44AA44"/>
                    </a:solidFill>
                    <a:latin typeface="나눔스퀘어_ac ExtraBold" panose="020B0600000101010101" pitchFamily="50" charset="-127"/>
                    <a:ea typeface="나눔스퀘어_ac ExtraBold" panose="020B0600000101010101" pitchFamily="50" charset="-127"/>
                  </a:rPr>
                  <a:t>유지군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CDFEDE0-83E1-8F23-30A0-A5635E9B94D2}"/>
                  </a:ext>
                </a:extLst>
              </p:cNvPr>
              <p:cNvSpPr txBox="1"/>
              <p:nvPr/>
            </p:nvSpPr>
            <p:spPr>
              <a:xfrm>
                <a:off x="3433520" y="1490144"/>
                <a:ext cx="106375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>
                    <a:solidFill>
                      <a:srgbClr val="2D7FB8"/>
                    </a:solidFill>
                    <a:latin typeface="나눔스퀘어_ac ExtraBold" panose="020B0600000101010101" pitchFamily="50" charset="-127"/>
                    <a:ea typeface="나눔스퀘어_ac ExtraBold" panose="020B0600000101010101" pitchFamily="50" charset="-127"/>
                  </a:rPr>
                  <a:t>신규 </a:t>
                </a:r>
                <a:endParaRPr lang="en-US" altLang="ko-KR" dirty="0">
                  <a:solidFill>
                    <a:srgbClr val="2D7FB8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endParaRPr>
              </a:p>
              <a:p>
                <a:pPr algn="ctr"/>
                <a:r>
                  <a:rPr lang="ko-KR" altLang="en-US" dirty="0">
                    <a:solidFill>
                      <a:srgbClr val="2D7FB8"/>
                    </a:solidFill>
                    <a:latin typeface="나눔스퀘어_ac ExtraBold" panose="020B0600000101010101" pitchFamily="50" charset="-127"/>
                    <a:ea typeface="나눔스퀘어_ac ExtraBold" panose="020B0600000101010101" pitchFamily="50" charset="-127"/>
                  </a:rPr>
                  <a:t>불만족군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64B8D53-DCCB-4B62-01A6-43E76DABAD8E}"/>
                  </a:ext>
                </a:extLst>
              </p:cNvPr>
              <p:cNvSpPr txBox="1"/>
              <p:nvPr/>
            </p:nvSpPr>
            <p:spPr>
              <a:xfrm>
                <a:off x="4375373" y="1490145"/>
                <a:ext cx="117012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 err="1">
                    <a:solidFill>
                      <a:srgbClr val="D52728"/>
                    </a:solidFill>
                    <a:latin typeface="나눔스퀘어_ac ExtraBold" panose="020B0600000101010101" pitchFamily="50" charset="-127"/>
                    <a:ea typeface="나눔스퀘어_ac ExtraBold" panose="020B0600000101010101" pitchFamily="50" charset="-127"/>
                  </a:rPr>
                  <a:t>고매출</a:t>
                </a:r>
                <a:endParaRPr lang="en-US" altLang="ko-KR" dirty="0">
                  <a:solidFill>
                    <a:srgbClr val="D52728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endParaRPr>
              </a:p>
              <a:p>
                <a:pPr algn="ctr"/>
                <a:r>
                  <a:rPr lang="ko-KR" altLang="en-US" dirty="0">
                    <a:solidFill>
                      <a:srgbClr val="D52728"/>
                    </a:solidFill>
                    <a:latin typeface="나눔스퀘어_ac ExtraBold" panose="020B0600000101010101" pitchFamily="50" charset="-127"/>
                    <a:ea typeface="나눔스퀘어_ac ExtraBold" panose="020B0600000101010101" pitchFamily="50" charset="-127"/>
                  </a:rPr>
                  <a:t>이탈위험군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4EDB346A-463F-18B0-7FA6-ECE7A0BCBC28}"/>
                  </a:ext>
                </a:extLst>
              </p:cNvPr>
              <p:cNvSpPr txBox="1"/>
              <p:nvPr/>
            </p:nvSpPr>
            <p:spPr>
              <a:xfrm>
                <a:off x="1743224" y="1506113"/>
                <a:ext cx="9670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 err="1">
                    <a:solidFill>
                      <a:srgbClr val="FF7F0E"/>
                    </a:solidFill>
                    <a:latin typeface="나눔스퀘어_ac ExtraBold" panose="020B0600000101010101" pitchFamily="50" charset="-127"/>
                    <a:ea typeface="나눔스퀘어_ac ExtraBold" panose="020B0600000101010101" pitchFamily="50" charset="-127"/>
                  </a:rPr>
                  <a:t>고가치</a:t>
                </a:r>
                <a:r>
                  <a:rPr lang="ko-KR" altLang="en-US" dirty="0">
                    <a:solidFill>
                      <a:srgbClr val="FF7F0E"/>
                    </a:solidFill>
                    <a:latin typeface="나눔스퀘어_ac ExtraBold" panose="020B0600000101010101" pitchFamily="50" charset="-127"/>
                    <a:ea typeface="나눔스퀘어_ac ExtraBold" panose="020B0600000101010101" pitchFamily="50" charset="-127"/>
                  </a:rPr>
                  <a:t> </a:t>
                </a:r>
                <a:endParaRPr lang="en-US" altLang="ko-KR" dirty="0">
                  <a:solidFill>
                    <a:srgbClr val="FF7F0E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endParaRPr>
              </a:p>
              <a:p>
                <a:pPr algn="ctr"/>
                <a:r>
                  <a:rPr lang="ko-KR" altLang="en-US" dirty="0" err="1">
                    <a:solidFill>
                      <a:srgbClr val="FF7F0E"/>
                    </a:solidFill>
                    <a:latin typeface="나눔스퀘어_ac ExtraBold" panose="020B0600000101010101" pitchFamily="50" charset="-127"/>
                    <a:ea typeface="나눔스퀘어_ac ExtraBold" panose="020B0600000101010101" pitchFamily="50" charset="-127"/>
                  </a:rPr>
                  <a:t>충성군</a:t>
                </a:r>
                <a:endParaRPr lang="ko-KR" altLang="en-US" dirty="0">
                  <a:solidFill>
                    <a:srgbClr val="FF7F0E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endParaRPr>
              </a:p>
            </p:txBody>
          </p:sp>
        </p:grpSp>
      </p:grpSp>
      <p:sp>
        <p:nvSpPr>
          <p:cNvPr id="104" name="왼쪽 대괄호 103">
            <a:extLst>
              <a:ext uri="{FF2B5EF4-FFF2-40B4-BE49-F238E27FC236}">
                <a16:creationId xmlns:a16="http://schemas.microsoft.com/office/drawing/2014/main" id="{CD80C686-C5FC-FD5D-1A20-B1EA95BF5141}"/>
              </a:ext>
            </a:extLst>
          </p:cNvPr>
          <p:cNvSpPr/>
          <p:nvPr/>
        </p:nvSpPr>
        <p:spPr>
          <a:xfrm>
            <a:off x="741680" y="4305298"/>
            <a:ext cx="276892" cy="3"/>
          </a:xfrm>
          <a:custGeom>
            <a:avLst/>
            <a:gdLst>
              <a:gd name="csX0" fmla="*/ 276892 w 276892"/>
              <a:gd name="csY0" fmla="*/ 1734821 h 1734821"/>
              <a:gd name="csX1" fmla="*/ 0 w 276892"/>
              <a:gd name="csY1" fmla="*/ 1734818 h 1734821"/>
              <a:gd name="csX2" fmla="*/ 0 w 276892"/>
              <a:gd name="csY2" fmla="*/ 3 h 1734821"/>
              <a:gd name="csX3" fmla="*/ 276892 w 276892"/>
              <a:gd name="csY3" fmla="*/ 0 h 1734821"/>
              <a:gd name="csX4" fmla="*/ 276892 w 276892"/>
              <a:gd name="csY4" fmla="*/ 1734821 h 1734821"/>
              <a:gd name="csX0" fmla="*/ 276892 w 276892"/>
              <a:gd name="csY0" fmla="*/ 1734821 h 1734821"/>
              <a:gd name="csX1" fmla="*/ 0 w 276892"/>
              <a:gd name="csY1" fmla="*/ 1734818 h 1734821"/>
              <a:gd name="csX2" fmla="*/ 0 w 276892"/>
              <a:gd name="csY2" fmla="*/ 3 h 1734821"/>
              <a:gd name="csX3" fmla="*/ 276892 w 276892"/>
              <a:gd name="csY3" fmla="*/ 0 h 1734821"/>
              <a:gd name="csX0" fmla="*/ 276892 w 276892"/>
              <a:gd name="csY0" fmla="*/ 1734821 h 1734821"/>
              <a:gd name="csX1" fmla="*/ 0 w 276892"/>
              <a:gd name="csY1" fmla="*/ 1734818 h 1734821"/>
              <a:gd name="csX2" fmla="*/ 0 w 276892"/>
              <a:gd name="csY2" fmla="*/ 3 h 1734821"/>
              <a:gd name="csX3" fmla="*/ 276892 w 276892"/>
              <a:gd name="csY3" fmla="*/ 0 h 1734821"/>
              <a:gd name="csX4" fmla="*/ 276892 w 276892"/>
              <a:gd name="csY4" fmla="*/ 1734821 h 1734821"/>
              <a:gd name="csX0" fmla="*/ 0 w 276892"/>
              <a:gd name="csY0" fmla="*/ 1734818 h 1734821"/>
              <a:gd name="csX1" fmla="*/ 0 w 276892"/>
              <a:gd name="csY1" fmla="*/ 3 h 1734821"/>
              <a:gd name="csX2" fmla="*/ 276892 w 276892"/>
              <a:gd name="csY2" fmla="*/ 0 h 1734821"/>
              <a:gd name="csX0" fmla="*/ 276892 w 276892"/>
              <a:gd name="csY0" fmla="*/ 1734821 h 1734821"/>
              <a:gd name="csX1" fmla="*/ 0 w 276892"/>
              <a:gd name="csY1" fmla="*/ 1734818 h 1734821"/>
              <a:gd name="csX2" fmla="*/ 0 w 276892"/>
              <a:gd name="csY2" fmla="*/ 3 h 1734821"/>
              <a:gd name="csX3" fmla="*/ 276892 w 276892"/>
              <a:gd name="csY3" fmla="*/ 0 h 1734821"/>
              <a:gd name="csX4" fmla="*/ 276892 w 276892"/>
              <a:gd name="csY4" fmla="*/ 1734821 h 1734821"/>
              <a:gd name="csX0" fmla="*/ 0 w 276892"/>
              <a:gd name="csY0" fmla="*/ 3 h 1734821"/>
              <a:gd name="csX1" fmla="*/ 276892 w 276892"/>
              <a:gd name="csY1" fmla="*/ 0 h 1734821"/>
              <a:gd name="csX0" fmla="*/ 276892 w 276892"/>
              <a:gd name="csY0" fmla="*/ 0 h 1734818"/>
              <a:gd name="csX1" fmla="*/ 0 w 276892"/>
              <a:gd name="csY1" fmla="*/ 1734818 h 1734818"/>
              <a:gd name="csX2" fmla="*/ 0 w 276892"/>
              <a:gd name="csY2" fmla="*/ 3 h 1734818"/>
              <a:gd name="csX3" fmla="*/ 276892 w 276892"/>
              <a:gd name="csY3" fmla="*/ 0 h 1734818"/>
              <a:gd name="csX0" fmla="*/ 0 w 276892"/>
              <a:gd name="csY0" fmla="*/ 3 h 1734818"/>
              <a:gd name="csX1" fmla="*/ 276892 w 276892"/>
              <a:gd name="csY1" fmla="*/ 0 h 1734818"/>
              <a:gd name="csX0" fmla="*/ 276892 w 276892"/>
              <a:gd name="csY0" fmla="*/ 0 h 3"/>
              <a:gd name="csX1" fmla="*/ 0 w 276892"/>
              <a:gd name="csY1" fmla="*/ 3 h 3"/>
              <a:gd name="csX2" fmla="*/ 276892 w 276892"/>
              <a:gd name="csY2" fmla="*/ 0 h 3"/>
              <a:gd name="csX0" fmla="*/ 0 w 276892"/>
              <a:gd name="csY0" fmla="*/ 3 h 3"/>
              <a:gd name="csX1" fmla="*/ 276892 w 276892"/>
              <a:gd name="csY1" fmla="*/ 0 h 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76892" h="3" stroke="0" extrusionOk="0">
                <a:moveTo>
                  <a:pt x="276892" y="0"/>
                </a:moveTo>
                <a:lnTo>
                  <a:pt x="0" y="3"/>
                </a:lnTo>
                <a:cubicBezTo>
                  <a:pt x="0" y="1"/>
                  <a:pt x="123969" y="0"/>
                  <a:pt x="276892" y="0"/>
                </a:cubicBezTo>
                <a:close/>
              </a:path>
              <a:path w="276892" h="3" fill="none">
                <a:moveTo>
                  <a:pt x="0" y="3"/>
                </a:moveTo>
                <a:cubicBezTo>
                  <a:pt x="0" y="1"/>
                  <a:pt x="123969" y="0"/>
                  <a:pt x="276892" y="0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왼쪽 대괄호 104">
            <a:extLst>
              <a:ext uri="{FF2B5EF4-FFF2-40B4-BE49-F238E27FC236}">
                <a16:creationId xmlns:a16="http://schemas.microsoft.com/office/drawing/2014/main" id="{99879DC9-A081-176F-9ED9-96CF1BDEB231}"/>
              </a:ext>
            </a:extLst>
          </p:cNvPr>
          <p:cNvSpPr/>
          <p:nvPr/>
        </p:nvSpPr>
        <p:spPr>
          <a:xfrm>
            <a:off x="741680" y="5107303"/>
            <a:ext cx="276892" cy="3"/>
          </a:xfrm>
          <a:custGeom>
            <a:avLst/>
            <a:gdLst>
              <a:gd name="csX0" fmla="*/ 276892 w 276892"/>
              <a:gd name="csY0" fmla="*/ 871221 h 871221"/>
              <a:gd name="csX1" fmla="*/ 0 w 276892"/>
              <a:gd name="csY1" fmla="*/ 871218 h 871221"/>
              <a:gd name="csX2" fmla="*/ 0 w 276892"/>
              <a:gd name="csY2" fmla="*/ 3 h 871221"/>
              <a:gd name="csX3" fmla="*/ 276892 w 276892"/>
              <a:gd name="csY3" fmla="*/ 0 h 871221"/>
              <a:gd name="csX4" fmla="*/ 276892 w 276892"/>
              <a:gd name="csY4" fmla="*/ 871221 h 871221"/>
              <a:gd name="csX0" fmla="*/ 276892 w 276892"/>
              <a:gd name="csY0" fmla="*/ 871221 h 871221"/>
              <a:gd name="csX1" fmla="*/ 0 w 276892"/>
              <a:gd name="csY1" fmla="*/ 871218 h 871221"/>
              <a:gd name="csX2" fmla="*/ 0 w 276892"/>
              <a:gd name="csY2" fmla="*/ 3 h 871221"/>
              <a:gd name="csX3" fmla="*/ 276892 w 276892"/>
              <a:gd name="csY3" fmla="*/ 0 h 871221"/>
              <a:gd name="csX0" fmla="*/ 276892 w 276892"/>
              <a:gd name="csY0" fmla="*/ 871221 h 871221"/>
              <a:gd name="csX1" fmla="*/ 0 w 276892"/>
              <a:gd name="csY1" fmla="*/ 871218 h 871221"/>
              <a:gd name="csX2" fmla="*/ 0 w 276892"/>
              <a:gd name="csY2" fmla="*/ 3 h 871221"/>
              <a:gd name="csX3" fmla="*/ 276892 w 276892"/>
              <a:gd name="csY3" fmla="*/ 0 h 871221"/>
              <a:gd name="csX4" fmla="*/ 276892 w 276892"/>
              <a:gd name="csY4" fmla="*/ 871221 h 871221"/>
              <a:gd name="csX0" fmla="*/ 0 w 276892"/>
              <a:gd name="csY0" fmla="*/ 871218 h 871221"/>
              <a:gd name="csX1" fmla="*/ 0 w 276892"/>
              <a:gd name="csY1" fmla="*/ 3 h 871221"/>
              <a:gd name="csX2" fmla="*/ 276892 w 276892"/>
              <a:gd name="csY2" fmla="*/ 0 h 871221"/>
              <a:gd name="csX0" fmla="*/ 276892 w 276892"/>
              <a:gd name="csY0" fmla="*/ 871221 h 871221"/>
              <a:gd name="csX1" fmla="*/ 0 w 276892"/>
              <a:gd name="csY1" fmla="*/ 871218 h 871221"/>
              <a:gd name="csX2" fmla="*/ 0 w 276892"/>
              <a:gd name="csY2" fmla="*/ 3 h 871221"/>
              <a:gd name="csX3" fmla="*/ 276892 w 276892"/>
              <a:gd name="csY3" fmla="*/ 0 h 871221"/>
              <a:gd name="csX4" fmla="*/ 276892 w 276892"/>
              <a:gd name="csY4" fmla="*/ 871221 h 871221"/>
              <a:gd name="csX0" fmla="*/ 0 w 276892"/>
              <a:gd name="csY0" fmla="*/ 3 h 871221"/>
              <a:gd name="csX1" fmla="*/ 276892 w 276892"/>
              <a:gd name="csY1" fmla="*/ 0 h 871221"/>
              <a:gd name="csX0" fmla="*/ 276892 w 276892"/>
              <a:gd name="csY0" fmla="*/ 0 h 871218"/>
              <a:gd name="csX1" fmla="*/ 0 w 276892"/>
              <a:gd name="csY1" fmla="*/ 871218 h 871218"/>
              <a:gd name="csX2" fmla="*/ 0 w 276892"/>
              <a:gd name="csY2" fmla="*/ 3 h 871218"/>
              <a:gd name="csX3" fmla="*/ 276892 w 276892"/>
              <a:gd name="csY3" fmla="*/ 0 h 871218"/>
              <a:gd name="csX0" fmla="*/ 0 w 276892"/>
              <a:gd name="csY0" fmla="*/ 3 h 871218"/>
              <a:gd name="csX1" fmla="*/ 276892 w 276892"/>
              <a:gd name="csY1" fmla="*/ 0 h 871218"/>
              <a:gd name="csX0" fmla="*/ 276892 w 276892"/>
              <a:gd name="csY0" fmla="*/ 0 h 3"/>
              <a:gd name="csX1" fmla="*/ 0 w 276892"/>
              <a:gd name="csY1" fmla="*/ 3 h 3"/>
              <a:gd name="csX2" fmla="*/ 276892 w 276892"/>
              <a:gd name="csY2" fmla="*/ 0 h 3"/>
              <a:gd name="csX0" fmla="*/ 0 w 276892"/>
              <a:gd name="csY0" fmla="*/ 3 h 3"/>
              <a:gd name="csX1" fmla="*/ 276892 w 276892"/>
              <a:gd name="csY1" fmla="*/ 0 h 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76892" h="3" stroke="0" extrusionOk="0">
                <a:moveTo>
                  <a:pt x="276892" y="0"/>
                </a:moveTo>
                <a:lnTo>
                  <a:pt x="0" y="3"/>
                </a:lnTo>
                <a:cubicBezTo>
                  <a:pt x="0" y="1"/>
                  <a:pt x="123969" y="0"/>
                  <a:pt x="276892" y="0"/>
                </a:cubicBezTo>
                <a:close/>
              </a:path>
              <a:path w="276892" h="3" fill="none">
                <a:moveTo>
                  <a:pt x="0" y="3"/>
                </a:moveTo>
                <a:cubicBezTo>
                  <a:pt x="0" y="1"/>
                  <a:pt x="123969" y="0"/>
                  <a:pt x="276892" y="0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7388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E70433-2433-976D-1EE2-6BF4E9115D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개선방안 </a:t>
            </a:r>
            <a:r>
              <a:rPr lang="en-US" altLang="ko-KR" sz="2000" dirty="0"/>
              <a:t>_ARPU </a:t>
            </a:r>
            <a:r>
              <a:rPr lang="ko-KR" altLang="en-US" sz="2000" dirty="0"/>
              <a:t>향상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EACF4CC-7C56-D5D1-F233-F63DF9D70106}"/>
              </a:ext>
            </a:extLst>
          </p:cNvPr>
          <p:cNvSpPr/>
          <p:nvPr/>
        </p:nvSpPr>
        <p:spPr>
          <a:xfrm>
            <a:off x="671464" y="777393"/>
            <a:ext cx="10849072" cy="58177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sz="1600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군집 분석 결과, </a:t>
            </a:r>
            <a:r>
              <a:rPr lang="ko-KR" altLang="ko-KR" sz="1600" dirty="0" err="1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저가치</a:t>
            </a:r>
            <a:r>
              <a:rPr lang="ko-KR" altLang="ko-KR" sz="1600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유지군은 </a:t>
            </a:r>
            <a:r>
              <a:rPr lang="ko-KR" altLang="ko-KR" sz="1600" dirty="0" err="1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ARPU는</a:t>
            </a:r>
            <a:r>
              <a:rPr lang="ko-KR" altLang="ko-KR" sz="1600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낮지만 유지율은 높은 </a:t>
            </a:r>
            <a:r>
              <a:rPr lang="ko-KR" altLang="ko-KR" sz="1600" dirty="0" err="1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고객군</a:t>
            </a:r>
            <a:r>
              <a:rPr lang="ko-KR" altLang="ko-KR" sz="1600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ko-KR" sz="1600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따라서 이탈 방지보다 추가 수익 창출 전략이 핵심 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21AC32B-62DF-E540-7A4C-FB50111DA110}"/>
              </a:ext>
            </a:extLst>
          </p:cNvPr>
          <p:cNvSpPr/>
          <p:nvPr/>
        </p:nvSpPr>
        <p:spPr>
          <a:xfrm>
            <a:off x="1123950" y="2121659"/>
            <a:ext cx="4610100" cy="1615922"/>
          </a:xfrm>
          <a:prstGeom prst="roundRect">
            <a:avLst/>
          </a:prstGeom>
          <a:solidFill>
            <a:srgbClr val="F1F3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5754B60-9BE9-8641-AFCA-C4473FC038DD}"/>
              </a:ext>
            </a:extLst>
          </p:cNvPr>
          <p:cNvSpPr/>
          <p:nvPr/>
        </p:nvSpPr>
        <p:spPr>
          <a:xfrm>
            <a:off x="1123950" y="4801359"/>
            <a:ext cx="4610100" cy="1615922"/>
          </a:xfrm>
          <a:prstGeom prst="roundRect">
            <a:avLst/>
          </a:prstGeom>
          <a:solidFill>
            <a:srgbClr val="F1F3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5D68F37-2999-5C2D-225B-7A425B955B52}"/>
              </a:ext>
            </a:extLst>
          </p:cNvPr>
          <p:cNvSpPr/>
          <p:nvPr/>
        </p:nvSpPr>
        <p:spPr>
          <a:xfrm>
            <a:off x="6457950" y="4834728"/>
            <a:ext cx="4610100" cy="1615922"/>
          </a:xfrm>
          <a:prstGeom prst="roundRect">
            <a:avLst/>
          </a:prstGeom>
          <a:solidFill>
            <a:srgbClr val="F1F3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18C143D-A024-CC16-3821-9AB498AA7DC7}"/>
              </a:ext>
            </a:extLst>
          </p:cNvPr>
          <p:cNvSpPr/>
          <p:nvPr/>
        </p:nvSpPr>
        <p:spPr>
          <a:xfrm>
            <a:off x="6457950" y="2147059"/>
            <a:ext cx="4610100" cy="1615922"/>
          </a:xfrm>
          <a:prstGeom prst="roundRect">
            <a:avLst/>
          </a:prstGeom>
          <a:solidFill>
            <a:srgbClr val="F1F3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F2CB4F7-5733-87C8-0962-B80FB865C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46470" y="1885734"/>
            <a:ext cx="2076740" cy="30865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7D22AA6-3CC7-7E22-9BF3-2B5DB8934093}"/>
              </a:ext>
            </a:extLst>
          </p:cNvPr>
          <p:cNvSpPr txBox="1"/>
          <p:nvPr/>
        </p:nvSpPr>
        <p:spPr>
          <a:xfrm>
            <a:off x="839856" y="1626906"/>
            <a:ext cx="2905870" cy="3907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2159" tIns="41080" rIns="82159" bIns="410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20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1. </a:t>
            </a:r>
            <a:r>
              <a:rPr lang="ko-KR" altLang="en-US" sz="20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티켓 접촉</a:t>
            </a:r>
            <a:endParaRPr lang="ko-KR" altLang="en-US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D0B838-AAA3-2481-B70F-A615242BE1FF}"/>
              </a:ext>
            </a:extLst>
          </p:cNvPr>
          <p:cNvSpPr txBox="1"/>
          <p:nvPr/>
        </p:nvSpPr>
        <p:spPr>
          <a:xfrm>
            <a:off x="6262756" y="1626906"/>
            <a:ext cx="2905870" cy="3907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2159" tIns="41080" rIns="82159" bIns="410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20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2. 1</a:t>
            </a:r>
            <a:r>
              <a:rPr lang="ko-KR" altLang="en-US" sz="20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차 유도 </a:t>
            </a:r>
            <a:r>
              <a:rPr lang="en-US" altLang="ko-KR" sz="20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(Entry)</a:t>
            </a:r>
            <a:endParaRPr lang="ko-KR" altLang="en-US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72F714-1B6C-58C7-CC8D-4E2D34FEED08}"/>
              </a:ext>
            </a:extLst>
          </p:cNvPr>
          <p:cNvSpPr txBox="1"/>
          <p:nvPr/>
        </p:nvSpPr>
        <p:spPr>
          <a:xfrm>
            <a:off x="839856" y="4306606"/>
            <a:ext cx="2905870" cy="3907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2159" tIns="41080" rIns="82159" bIns="410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20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3. 2</a:t>
            </a:r>
            <a:r>
              <a:rPr lang="ko-KR" altLang="en-US" sz="20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차 확장 </a:t>
            </a:r>
            <a:r>
              <a:rPr lang="en-US" altLang="ko-KR" sz="20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(Bundle)</a:t>
            </a:r>
            <a:endParaRPr lang="ko-KR" altLang="en-US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249B16-35E8-D9BD-0DD0-CB51D6E3091C}"/>
              </a:ext>
            </a:extLst>
          </p:cNvPr>
          <p:cNvSpPr txBox="1"/>
          <p:nvPr/>
        </p:nvSpPr>
        <p:spPr>
          <a:xfrm>
            <a:off x="6262756" y="4306606"/>
            <a:ext cx="2905870" cy="3907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2159" tIns="41080" rIns="82159" bIns="410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20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4. </a:t>
            </a:r>
            <a:r>
              <a:rPr lang="ko-KR" altLang="en-US" sz="20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전환 포인트</a:t>
            </a:r>
            <a:endParaRPr lang="ko-KR" altLang="en-US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E1E82A34-D4D3-4AA2-B7F8-FCC502117B23}"/>
              </a:ext>
            </a:extLst>
          </p:cNvPr>
          <p:cNvGrpSpPr/>
          <p:nvPr/>
        </p:nvGrpSpPr>
        <p:grpSpPr>
          <a:xfrm>
            <a:off x="1549398" y="2214758"/>
            <a:ext cx="3716869" cy="1429724"/>
            <a:chOff x="1549398" y="2195348"/>
            <a:chExt cx="3716869" cy="1429724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2243394-1A2A-1D26-E26D-8542777EE299}"/>
                </a:ext>
              </a:extLst>
            </p:cNvPr>
            <p:cNvSpPr/>
            <p:nvPr/>
          </p:nvSpPr>
          <p:spPr>
            <a:xfrm>
              <a:off x="2046356" y="2195348"/>
              <a:ext cx="3219911" cy="7608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dirty="0">
                  <a:solidFill>
                    <a:schemeClr val="tx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전화 </a:t>
              </a:r>
              <a:r>
                <a:rPr lang="en-US" altLang="ko-KR" dirty="0">
                  <a:solidFill>
                    <a:schemeClr val="tx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/ </a:t>
              </a:r>
              <a:r>
                <a:rPr lang="ko-KR" altLang="en-US" dirty="0">
                  <a:solidFill>
                    <a:schemeClr val="tx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문자 기반 개인화 마케팅</a:t>
              </a:r>
              <a:endParaRPr lang="en-US" altLang="ko-KR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2B139D2E-40A3-D502-8178-032295C1B2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49398" y="2360570"/>
              <a:ext cx="469902" cy="469902"/>
            </a:xfrm>
            <a:prstGeom prst="rect">
              <a:avLst/>
            </a:prstGeom>
          </p:spPr>
        </p:pic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6B67B145-A770-7214-6A2A-BD4452199C85}"/>
                </a:ext>
              </a:extLst>
            </p:cNvPr>
            <p:cNvSpPr/>
            <p:nvPr/>
          </p:nvSpPr>
          <p:spPr>
            <a:xfrm>
              <a:off x="2046356" y="2864215"/>
              <a:ext cx="3219911" cy="7608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dirty="0">
                  <a:solidFill>
                    <a:schemeClr val="tx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사용 패턴 기반 맞춤 추천</a:t>
              </a:r>
            </a:p>
          </p:txBody>
        </p:sp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33DDFDF0-59AA-27FE-B825-0571FAEAA1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49398" y="3029437"/>
              <a:ext cx="469902" cy="469902"/>
            </a:xfrm>
            <a:prstGeom prst="rect">
              <a:avLst/>
            </a:prstGeom>
          </p:spPr>
        </p:pic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B83CE8A-62A8-70D4-C137-52C8F8758803}"/>
              </a:ext>
            </a:extLst>
          </p:cNvPr>
          <p:cNvGrpSpPr/>
          <p:nvPr/>
        </p:nvGrpSpPr>
        <p:grpSpPr>
          <a:xfrm>
            <a:off x="1549398" y="5228892"/>
            <a:ext cx="3716869" cy="760857"/>
            <a:chOff x="1549398" y="5022772"/>
            <a:chExt cx="3716869" cy="760857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D35A5336-D11C-EDB0-090A-41AD602503AB}"/>
                </a:ext>
              </a:extLst>
            </p:cNvPr>
            <p:cNvSpPr/>
            <p:nvPr/>
          </p:nvSpPr>
          <p:spPr>
            <a:xfrm>
              <a:off x="2046356" y="5022772"/>
              <a:ext cx="3219911" cy="7608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dirty="0">
                  <a:solidFill>
                    <a:schemeClr val="tx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2~3</a:t>
              </a:r>
              <a:r>
                <a:rPr lang="ko-KR" altLang="en-US" dirty="0">
                  <a:solidFill>
                    <a:schemeClr val="tx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개 번들 결합 상품 추가 추천</a:t>
              </a:r>
              <a:endParaRPr lang="en-US" altLang="ko-KR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27CDC2F0-95EC-4ED9-4328-5BD3146AFF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49398" y="5187994"/>
              <a:ext cx="469902" cy="469902"/>
            </a:xfrm>
            <a:prstGeom prst="rect">
              <a:avLst/>
            </a:prstGeom>
          </p:spPr>
        </p:pic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D7CC36DD-998B-7B0C-6850-EEA080CFB913}"/>
              </a:ext>
            </a:extLst>
          </p:cNvPr>
          <p:cNvGrpSpPr/>
          <p:nvPr/>
        </p:nvGrpSpPr>
        <p:grpSpPr>
          <a:xfrm>
            <a:off x="6821790" y="2574592"/>
            <a:ext cx="3716869" cy="760857"/>
            <a:chOff x="6821790" y="2357393"/>
            <a:chExt cx="3716869" cy="760857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BC828868-78BD-3136-DD20-186DA80BBCBC}"/>
                </a:ext>
              </a:extLst>
            </p:cNvPr>
            <p:cNvSpPr/>
            <p:nvPr/>
          </p:nvSpPr>
          <p:spPr>
            <a:xfrm>
              <a:off x="7318748" y="2357393"/>
              <a:ext cx="3219911" cy="7608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dirty="0">
                  <a:solidFill>
                    <a:schemeClr val="tx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부가서비스 가입 유도</a:t>
              </a:r>
              <a:endParaRPr lang="en-US" altLang="ko-KR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8732CA88-0B48-CCAF-1F7E-23D304462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21790" y="2522615"/>
              <a:ext cx="469902" cy="469902"/>
            </a:xfrm>
            <a:prstGeom prst="rect">
              <a:avLst/>
            </a:prstGeom>
          </p:spPr>
        </p:pic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B91AACA-118C-CE19-6C3A-7020EA0765BF}"/>
              </a:ext>
            </a:extLst>
          </p:cNvPr>
          <p:cNvGrpSpPr/>
          <p:nvPr/>
        </p:nvGrpSpPr>
        <p:grpSpPr>
          <a:xfrm>
            <a:off x="6821790" y="4912065"/>
            <a:ext cx="3716869" cy="1461248"/>
            <a:chOff x="6860700" y="5022772"/>
            <a:chExt cx="3716869" cy="1461248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00FF9722-6964-D45B-651C-E185E84502B2}"/>
                </a:ext>
              </a:extLst>
            </p:cNvPr>
            <p:cNvSpPr/>
            <p:nvPr/>
          </p:nvSpPr>
          <p:spPr>
            <a:xfrm>
              <a:off x="7357658" y="5022772"/>
              <a:ext cx="3219911" cy="7608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>
                  <a:solidFill>
                    <a:schemeClr val="tx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묶음 할인 제공</a:t>
              </a:r>
              <a:endParaRPr lang="en-US" altLang="ko-KR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944AABD2-0071-7D0B-98D9-F0BB15485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60700" y="5187994"/>
              <a:ext cx="469902" cy="469902"/>
            </a:xfrm>
            <a:prstGeom prst="rect">
              <a:avLst/>
            </a:prstGeom>
          </p:spPr>
        </p:pic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83C5578-2F42-C7B1-6CFC-FCFCA0E50B03}"/>
                </a:ext>
              </a:extLst>
            </p:cNvPr>
            <p:cNvSpPr/>
            <p:nvPr/>
          </p:nvSpPr>
          <p:spPr>
            <a:xfrm>
              <a:off x="7357658" y="5723163"/>
              <a:ext cx="3219911" cy="7608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dirty="0">
                  <a:solidFill>
                    <a:schemeClr val="tx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가격 대비 혜택 강조</a:t>
              </a:r>
              <a:endParaRPr lang="en-US" altLang="ko-KR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D1BCF318-A995-E645-7608-974664790E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60700" y="5888385"/>
              <a:ext cx="469902" cy="469902"/>
            </a:xfrm>
            <a:prstGeom prst="rect">
              <a:avLst/>
            </a:prstGeom>
          </p:spPr>
        </p:pic>
      </p:grpSp>
      <p:pic>
        <p:nvPicPr>
          <p:cNvPr id="51" name="그림 50">
            <a:extLst>
              <a:ext uri="{FF2B5EF4-FFF2-40B4-BE49-F238E27FC236}">
                <a16:creationId xmlns:a16="http://schemas.microsoft.com/office/drawing/2014/main" id="{F6755ACC-E4BA-D57A-43DF-8CE9A1F6B5B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93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149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35708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704EA-F352-2290-3834-A6573521B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F8C044-2B22-FA98-E4A6-99C51397D1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시연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858D267-9A6E-2571-E9DB-15E702B671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24E44EA-8BB9-4356-A6E2-F3B626433E95}" type="slidenum">
              <a:rPr lang="ko-KR" altLang="en-US" smtClean="0"/>
              <a:pPr/>
              <a:t>21</a:t>
            </a:fld>
            <a:endParaRPr lang="ko-KR" altLang="en-US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9" name="시연영상">
            <a:hlinkClick r:id="" action="ppaction://media"/>
            <a:extLst>
              <a:ext uri="{FF2B5EF4-FFF2-40B4-BE49-F238E27FC236}">
                <a16:creationId xmlns:a16="http://schemas.microsoft.com/office/drawing/2014/main" id="{27D73AF2-B91A-74C0-407F-3F23D7A49A1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256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186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931654-7705-39D9-22A7-9CC11B6DC0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Learned Lesson</a:t>
            </a:r>
            <a:endParaRPr lang="ko-KR" altLang="en-US" dirty="0"/>
          </a:p>
        </p:txBody>
      </p:sp>
      <p:pic>
        <p:nvPicPr>
          <p:cNvPr id="6" name="그래픽 5" descr="남자 옆모습 단색으로 채워진">
            <a:extLst>
              <a:ext uri="{FF2B5EF4-FFF2-40B4-BE49-F238E27FC236}">
                <a16:creationId xmlns:a16="http://schemas.microsoft.com/office/drawing/2014/main" id="{611ADEFD-8C6F-141C-EFE6-A174086BB0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5430" y="1960808"/>
            <a:ext cx="914400" cy="914400"/>
          </a:xfrm>
          <a:prstGeom prst="rect">
            <a:avLst/>
          </a:prstGeom>
        </p:spPr>
      </p:pic>
      <p:pic>
        <p:nvPicPr>
          <p:cNvPr id="8" name="그래픽 7" descr="여성 사무직 근로자 단색으로 채워진">
            <a:extLst>
              <a:ext uri="{FF2B5EF4-FFF2-40B4-BE49-F238E27FC236}">
                <a16:creationId xmlns:a16="http://schemas.microsoft.com/office/drawing/2014/main" id="{B8686B41-88FF-6638-8157-1136026563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5430" y="4459744"/>
            <a:ext cx="914400" cy="914400"/>
          </a:xfrm>
          <a:prstGeom prst="rect">
            <a:avLst/>
          </a:prstGeom>
        </p:spPr>
      </p:pic>
      <p:pic>
        <p:nvPicPr>
          <p:cNvPr id="10" name="그래픽 9" descr="남학생 단색으로 채워진">
            <a:extLst>
              <a:ext uri="{FF2B5EF4-FFF2-40B4-BE49-F238E27FC236}">
                <a16:creationId xmlns:a16="http://schemas.microsoft.com/office/drawing/2014/main" id="{35DACBAD-627C-9D05-9858-A88C88D9A8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7805" y="3417219"/>
            <a:ext cx="914400" cy="914400"/>
          </a:xfrm>
          <a:prstGeom prst="rect">
            <a:avLst/>
          </a:prstGeom>
        </p:spPr>
      </p:pic>
      <p:pic>
        <p:nvPicPr>
          <p:cNvPr id="12" name="그래픽 11" descr="사용자 단색으로 채워진">
            <a:extLst>
              <a:ext uri="{FF2B5EF4-FFF2-40B4-BE49-F238E27FC236}">
                <a16:creationId xmlns:a16="http://schemas.microsoft.com/office/drawing/2014/main" id="{3ACBCE7B-BE44-DF50-B272-9B6BB27BD5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7805" y="898664"/>
            <a:ext cx="914400" cy="914400"/>
          </a:xfrm>
          <a:prstGeom prst="rect">
            <a:avLst/>
          </a:prstGeom>
        </p:spPr>
      </p:pic>
      <p:pic>
        <p:nvPicPr>
          <p:cNvPr id="14" name="그래픽 13" descr="여성 프로필 단색으로 채워진">
            <a:extLst>
              <a:ext uri="{FF2B5EF4-FFF2-40B4-BE49-F238E27FC236}">
                <a16:creationId xmlns:a16="http://schemas.microsoft.com/office/drawing/2014/main" id="{BA902FEA-8E2D-F6AF-D203-2875A7AFBC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80" y="5434890"/>
            <a:ext cx="914400" cy="914400"/>
          </a:xfrm>
          <a:prstGeom prst="rect">
            <a:avLst/>
          </a:prstGeom>
        </p:spPr>
      </p:pic>
      <p:sp>
        <p:nvSpPr>
          <p:cNvPr id="4" name="말풍선: 모서리가 둥근 사각형 3">
            <a:extLst>
              <a:ext uri="{FF2B5EF4-FFF2-40B4-BE49-F238E27FC236}">
                <a16:creationId xmlns:a16="http://schemas.microsoft.com/office/drawing/2014/main" id="{A8F52C15-9577-40BD-779D-2184F723EDE5}"/>
              </a:ext>
            </a:extLst>
          </p:cNvPr>
          <p:cNvSpPr/>
          <p:nvPr/>
        </p:nvSpPr>
        <p:spPr>
          <a:xfrm>
            <a:off x="1463241" y="880110"/>
            <a:ext cx="6457950" cy="914400"/>
          </a:xfrm>
          <a:prstGeom prst="wedgeRoundRectCallout">
            <a:avLst>
              <a:gd name="adj1" fmla="val -20701"/>
              <a:gd name="adj2" fmla="val 71161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말풍선: 모서리가 둥근 사각형 14">
            <a:extLst>
              <a:ext uri="{FF2B5EF4-FFF2-40B4-BE49-F238E27FC236}">
                <a16:creationId xmlns:a16="http://schemas.microsoft.com/office/drawing/2014/main" id="{710ADDA0-7522-547B-E989-B92160EB60AE}"/>
              </a:ext>
            </a:extLst>
          </p:cNvPr>
          <p:cNvSpPr/>
          <p:nvPr/>
        </p:nvSpPr>
        <p:spPr>
          <a:xfrm flipH="1">
            <a:off x="3742032" y="1974054"/>
            <a:ext cx="7179225" cy="1365037"/>
          </a:xfrm>
          <a:prstGeom prst="wedgeRoundRectCallout">
            <a:avLst>
              <a:gd name="adj1" fmla="val -20701"/>
              <a:gd name="adj2" fmla="val 71161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말풍선: 모서리가 둥근 사각형 15">
            <a:extLst>
              <a:ext uri="{FF2B5EF4-FFF2-40B4-BE49-F238E27FC236}">
                <a16:creationId xmlns:a16="http://schemas.microsoft.com/office/drawing/2014/main" id="{823ABCCB-3F9B-EA42-EB37-03081F62788C}"/>
              </a:ext>
            </a:extLst>
          </p:cNvPr>
          <p:cNvSpPr/>
          <p:nvPr/>
        </p:nvSpPr>
        <p:spPr>
          <a:xfrm>
            <a:off x="1463241" y="3515627"/>
            <a:ext cx="6457950" cy="914400"/>
          </a:xfrm>
          <a:prstGeom prst="wedgeRoundRectCallout">
            <a:avLst>
              <a:gd name="adj1" fmla="val -20701"/>
              <a:gd name="adj2" fmla="val 71161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말풍선: 모서리가 둥근 사각형 16">
            <a:extLst>
              <a:ext uri="{FF2B5EF4-FFF2-40B4-BE49-F238E27FC236}">
                <a16:creationId xmlns:a16="http://schemas.microsoft.com/office/drawing/2014/main" id="{B240F179-D0D1-F6FB-7690-AFEBA4C0E3E6}"/>
              </a:ext>
            </a:extLst>
          </p:cNvPr>
          <p:cNvSpPr/>
          <p:nvPr/>
        </p:nvSpPr>
        <p:spPr>
          <a:xfrm flipH="1">
            <a:off x="4463314" y="4520565"/>
            <a:ext cx="6457950" cy="914400"/>
          </a:xfrm>
          <a:prstGeom prst="wedgeRoundRectCallout">
            <a:avLst>
              <a:gd name="adj1" fmla="val -20701"/>
              <a:gd name="adj2" fmla="val 71161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말풍선: 모서리가 둥근 사각형 17">
            <a:extLst>
              <a:ext uri="{FF2B5EF4-FFF2-40B4-BE49-F238E27FC236}">
                <a16:creationId xmlns:a16="http://schemas.microsoft.com/office/drawing/2014/main" id="{370C3579-4E1D-FC08-03E0-3FF2732065B2}"/>
              </a:ext>
            </a:extLst>
          </p:cNvPr>
          <p:cNvSpPr/>
          <p:nvPr/>
        </p:nvSpPr>
        <p:spPr>
          <a:xfrm>
            <a:off x="1463241" y="5544753"/>
            <a:ext cx="6457950" cy="914400"/>
          </a:xfrm>
          <a:prstGeom prst="wedgeRoundRectCallout">
            <a:avLst>
              <a:gd name="adj1" fmla="val -20701"/>
              <a:gd name="adj2" fmla="val 71161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6CF843-9508-E2B0-4DBE-1FAA546936A4}"/>
              </a:ext>
            </a:extLst>
          </p:cNvPr>
          <p:cNvSpPr txBox="1"/>
          <p:nvPr/>
        </p:nvSpPr>
        <p:spPr>
          <a:xfrm>
            <a:off x="1726131" y="1168033"/>
            <a:ext cx="584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데이터를 가장 먼저 잘 파악해야 된다는 것을 </a:t>
            </a:r>
            <a:r>
              <a:rPr lang="ko-KR" altLang="en-US" sz="1600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깨달아버렸습니다</a:t>
            </a:r>
            <a:r>
              <a:rPr lang="en-US" altLang="ko-KR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  <a:endParaRPr lang="ko-KR" altLang="en-US" sz="16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F58B245-CD4E-4C85-3764-99CD9B6FBB3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24E44EA-8BB9-4356-A6E2-F3B626433E95}" type="slidenum">
              <a:rPr lang="ko-KR" altLang="en-US" smtClean="0"/>
              <a:pPr/>
              <a:t>22</a:t>
            </a:fld>
            <a:endParaRPr lang="ko-KR" altLang="en-US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3D703D-42BB-1BD7-46FD-448222CB2A1D}"/>
              </a:ext>
            </a:extLst>
          </p:cNvPr>
          <p:cNvSpPr txBox="1"/>
          <p:nvPr/>
        </p:nvSpPr>
        <p:spPr>
          <a:xfrm>
            <a:off x="575657" y="1736320"/>
            <a:ext cx="1526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김정완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67FD2D-D3B4-079F-08A8-18DFBD6480AD}"/>
              </a:ext>
            </a:extLst>
          </p:cNvPr>
          <p:cNvSpPr txBox="1"/>
          <p:nvPr/>
        </p:nvSpPr>
        <p:spPr>
          <a:xfrm>
            <a:off x="10945207" y="2790420"/>
            <a:ext cx="1526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박중호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BFD408-7E3C-2A29-1110-78F946E87518}"/>
              </a:ext>
            </a:extLst>
          </p:cNvPr>
          <p:cNvSpPr txBox="1"/>
          <p:nvPr/>
        </p:nvSpPr>
        <p:spPr>
          <a:xfrm>
            <a:off x="575657" y="4263553"/>
            <a:ext cx="1526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이환우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62F5D8-D26A-FE28-7F00-F9B04969A2B7}"/>
              </a:ext>
            </a:extLst>
          </p:cNvPr>
          <p:cNvSpPr txBox="1"/>
          <p:nvPr/>
        </p:nvSpPr>
        <p:spPr>
          <a:xfrm>
            <a:off x="575657" y="6301970"/>
            <a:ext cx="1526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윤희경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4A4D33-2846-B154-6A1A-3C5A535D78BD}"/>
              </a:ext>
            </a:extLst>
          </p:cNvPr>
          <p:cNvSpPr txBox="1"/>
          <p:nvPr/>
        </p:nvSpPr>
        <p:spPr>
          <a:xfrm>
            <a:off x="10945207" y="5303750"/>
            <a:ext cx="1526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윤지희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B28B5B-46C2-DF03-58FC-606E7DC68159}"/>
              </a:ext>
            </a:extLst>
          </p:cNvPr>
          <p:cNvSpPr txBox="1"/>
          <p:nvPr/>
        </p:nvSpPr>
        <p:spPr>
          <a:xfrm>
            <a:off x="3927107" y="2117963"/>
            <a:ext cx="68628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비전공자로서 빅데이터를 처음 접하고 다뤄보는 과정이 쉽지만은 않았습니다</a:t>
            </a:r>
            <a:r>
              <a:rPr lang="en-US" altLang="ko-KR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 </a:t>
            </a:r>
            <a:r>
              <a:rPr lang="ko-KR" altLang="en-US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코딩 역시 </a:t>
            </a:r>
            <a:r>
              <a:rPr lang="en-US" altLang="ko-KR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LLM</a:t>
            </a:r>
            <a:r>
              <a:rPr lang="ko-KR" altLang="en-US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의 도움과 전공자 조원들의 지원을 받으며 진행했지만</a:t>
            </a:r>
            <a:r>
              <a:rPr lang="en-US" altLang="ko-KR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, </a:t>
            </a:r>
            <a:r>
              <a:rPr lang="ko-KR" altLang="en-US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프로젝트를 통해 실제로 적용해보면서 개념이 훨씬 명확하게 와닿았습니다</a:t>
            </a:r>
            <a:r>
              <a:rPr lang="en-US" altLang="ko-KR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 </a:t>
            </a:r>
            <a:r>
              <a:rPr lang="ko-KR" altLang="en-US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이론으로만 접했을 때보다 훨씬 깊이 이해할 수 있었고</a:t>
            </a:r>
            <a:r>
              <a:rPr lang="en-US" altLang="ko-KR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, </a:t>
            </a:r>
            <a:r>
              <a:rPr lang="ko-KR" altLang="en-US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그만큼 많은 것을 배울 수 있는 의미 있는 경험이었습니다</a:t>
            </a:r>
            <a:r>
              <a:rPr lang="en-US" altLang="ko-KR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  <a:endParaRPr lang="ko-KR" altLang="en-US" sz="16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A326BC-348A-8647-5337-9406C89060F9}"/>
              </a:ext>
            </a:extLst>
          </p:cNvPr>
          <p:cNvSpPr txBox="1"/>
          <p:nvPr/>
        </p:nvSpPr>
        <p:spPr>
          <a:xfrm>
            <a:off x="1726131" y="3649662"/>
            <a:ext cx="584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프로젝트를 진행하면서 실무에서 흐름을 읽고 어떻게 </a:t>
            </a:r>
            <a:r>
              <a:rPr lang="ko-KR" altLang="en-US" sz="1600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적용해야할지</a:t>
            </a:r>
            <a:r>
              <a:rPr lang="ko-KR" altLang="en-US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배울 수 있었습니다</a:t>
            </a:r>
            <a:r>
              <a:rPr lang="en-US" altLang="ko-KR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 </a:t>
            </a:r>
            <a:r>
              <a:rPr lang="ko-KR" altLang="en-US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앞으로 실천하는 전문가가 되겠습니다</a:t>
            </a:r>
            <a:r>
              <a:rPr lang="en-US" altLang="ko-KR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  <a:endParaRPr lang="ko-KR" altLang="en-US" sz="16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1A578C-99D4-426B-AF8E-177E7C467080}"/>
              </a:ext>
            </a:extLst>
          </p:cNvPr>
          <p:cNvSpPr txBox="1"/>
          <p:nvPr/>
        </p:nvSpPr>
        <p:spPr>
          <a:xfrm>
            <a:off x="1726131" y="5704775"/>
            <a:ext cx="584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데이터 분석과 통신사와 마케팅에 대해 공부하면서 실질적인 방안 모색 과정을 배울 수 있었습니다</a:t>
            </a:r>
            <a:r>
              <a:rPr lang="en-US" altLang="ko-KR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  <a:endParaRPr lang="ko-KR" altLang="en-US" sz="16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ABA0D6-767D-1858-ED73-3455D311EA79}"/>
              </a:ext>
            </a:extLst>
          </p:cNvPr>
          <p:cNvSpPr txBox="1"/>
          <p:nvPr/>
        </p:nvSpPr>
        <p:spPr>
          <a:xfrm>
            <a:off x="4514960" y="4685378"/>
            <a:ext cx="642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단순한 모델링을 넘어 분석 결과가 실무 현장에서 어떤 가치를 창출하고 솔루션으로 기능하는지를 구체적으로 학습할 수 있었습니다</a:t>
            </a:r>
            <a:r>
              <a:rPr lang="en-US" altLang="ko-KR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  <a:endParaRPr lang="ko-KR" altLang="en-US" sz="16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89705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82DF22-327B-6D90-648D-728543B7DF5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24E44EA-8BB9-4356-A6E2-F3B626433E95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7EDF0D-D238-14AF-F119-44087465C1D9}"/>
              </a:ext>
            </a:extLst>
          </p:cNvPr>
          <p:cNvSpPr txBox="1"/>
          <p:nvPr/>
        </p:nvSpPr>
        <p:spPr>
          <a:xfrm>
            <a:off x="838199" y="873897"/>
            <a:ext cx="9699171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lvl="0" indent="-342900" eaLnBrk="0" fontAlgn="base" latinLnBrk="0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ko-KR" altLang="ko-KR" sz="1600" dirty="0">
              <a:latin typeface="Arial" panose="020B0604020202020204" pitchFamily="34" charset="0"/>
            </a:endParaRPr>
          </a:p>
          <a:p>
            <a:pPr marL="342900" lvl="0" indent="-342900" eaLnBrk="0" fontAlgn="base" latinLnBrk="0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ko-KR" altLang="ko-KR" sz="16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원태영</a:t>
            </a:r>
            <a:r>
              <a:rPr lang="ko-KR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「이동통신 40년이 </a:t>
            </a:r>
            <a:r>
              <a:rPr lang="ko-KR" altLang="ko-KR" sz="16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가져다준</a:t>
            </a:r>
            <a:r>
              <a:rPr lang="ko-KR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놀라운 변화 그리고 과제」, </a:t>
            </a:r>
            <a:r>
              <a:rPr lang="ko-KR" altLang="ko-KR" sz="1600" i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이코노미스트</a:t>
            </a:r>
            <a:r>
              <a:rPr lang="ko-KR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2024.05.07.</a:t>
            </a: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ko-KR" sz="1600" dirty="0">
                <a:latin typeface="Arial" panose="020B0604020202020204" pitchFamily="34" charset="0"/>
                <a:hlinkClick r:id="rId2"/>
              </a:rPr>
              <a:t>https://economist.co.kr/article/view/ecn202404300008</a:t>
            </a:r>
            <a:r>
              <a:rPr lang="ko-KR" altLang="ko-KR" sz="1600" dirty="0">
                <a:latin typeface="Arial" panose="020B0604020202020204" pitchFamily="34" charset="0"/>
              </a:rPr>
              <a:t> 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출처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이동전화서비스 가입자 현황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&lt;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통신서비스 통계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&lt; KTOA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통신통계시스템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hlinkClick r:id="rId3"/>
              </a:rPr>
              <a:t>https://finance.naver.com/item/coinfo.naver?code=017670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SK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텔레콤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(2024). Annual Report 2024. p.165.https://www.sktelecom.com/img/eng/persist_report/20250808/SK_Telecom_Annual_Report_2024_ENG_F_0808.pdf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정지은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「통신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 </a:t>
            </a:r>
            <a:r>
              <a:rPr lang="ko-KR" altLang="en-US" sz="16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해지율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순위 달라져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…LG</a:t>
            </a:r>
            <a:r>
              <a:rPr lang="ko-KR" altLang="en-US" sz="16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유플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vs KT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」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네이트뉴스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2023.11.24.,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hlinkClick r:id="rId4"/>
              </a:rPr>
              <a:t>https://news.nate.com/view/20231124n22184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김용수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「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KT ‘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나홀로 상승’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···SKT·LGU+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무선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ARPU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뒷걸음」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시사저널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e, 2025.05.13., https://www.sisajournal-e.com/news/articleView.html?idxno=411724</a:t>
            </a:r>
          </a:p>
          <a:p>
            <a:pPr marL="342900" indent="-342900">
              <a:buFontTx/>
              <a:buAutoNum type="arabicPeriod"/>
            </a:pP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FontTx/>
              <a:buAutoNum type="arabicPeriod"/>
            </a:pP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FontTx/>
              <a:buAutoNum type="arabicPeriod"/>
            </a:pP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FontTx/>
              <a:buAutoNum type="arabicPeriod"/>
            </a:pP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FontTx/>
              <a:buAutoNum type="arabicPeriod"/>
            </a:pP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/>
            </a:pPr>
            <a:endParaRPr lang="ko-KR" alt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550812C-E1C6-A3F2-6156-03D754F708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참고문헌</a:t>
            </a:r>
          </a:p>
        </p:txBody>
      </p:sp>
    </p:spTree>
    <p:extLst>
      <p:ext uri="{BB962C8B-B14F-4D97-AF65-F5344CB8AC3E}">
        <p14:creationId xmlns:p14="http://schemas.microsoft.com/office/powerpoint/2010/main" val="41974408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66991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212F92-D4B4-A8B2-9915-6DC6AD9609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분석결과 </a:t>
            </a:r>
            <a:r>
              <a:rPr lang="en-US" altLang="ko-KR" sz="2000" dirty="0"/>
              <a:t>_</a:t>
            </a:r>
            <a:r>
              <a:rPr lang="ko-KR" altLang="en-US" sz="2000" dirty="0"/>
              <a:t>고객특성 파악을 통한 이탈여부예측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0AA68EA-53EC-8F93-384D-9345175BD6B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033253" y="1719954"/>
            <a:ext cx="3708400" cy="2509520"/>
          </a:xfrm>
          <a:prstGeom prst="rect">
            <a:avLst/>
          </a:prstGeom>
        </p:spPr>
      </p:pic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9B3DDDCD-123D-40A6-A2E5-B443C0114A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24E44EA-8BB9-4356-A6E2-F3B626433E95}" type="slidenum">
              <a:rPr lang="ko-KR" altLang="en-US" smtClean="0"/>
              <a:pPr/>
              <a:t>25</a:t>
            </a:fld>
            <a:endParaRPr lang="ko-KR" altLang="en-US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5ADFDB3A-272F-DA64-48C9-3A51189784D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9965" y="1719954"/>
            <a:ext cx="2350869" cy="2350869"/>
          </a:xfrm>
          <a:prstGeom prst="rect">
            <a:avLst/>
          </a:prstGeom>
        </p:spPr>
      </p:pic>
      <p:grpSp>
        <p:nvGrpSpPr>
          <p:cNvPr id="48" name="그룹 47">
            <a:extLst>
              <a:ext uri="{FF2B5EF4-FFF2-40B4-BE49-F238E27FC236}">
                <a16:creationId xmlns:a16="http://schemas.microsoft.com/office/drawing/2014/main" id="{6DF5A2F7-8F61-0F77-269F-F2C54C694706}"/>
              </a:ext>
            </a:extLst>
          </p:cNvPr>
          <p:cNvGrpSpPr/>
          <p:nvPr/>
        </p:nvGrpSpPr>
        <p:grpSpPr>
          <a:xfrm>
            <a:off x="866225" y="1194173"/>
            <a:ext cx="3481512" cy="338554"/>
            <a:chOff x="1216424" y="754933"/>
            <a:chExt cx="3481512" cy="33855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33A7E10-50CB-47D2-CC9A-29FFFFA33963}"/>
                </a:ext>
              </a:extLst>
            </p:cNvPr>
            <p:cNvSpPr txBox="1"/>
            <p:nvPr/>
          </p:nvSpPr>
          <p:spPr>
            <a:xfrm>
              <a:off x="1216424" y="754933"/>
              <a:ext cx="348151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600" dirty="0">
                  <a:latin typeface="나눔스퀘어_ac Bold"/>
                  <a:ea typeface="나눔스퀘어_ac Bold"/>
                </a:rPr>
                <a:t>이탈유형별 비율</a:t>
              </a:r>
            </a:p>
          </p:txBody>
        </p: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2AEA1666-F247-3104-9316-C51AA98C41D9}"/>
                </a:ext>
              </a:extLst>
            </p:cNvPr>
            <p:cNvCxnSpPr>
              <a:cxnSpLocks/>
            </p:cNvCxnSpPr>
            <p:nvPr/>
          </p:nvCxnSpPr>
          <p:spPr>
            <a:xfrm>
              <a:off x="1216424" y="809226"/>
              <a:ext cx="0" cy="229968"/>
            </a:xfrm>
            <a:prstGeom prst="line">
              <a:avLst/>
            </a:prstGeom>
            <a:ln w="38100">
              <a:solidFill>
                <a:srgbClr val="BE4A3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002AEDEE-47C0-85C0-733B-C788EEE035E9}"/>
              </a:ext>
            </a:extLst>
          </p:cNvPr>
          <p:cNvGrpSpPr/>
          <p:nvPr/>
        </p:nvGrpSpPr>
        <p:grpSpPr>
          <a:xfrm>
            <a:off x="4824908" y="1194173"/>
            <a:ext cx="3481512" cy="338554"/>
            <a:chOff x="1216424" y="754933"/>
            <a:chExt cx="3481512" cy="338554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DD88C3E-B343-30C5-755D-71C19B9969C7}"/>
                </a:ext>
              </a:extLst>
            </p:cNvPr>
            <p:cNvSpPr txBox="1"/>
            <p:nvPr/>
          </p:nvSpPr>
          <p:spPr>
            <a:xfrm>
              <a:off x="1216424" y="754933"/>
              <a:ext cx="348151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600" dirty="0">
                  <a:latin typeface="나눔스퀘어_ac Bold"/>
                  <a:ea typeface="나눔스퀘어_ac Bold"/>
                </a:rPr>
                <a:t>이탈사유별 이탈 고객 수</a:t>
              </a:r>
            </a:p>
          </p:txBody>
        </p: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B2B08232-7F95-108B-8017-D1A96B5482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6424" y="809226"/>
              <a:ext cx="0" cy="229968"/>
            </a:xfrm>
            <a:prstGeom prst="line">
              <a:avLst/>
            </a:prstGeom>
            <a:ln w="38100">
              <a:solidFill>
                <a:srgbClr val="BE4A3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BB914468-FC4C-C91C-16F4-6BAF19756804}"/>
              </a:ext>
            </a:extLst>
          </p:cNvPr>
          <p:cNvSpPr/>
          <p:nvPr/>
        </p:nvSpPr>
        <p:spPr>
          <a:xfrm>
            <a:off x="4051300" y="1955320"/>
            <a:ext cx="3600449" cy="445916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FA75B46-375F-47F0-717C-EF8CDB43C8CC}"/>
              </a:ext>
            </a:extLst>
          </p:cNvPr>
          <p:cNvSpPr/>
          <p:nvPr/>
        </p:nvSpPr>
        <p:spPr>
          <a:xfrm>
            <a:off x="4051301" y="2615720"/>
            <a:ext cx="2730500" cy="230015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B3F49D-F0A6-1D12-77F4-02C0EABD14F6}"/>
              </a:ext>
            </a:extLst>
          </p:cNvPr>
          <p:cNvSpPr txBox="1"/>
          <p:nvPr/>
        </p:nvSpPr>
        <p:spPr>
          <a:xfrm>
            <a:off x="2149462" y="2624281"/>
            <a:ext cx="770999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경쟁사</a:t>
            </a:r>
            <a:endParaRPr lang="en-US" altLang="ko-KR" sz="1400" dirty="0">
              <a:solidFill>
                <a:srgbClr val="FF0000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/>
            <a:r>
              <a:rPr lang="en-US" altLang="ko-KR" sz="1400" dirty="0">
                <a:solidFill>
                  <a:srgbClr val="FF0000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44.8%</a:t>
            </a:r>
            <a:endParaRPr lang="ko-KR" altLang="en-US" sz="1400" dirty="0">
              <a:solidFill>
                <a:srgbClr val="FF0000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8E25B4A-599E-6DBC-B935-778E2A275D9E}"/>
              </a:ext>
            </a:extLst>
          </p:cNvPr>
          <p:cNvGrpSpPr/>
          <p:nvPr/>
        </p:nvGrpSpPr>
        <p:grpSpPr>
          <a:xfrm>
            <a:off x="8795707" y="1665962"/>
            <a:ext cx="2686050" cy="3561884"/>
            <a:chOff x="4749800" y="3797697"/>
            <a:chExt cx="2686050" cy="1035514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DC5540F5-FFEF-2669-2EE9-492A0C1B86E2}"/>
                </a:ext>
              </a:extLst>
            </p:cNvPr>
            <p:cNvSpPr/>
            <p:nvPr/>
          </p:nvSpPr>
          <p:spPr>
            <a:xfrm>
              <a:off x="4749800" y="3797697"/>
              <a:ext cx="2686050" cy="1035514"/>
            </a:xfrm>
            <a:prstGeom prst="roundRect">
              <a:avLst>
                <a:gd name="adj" fmla="val 34028"/>
              </a:avLst>
            </a:prstGeom>
            <a:solidFill>
              <a:srgbClr val="66C2A5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48246C9-CE14-44FC-EEDD-0B3BDA5EF6E4}"/>
                </a:ext>
              </a:extLst>
            </p:cNvPr>
            <p:cNvSpPr txBox="1"/>
            <p:nvPr/>
          </p:nvSpPr>
          <p:spPr>
            <a:xfrm>
              <a:off x="5010463" y="4017051"/>
              <a:ext cx="2164725" cy="3131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이탈사유로는 상담직원의 태도와 경쟁사의 빠른 속도가 가장 큰 영향을 미치는 것으로 보임 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BBAED31-FD10-4FCE-8BAF-AC1643113761}"/>
                </a:ext>
              </a:extLst>
            </p:cNvPr>
            <p:cNvSpPr txBox="1"/>
            <p:nvPr/>
          </p:nvSpPr>
          <p:spPr>
            <a:xfrm>
              <a:off x="4902226" y="4413984"/>
              <a:ext cx="2381198" cy="1700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rgbClr val="0E469D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가입 초기 고객의 속도 불만을 해소할 전략 고안 필요</a:t>
              </a:r>
              <a:endParaRPr lang="en-US" altLang="ko-KR" sz="1600" dirty="0">
                <a:solidFill>
                  <a:srgbClr val="0E469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8EF94DC-CD8C-34B0-FCA0-E8E632D2837B}"/>
              </a:ext>
            </a:extLst>
          </p:cNvPr>
          <p:cNvSpPr txBox="1"/>
          <p:nvPr/>
        </p:nvSpPr>
        <p:spPr>
          <a:xfrm>
            <a:off x="229079" y="4394446"/>
            <a:ext cx="36316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600" dirty="0">
                <a:latin typeface="나눔스퀘어_ac Bold"/>
                <a:ea typeface="나눔스퀘어_ac Bold"/>
              </a:rPr>
              <a:t>&lt;</a:t>
            </a:r>
            <a:r>
              <a:rPr lang="ko-KR" altLang="en-US" sz="1600" dirty="0">
                <a:latin typeface="나눔스퀘어_ac Bold"/>
                <a:ea typeface="나눔스퀘어_ac Bold"/>
              </a:rPr>
              <a:t>경쟁사 요인과 내부 결함의 복합적 작용</a:t>
            </a:r>
            <a:r>
              <a:rPr lang="en-US" altLang="ko-KR" sz="1600" dirty="0">
                <a:latin typeface="나눔스퀘어_ac Bold"/>
                <a:ea typeface="나눔스퀘어_ac Bold"/>
              </a:rPr>
              <a:t>&gt;</a:t>
            </a:r>
          </a:p>
          <a:p>
            <a:pPr lvl="0" algn="ctr">
              <a:defRPr/>
            </a:pPr>
            <a:r>
              <a:rPr lang="ko-KR" altLang="en-US" sz="1600" dirty="0">
                <a:latin typeface="나눔스퀘어_ac Bold"/>
                <a:ea typeface="나눔스퀘어_ac Bold"/>
              </a:rPr>
              <a:t>외부 경쟁력 확보와 동시에 내부 서비스</a:t>
            </a:r>
            <a:endParaRPr lang="en-US" altLang="ko-KR" sz="1600" dirty="0">
              <a:latin typeface="나눔스퀘어_ac Bold"/>
              <a:ea typeface="나눔스퀘어_ac Bold"/>
            </a:endParaRPr>
          </a:p>
          <a:p>
            <a:pPr lvl="0" algn="ctr">
              <a:defRPr/>
            </a:pPr>
            <a:r>
              <a:rPr lang="ko-KR" altLang="en-US" sz="1600" dirty="0">
                <a:latin typeface="나눔스퀘어_ac Bold"/>
                <a:ea typeface="나눔스퀘어_ac Bold"/>
              </a:rPr>
              <a:t>품질의 근본적인 혁신이 필요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8F598F-6E25-8E5F-728B-A241ED169781}"/>
              </a:ext>
            </a:extLst>
          </p:cNvPr>
          <p:cNvSpPr txBox="1"/>
          <p:nvPr/>
        </p:nvSpPr>
        <p:spPr>
          <a:xfrm>
            <a:off x="4716696" y="4400680"/>
            <a:ext cx="32378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600" dirty="0">
                <a:latin typeface="나눔스퀘어_ac Bold"/>
                <a:ea typeface="나눔스퀘어_ac Bold"/>
              </a:rPr>
              <a:t>&lt;</a:t>
            </a:r>
            <a:r>
              <a:rPr lang="ko-KR" altLang="en-US" sz="1600" dirty="0">
                <a:latin typeface="나눔스퀘어_ac Bold"/>
                <a:ea typeface="나눔스퀘어_ac Bold"/>
              </a:rPr>
              <a:t>상담원 태도 불만이 단일 사유 </a:t>
            </a:r>
            <a:r>
              <a:rPr lang="en-US" altLang="ko-KR" sz="1600" dirty="0">
                <a:latin typeface="나눔스퀘어_ac Bold"/>
                <a:ea typeface="나눔스퀘어_ac Bold"/>
              </a:rPr>
              <a:t>1</a:t>
            </a:r>
            <a:r>
              <a:rPr lang="ko-KR" altLang="en-US" sz="1600" dirty="0">
                <a:latin typeface="나눔스퀘어_ac Bold"/>
                <a:ea typeface="나눔스퀘어_ac Bold"/>
              </a:rPr>
              <a:t>위</a:t>
            </a:r>
            <a:r>
              <a:rPr lang="en-US" altLang="ko-KR" sz="1600" dirty="0">
                <a:latin typeface="나눔스퀘어_ac Bold"/>
                <a:ea typeface="나눔스퀘어_ac Bold"/>
              </a:rPr>
              <a:t>&gt;</a:t>
            </a:r>
          </a:p>
          <a:p>
            <a:pPr lvl="0" algn="ctr">
              <a:defRPr/>
            </a:pPr>
            <a:r>
              <a:rPr lang="ko-KR" altLang="en-US" sz="1600" dirty="0">
                <a:latin typeface="나눔스퀘어_ac Bold"/>
                <a:ea typeface="나눔스퀘어_ac Bold"/>
              </a:rPr>
              <a:t>인적 서비스 교육 강화와</a:t>
            </a:r>
            <a:endParaRPr lang="en-US" altLang="ko-KR" sz="1600" dirty="0">
              <a:latin typeface="나눔스퀘어_ac Bold"/>
              <a:ea typeface="나눔스퀘어_ac Bold"/>
            </a:endParaRPr>
          </a:p>
          <a:p>
            <a:pPr lvl="0" algn="ctr">
              <a:defRPr/>
            </a:pPr>
            <a:r>
              <a:rPr lang="ko-KR" altLang="en-US" sz="1600" dirty="0">
                <a:latin typeface="나눔스퀘어_ac Bold"/>
                <a:ea typeface="나눔스퀘어_ac Bold"/>
              </a:rPr>
              <a:t>네트워크 품질 개선 전략이 시급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69EA6ED-4B64-2BA0-EAAF-3CAE7B3CBE60}"/>
              </a:ext>
            </a:extLst>
          </p:cNvPr>
          <p:cNvCxnSpPr>
            <a:cxnSpLocks/>
          </p:cNvCxnSpPr>
          <p:nvPr/>
        </p:nvCxnSpPr>
        <p:spPr>
          <a:xfrm flipV="1">
            <a:off x="2116667" y="1879600"/>
            <a:ext cx="1938866" cy="6519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70A82D1-7567-18E3-A670-D9D769AD7B56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2209800" y="2974714"/>
            <a:ext cx="1823453" cy="2764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391B13CF-3856-6543-DEE5-E643800EC259}"/>
              </a:ext>
            </a:extLst>
          </p:cNvPr>
          <p:cNvGrpSpPr/>
          <p:nvPr/>
        </p:nvGrpSpPr>
        <p:grpSpPr>
          <a:xfrm>
            <a:off x="-4127971" y="1646230"/>
            <a:ext cx="3916304" cy="6844546"/>
            <a:chOff x="3945448" y="5784959"/>
            <a:chExt cx="3916304" cy="6844546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7A7D5976-F177-6FA2-3774-A5E0FDBBBDDD}"/>
                </a:ext>
              </a:extLst>
            </p:cNvPr>
            <p:cNvGrpSpPr/>
            <p:nvPr/>
          </p:nvGrpSpPr>
          <p:grpSpPr>
            <a:xfrm>
              <a:off x="4401134" y="7156589"/>
              <a:ext cx="3389734" cy="338554"/>
              <a:chOff x="4401134" y="824217"/>
              <a:chExt cx="3389734" cy="338554"/>
            </a:xfrm>
          </p:grpSpPr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189D71E0-4A61-FCAA-733D-6688C6C26A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01134" y="993494"/>
                <a:ext cx="3389734" cy="0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AC441D0-AED1-5824-8883-2D5C02030136}"/>
                  </a:ext>
                </a:extLst>
              </p:cNvPr>
              <p:cNvSpPr txBox="1"/>
              <p:nvPr/>
            </p:nvSpPr>
            <p:spPr>
              <a:xfrm>
                <a:off x="4652235" y="824217"/>
                <a:ext cx="2887532" cy="338554"/>
              </a:xfrm>
              <a:prstGeom prst="rect">
                <a:avLst/>
              </a:prstGeom>
              <a:solidFill>
                <a:srgbClr val="D9E6F6"/>
              </a:solidFill>
            </p:spPr>
            <p:txBody>
              <a:bodyPr wrap="square" rtlCol="0">
                <a:spAutoFit/>
              </a:bodyPr>
              <a:lstStyle/>
              <a:p>
                <a:pPr lvl="0" algn="ctr">
                  <a:defRPr/>
                </a:pPr>
                <a:r>
                  <a:rPr lang="ko-KR" altLang="en-US" sz="16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만족도에 따른 </a:t>
                </a:r>
                <a:r>
                  <a:rPr lang="en-US" altLang="ko-KR" sz="16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ARPU </a:t>
                </a:r>
                <a:r>
                  <a:rPr lang="ko-KR" altLang="en-US" sz="16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및 </a:t>
                </a:r>
                <a:r>
                  <a:rPr lang="ko-KR" altLang="en-US" sz="1600" dirty="0" err="1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이탈률</a:t>
                </a:r>
                <a:endParaRPr lang="ko-KR" altLang="en-US" sz="16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EF02A18C-9DBC-C638-DCF7-2357C62DE624}"/>
                </a:ext>
              </a:extLst>
            </p:cNvPr>
            <p:cNvGrpSpPr/>
            <p:nvPr/>
          </p:nvGrpSpPr>
          <p:grpSpPr>
            <a:xfrm>
              <a:off x="4440000" y="10769814"/>
              <a:ext cx="3312000" cy="829545"/>
              <a:chOff x="4538934" y="4763010"/>
              <a:chExt cx="3312000" cy="829545"/>
            </a:xfrm>
          </p:grpSpPr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8C4F8286-212C-2AF3-1C6F-95EC4D209E93}"/>
                  </a:ext>
                </a:extLst>
              </p:cNvPr>
              <p:cNvSpPr/>
              <p:nvPr/>
            </p:nvSpPr>
            <p:spPr>
              <a:xfrm>
                <a:off x="4538934" y="4763010"/>
                <a:ext cx="3312000" cy="829545"/>
              </a:xfrm>
              <a:prstGeom prst="roundRect">
                <a:avLst>
                  <a:gd name="adj" fmla="val 31875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0CC1530-08FE-8F9D-43BB-00A3896EE2EB}"/>
                  </a:ext>
                </a:extLst>
              </p:cNvPr>
              <p:cNvSpPr txBox="1"/>
              <p:nvPr/>
            </p:nvSpPr>
            <p:spPr>
              <a:xfrm>
                <a:off x="4574934" y="4844678"/>
                <a:ext cx="3240000" cy="6662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ko-KR" altLang="en-US" sz="1600" kern="100" dirty="0" err="1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cs typeface="Times New Roman" panose="02020603050405020304" pitchFamily="18" charset="0"/>
                  </a:rPr>
                  <a:t>저만족</a:t>
                </a:r>
                <a:r>
                  <a:rPr lang="ko-KR" altLang="en-US" sz="1600" kern="1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cs typeface="Times New Roman" panose="02020603050405020304" pitchFamily="18" charset="0"/>
                  </a:rPr>
                  <a:t> 고객일수록 </a:t>
                </a:r>
                <a:r>
                  <a:rPr lang="en" altLang="ko-KR" sz="1600" kern="1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cs typeface="Times New Roman" panose="02020603050405020304" pitchFamily="18" charset="0"/>
                  </a:rPr>
                  <a:t>ARPU</a:t>
                </a:r>
                <a:r>
                  <a:rPr lang="ko-KR" altLang="en-US" sz="1600" kern="1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cs typeface="Times New Roman" panose="02020603050405020304" pitchFamily="18" charset="0"/>
                  </a:rPr>
                  <a:t>가 높고</a:t>
                </a:r>
                <a:r>
                  <a:rPr lang="en-US" altLang="ko-KR" sz="1600" kern="1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cs typeface="Times New Roman" panose="02020603050405020304" pitchFamily="18" charset="0"/>
                  </a:rPr>
                  <a:t>.</a:t>
                </a:r>
                <a:r>
                  <a:rPr lang="ko-KR" altLang="en-US" sz="1600" kern="1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cs typeface="Times New Roman" panose="02020603050405020304" pitchFamily="18" charset="0"/>
                  </a:rPr>
                  <a:t> </a:t>
                </a:r>
                <a:endParaRPr lang="en-US" altLang="ko-KR" sz="1600" kern="100" dirty="0">
                  <a:solidFill>
                    <a:prstClr val="black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defRPr/>
                </a:pPr>
                <a:r>
                  <a:rPr lang="ko-KR" altLang="en-US" sz="1600" kern="1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cs typeface="Times New Roman" panose="02020603050405020304" pitchFamily="18" charset="0"/>
                  </a:rPr>
                  <a:t>이탈은 고</a:t>
                </a:r>
                <a:r>
                  <a:rPr lang="en" altLang="ko-KR" sz="1600" kern="1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cs typeface="Times New Roman" panose="02020603050405020304" pitchFamily="18" charset="0"/>
                  </a:rPr>
                  <a:t>ARPU </a:t>
                </a:r>
                <a:r>
                  <a:rPr lang="ko-KR" altLang="en-US" sz="1600" kern="1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cs typeface="Times New Roman" panose="02020603050405020304" pitchFamily="18" charset="0"/>
                  </a:rPr>
                  <a:t>고객군에 발생</a:t>
                </a:r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9C4DC3D9-D64D-3DCC-65D7-6B5634877B33}"/>
                </a:ext>
              </a:extLst>
            </p:cNvPr>
            <p:cNvGrpSpPr/>
            <p:nvPr/>
          </p:nvGrpSpPr>
          <p:grpSpPr>
            <a:xfrm>
              <a:off x="4440000" y="11799960"/>
              <a:ext cx="3312000" cy="829545"/>
              <a:chOff x="4538934" y="4763010"/>
              <a:chExt cx="3312000" cy="829545"/>
            </a:xfrm>
          </p:grpSpPr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EF132AAC-3CD2-D508-D2E2-5D1FF98B3142}"/>
                  </a:ext>
                </a:extLst>
              </p:cNvPr>
              <p:cNvSpPr/>
              <p:nvPr/>
            </p:nvSpPr>
            <p:spPr>
              <a:xfrm>
                <a:off x="4538934" y="4763010"/>
                <a:ext cx="3312000" cy="829545"/>
              </a:xfrm>
              <a:prstGeom prst="roundRect">
                <a:avLst>
                  <a:gd name="adj" fmla="val 31875"/>
                </a:avLst>
              </a:prstGeom>
              <a:solidFill>
                <a:schemeClr val="bg2">
                  <a:lumMod val="75000"/>
                  <a:alpha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734C69E-4A8F-03AC-4002-A733157DD6CF}"/>
                  </a:ext>
                </a:extLst>
              </p:cNvPr>
              <p:cNvSpPr txBox="1"/>
              <p:nvPr/>
            </p:nvSpPr>
            <p:spPr>
              <a:xfrm>
                <a:off x="4574934" y="4844678"/>
                <a:ext cx="3240000" cy="6662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ko-KR" altLang="en-US" sz="1600" kern="1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cs typeface="Times New Roman" panose="02020603050405020304" pitchFamily="18" charset="0"/>
                  </a:rPr>
                  <a:t>중고 </a:t>
                </a:r>
                <a:r>
                  <a:rPr lang="en" altLang="ko-KR" sz="1600" kern="1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cs typeface="Times New Roman" panose="02020603050405020304" pitchFamily="18" charset="0"/>
                  </a:rPr>
                  <a:t>ARPU</a:t>
                </a:r>
                <a:r>
                  <a:rPr lang="ko-KR" altLang="en-US" sz="1600" kern="1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cs typeface="Times New Roman" panose="02020603050405020304" pitchFamily="18" charset="0"/>
                  </a:rPr>
                  <a:t>의 </a:t>
                </a:r>
                <a:r>
                  <a:rPr lang="ko-KR" altLang="en-US" sz="1600" kern="100" dirty="0" err="1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cs typeface="Times New Roman" panose="02020603050405020304" pitchFamily="18" charset="0"/>
                  </a:rPr>
                  <a:t>저만족</a:t>
                </a:r>
                <a:r>
                  <a:rPr lang="ko-KR" altLang="en-US" sz="1600" kern="1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cs typeface="Times New Roman" panose="02020603050405020304" pitchFamily="18" charset="0"/>
                  </a:rPr>
                  <a:t> 고객군을 핵심 이탈 위험군으로 관리</a:t>
                </a:r>
              </a:p>
            </p:txBody>
          </p:sp>
        </p:grpSp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2F036C1E-05C8-CDC3-0B4C-957227D956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112458" y="5784959"/>
              <a:ext cx="3749294" cy="2146082"/>
            </a:xfrm>
            <a:prstGeom prst="rect">
              <a:avLst/>
            </a:prstGeom>
          </p:spPr>
        </p:pic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121B19B8-63FA-FCEA-87B9-18535C7F5632}"/>
                </a:ext>
              </a:extLst>
            </p:cNvPr>
            <p:cNvGrpSpPr/>
            <p:nvPr/>
          </p:nvGrpSpPr>
          <p:grpSpPr>
            <a:xfrm>
              <a:off x="3945448" y="8186572"/>
              <a:ext cx="3809808" cy="2340023"/>
              <a:chOff x="3914968" y="1270000"/>
              <a:chExt cx="3809808" cy="2340023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8C47270-C082-9AD2-F2F4-15E2A4901FF0}"/>
                  </a:ext>
                </a:extLst>
              </p:cNvPr>
              <p:cNvSpPr txBox="1"/>
              <p:nvPr/>
            </p:nvSpPr>
            <p:spPr>
              <a:xfrm rot="16200000">
                <a:off x="3425781" y="2159532"/>
                <a:ext cx="122459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0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평균 </a:t>
                </a:r>
                <a:r>
                  <a:rPr lang="en-US" altLang="ko-KR" sz="10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ARPU (</a:t>
                </a:r>
                <a:r>
                  <a:rPr lang="ko-KR" altLang="en-US" sz="10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원</a:t>
                </a:r>
                <a:r>
                  <a:rPr lang="en-US" altLang="ko-KR" sz="1000" dirty="0">
                    <a:solidFill>
                      <a:prstClr val="black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)</a:t>
                </a: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99D7959C-0933-A6C1-C3B2-F26B1A108BDB}"/>
                  </a:ext>
                </a:extLst>
              </p:cNvPr>
              <p:cNvSpPr/>
              <p:nvPr/>
            </p:nvSpPr>
            <p:spPr>
              <a:xfrm>
                <a:off x="4704641" y="1625600"/>
                <a:ext cx="482039" cy="1720151"/>
              </a:xfrm>
              <a:prstGeom prst="rect">
                <a:avLst/>
              </a:prstGeom>
              <a:solidFill>
                <a:srgbClr val="E87F8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DB5ABD24-F61B-2D95-C0C3-366A614C1D6E}"/>
                  </a:ext>
                </a:extLst>
              </p:cNvPr>
              <p:cNvSpPr/>
              <p:nvPr/>
            </p:nvSpPr>
            <p:spPr>
              <a:xfrm>
                <a:off x="5299001" y="1606550"/>
                <a:ext cx="482039" cy="1739201"/>
              </a:xfrm>
              <a:prstGeom prst="rect">
                <a:avLst/>
              </a:prstGeom>
              <a:solidFill>
                <a:srgbClr val="F3ABA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EDAFBA61-E061-DFFC-7F10-8D77E850F824}"/>
                  </a:ext>
                </a:extLst>
              </p:cNvPr>
              <p:cNvSpPr/>
              <p:nvPr/>
            </p:nvSpPr>
            <p:spPr>
              <a:xfrm>
                <a:off x="5893361" y="1885950"/>
                <a:ext cx="482039" cy="1459801"/>
              </a:xfrm>
              <a:prstGeom prst="rect">
                <a:avLst/>
              </a:prstGeom>
              <a:solidFill>
                <a:srgbClr val="FBD7D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F4BB86C3-D856-E6A7-0008-8AE7B21E2B1C}"/>
                  </a:ext>
                </a:extLst>
              </p:cNvPr>
              <p:cNvSpPr/>
              <p:nvPr/>
            </p:nvSpPr>
            <p:spPr>
              <a:xfrm>
                <a:off x="6487721" y="1943100"/>
                <a:ext cx="482039" cy="1402651"/>
              </a:xfrm>
              <a:prstGeom prst="rect">
                <a:avLst/>
              </a:prstGeom>
              <a:solidFill>
                <a:srgbClr val="DBC6D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967A40C6-84CE-B738-AED1-368F8680C74A}"/>
                  </a:ext>
                </a:extLst>
              </p:cNvPr>
              <p:cNvSpPr/>
              <p:nvPr/>
            </p:nvSpPr>
            <p:spPr>
              <a:xfrm>
                <a:off x="7082081" y="2217189"/>
                <a:ext cx="482039" cy="1128562"/>
              </a:xfrm>
              <a:prstGeom prst="rect">
                <a:avLst/>
              </a:prstGeom>
              <a:solidFill>
                <a:srgbClr val="B68CB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06B6929-E598-BCFB-12DB-B463D53BA8CD}"/>
                  </a:ext>
                </a:extLst>
              </p:cNvPr>
              <p:cNvSpPr txBox="1"/>
              <p:nvPr/>
            </p:nvSpPr>
            <p:spPr>
              <a:xfrm>
                <a:off x="4720440" y="3363802"/>
                <a:ext cx="415633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0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1</a:t>
                </a:r>
                <a:r>
                  <a:rPr lang="ko-KR" altLang="en-US" sz="10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점</a:t>
                </a:r>
                <a:endParaRPr lang="en-US" altLang="ko-KR" sz="10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7A80919-27E1-065C-9BE8-70EC0F03FC5D}"/>
                  </a:ext>
                </a:extLst>
              </p:cNvPr>
              <p:cNvSpPr txBox="1"/>
              <p:nvPr/>
            </p:nvSpPr>
            <p:spPr>
              <a:xfrm>
                <a:off x="5320515" y="3363802"/>
                <a:ext cx="415633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0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2</a:t>
                </a:r>
                <a:r>
                  <a:rPr lang="ko-KR" altLang="en-US" sz="10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점</a:t>
                </a:r>
                <a:endParaRPr lang="en-US" altLang="ko-KR" sz="10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4FECFE3-4539-0CF5-B7D8-0D15328D0080}"/>
                  </a:ext>
                </a:extLst>
              </p:cNvPr>
              <p:cNvSpPr txBox="1"/>
              <p:nvPr/>
            </p:nvSpPr>
            <p:spPr>
              <a:xfrm>
                <a:off x="5920590" y="3363802"/>
                <a:ext cx="415633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0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3</a:t>
                </a:r>
                <a:r>
                  <a:rPr lang="ko-KR" altLang="en-US" sz="10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점</a:t>
                </a:r>
                <a:endParaRPr lang="en-US" altLang="ko-KR" sz="10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5A875D3-3593-87CA-EB77-6149949FBE72}"/>
                  </a:ext>
                </a:extLst>
              </p:cNvPr>
              <p:cNvSpPr txBox="1"/>
              <p:nvPr/>
            </p:nvSpPr>
            <p:spPr>
              <a:xfrm>
                <a:off x="6520665" y="3363802"/>
                <a:ext cx="415633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0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4</a:t>
                </a:r>
                <a:r>
                  <a:rPr lang="ko-KR" altLang="en-US" sz="10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점</a:t>
                </a:r>
                <a:endParaRPr lang="en-US" altLang="ko-KR" sz="10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E1CD1D3-6305-E8DF-5FC7-2DFE528F0F47}"/>
                  </a:ext>
                </a:extLst>
              </p:cNvPr>
              <p:cNvSpPr txBox="1"/>
              <p:nvPr/>
            </p:nvSpPr>
            <p:spPr>
              <a:xfrm>
                <a:off x="7120739" y="3363802"/>
                <a:ext cx="415633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0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5</a:t>
                </a:r>
                <a:r>
                  <a:rPr lang="ko-KR" altLang="en-US" sz="10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점</a:t>
                </a:r>
                <a:endParaRPr lang="en-US" altLang="ko-KR" sz="10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7BBAAB5F-F331-4039-BC14-43F99C6EF3F9}"/>
                  </a:ext>
                </a:extLst>
              </p:cNvPr>
              <p:cNvSpPr/>
              <p:nvPr/>
            </p:nvSpPr>
            <p:spPr>
              <a:xfrm>
                <a:off x="4566708" y="1270000"/>
                <a:ext cx="3158068" cy="2076450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CB18F3A6-2E9E-5D16-0649-DB206F7BDAE8}"/>
                </a:ext>
              </a:extLst>
            </p:cNvPr>
            <p:cNvGrpSpPr/>
            <p:nvPr/>
          </p:nvGrpSpPr>
          <p:grpSpPr>
            <a:xfrm>
              <a:off x="4941407" y="8682053"/>
              <a:ext cx="2428214" cy="1058816"/>
              <a:chOff x="4941407" y="2349681"/>
              <a:chExt cx="2428214" cy="1058816"/>
            </a:xfrm>
          </p:grpSpPr>
          <p:sp>
            <p:nvSpPr>
              <p:cNvPr id="47" name="타원 46">
                <a:extLst>
                  <a:ext uri="{FF2B5EF4-FFF2-40B4-BE49-F238E27FC236}">
                    <a16:creationId xmlns:a16="http://schemas.microsoft.com/office/drawing/2014/main" id="{25B8CD73-ED09-5212-AEE2-65BE01807BD8}"/>
                  </a:ext>
                </a:extLst>
              </p:cNvPr>
              <p:cNvSpPr/>
              <p:nvPr/>
            </p:nvSpPr>
            <p:spPr>
              <a:xfrm>
                <a:off x="4941407" y="2349681"/>
                <a:ext cx="55854" cy="5551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" name="자유형: 도형 53">
                <a:extLst>
                  <a:ext uri="{FF2B5EF4-FFF2-40B4-BE49-F238E27FC236}">
                    <a16:creationId xmlns:a16="http://schemas.microsoft.com/office/drawing/2014/main" id="{DCB24A0E-3738-99A7-5E36-05098A043C09}"/>
                  </a:ext>
                </a:extLst>
              </p:cNvPr>
              <p:cNvSpPr/>
              <p:nvPr/>
            </p:nvSpPr>
            <p:spPr>
              <a:xfrm>
                <a:off x="4943475" y="2378075"/>
                <a:ext cx="2393950" cy="996950"/>
              </a:xfrm>
              <a:custGeom>
                <a:avLst/>
                <a:gdLst>
                  <a:gd name="csX0" fmla="*/ 0 w 2393950"/>
                  <a:gd name="csY0" fmla="*/ 0 h 996950"/>
                  <a:gd name="csX1" fmla="*/ 600075 w 2393950"/>
                  <a:gd name="csY1" fmla="*/ 136525 h 996950"/>
                  <a:gd name="csX2" fmla="*/ 1200150 w 2393950"/>
                  <a:gd name="csY2" fmla="*/ 257175 h 996950"/>
                  <a:gd name="csX3" fmla="*/ 1800225 w 2393950"/>
                  <a:gd name="csY3" fmla="*/ 422275 h 996950"/>
                  <a:gd name="csX4" fmla="*/ 2393950 w 2393950"/>
                  <a:gd name="csY4" fmla="*/ 996950 h 996950"/>
                  <a:gd name="csX0" fmla="*/ 0 w 2393950"/>
                  <a:gd name="csY0" fmla="*/ 0 h 996950"/>
                  <a:gd name="csX1" fmla="*/ 600075 w 2393950"/>
                  <a:gd name="csY1" fmla="*/ 136525 h 996950"/>
                  <a:gd name="csX2" fmla="*/ 1200150 w 2393950"/>
                  <a:gd name="csY2" fmla="*/ 257175 h 996950"/>
                  <a:gd name="csX3" fmla="*/ 1800225 w 2393950"/>
                  <a:gd name="csY3" fmla="*/ 422275 h 996950"/>
                  <a:gd name="csX4" fmla="*/ 2393950 w 2393950"/>
                  <a:gd name="csY4" fmla="*/ 996950 h 996950"/>
                  <a:gd name="csX0" fmla="*/ 0 w 2393950"/>
                  <a:gd name="csY0" fmla="*/ 0 h 996950"/>
                  <a:gd name="csX1" fmla="*/ 600075 w 2393950"/>
                  <a:gd name="csY1" fmla="*/ 136525 h 996950"/>
                  <a:gd name="csX2" fmla="*/ 1200150 w 2393950"/>
                  <a:gd name="csY2" fmla="*/ 257175 h 996950"/>
                  <a:gd name="csX3" fmla="*/ 1800225 w 2393950"/>
                  <a:gd name="csY3" fmla="*/ 422275 h 996950"/>
                  <a:gd name="csX4" fmla="*/ 2393950 w 2393950"/>
                  <a:gd name="csY4" fmla="*/ 996950 h 996950"/>
                  <a:gd name="csX0" fmla="*/ 0 w 2393950"/>
                  <a:gd name="csY0" fmla="*/ 0 h 996950"/>
                  <a:gd name="csX1" fmla="*/ 600075 w 2393950"/>
                  <a:gd name="csY1" fmla="*/ 136525 h 996950"/>
                  <a:gd name="csX2" fmla="*/ 1200150 w 2393950"/>
                  <a:gd name="csY2" fmla="*/ 257175 h 996950"/>
                  <a:gd name="csX3" fmla="*/ 1800225 w 2393950"/>
                  <a:gd name="csY3" fmla="*/ 422275 h 996950"/>
                  <a:gd name="csX4" fmla="*/ 2393950 w 2393950"/>
                  <a:gd name="csY4" fmla="*/ 996950 h 9969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393950" h="996950">
                    <a:moveTo>
                      <a:pt x="0" y="0"/>
                    </a:moveTo>
                    <a:lnTo>
                      <a:pt x="600075" y="136525"/>
                    </a:lnTo>
                    <a:lnTo>
                      <a:pt x="1200150" y="257175"/>
                    </a:lnTo>
                    <a:lnTo>
                      <a:pt x="1800225" y="422275"/>
                    </a:lnTo>
                    <a:lnTo>
                      <a:pt x="2393950" y="99695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2FB47FDD-EB61-44A8-2F51-56D85D887FE3}"/>
                  </a:ext>
                </a:extLst>
              </p:cNvPr>
              <p:cNvSpPr/>
              <p:nvPr/>
            </p:nvSpPr>
            <p:spPr>
              <a:xfrm>
                <a:off x="5535767" y="2491498"/>
                <a:ext cx="55854" cy="5551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타원 55">
                <a:extLst>
                  <a:ext uri="{FF2B5EF4-FFF2-40B4-BE49-F238E27FC236}">
                    <a16:creationId xmlns:a16="http://schemas.microsoft.com/office/drawing/2014/main" id="{7E53ED6B-7044-2E29-35D7-E3B18D032FED}"/>
                  </a:ext>
                </a:extLst>
              </p:cNvPr>
              <p:cNvSpPr/>
              <p:nvPr/>
            </p:nvSpPr>
            <p:spPr>
              <a:xfrm>
                <a:off x="6128434" y="2612148"/>
                <a:ext cx="55854" cy="5551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AE86E4BD-F6C5-730A-89FF-082CCDA1DF36}"/>
                  </a:ext>
                </a:extLst>
              </p:cNvPr>
              <p:cNvSpPr/>
              <p:nvPr/>
            </p:nvSpPr>
            <p:spPr>
              <a:xfrm>
                <a:off x="6716867" y="2777248"/>
                <a:ext cx="55854" cy="5551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039E1BDF-3BE7-7487-D9CE-78D147858F3A}"/>
                  </a:ext>
                </a:extLst>
              </p:cNvPr>
              <p:cNvSpPr/>
              <p:nvPr/>
            </p:nvSpPr>
            <p:spPr>
              <a:xfrm>
                <a:off x="7313767" y="3352981"/>
                <a:ext cx="55854" cy="5551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3837A2C5-4F0A-6FE9-F016-D6BFA1AEFD82}"/>
                </a:ext>
              </a:extLst>
            </p:cNvPr>
            <p:cNvCxnSpPr>
              <a:cxnSpLocks/>
            </p:cNvCxnSpPr>
            <p:nvPr/>
          </p:nvCxnSpPr>
          <p:spPr>
            <a:xfrm>
              <a:off x="4596938" y="9034008"/>
              <a:ext cx="3158529" cy="0"/>
            </a:xfrm>
            <a:prstGeom prst="line">
              <a:avLst/>
            </a:prstGeom>
            <a:ln w="9525">
              <a:solidFill>
                <a:srgbClr val="FF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4BDAFBA-86C2-B8D4-1638-13DC87F0AE96}"/>
                </a:ext>
              </a:extLst>
            </p:cNvPr>
            <p:cNvSpPr txBox="1"/>
            <p:nvPr/>
          </p:nvSpPr>
          <p:spPr>
            <a:xfrm>
              <a:off x="4123267" y="10121787"/>
              <a:ext cx="49873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900" dirty="0">
                  <a:solidFill>
                    <a:schemeClr val="bg2">
                      <a:lumMod val="2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0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06D4F68-7908-868A-2BD5-235B97A9D90D}"/>
                </a:ext>
              </a:extLst>
            </p:cNvPr>
            <p:cNvSpPr txBox="1"/>
            <p:nvPr/>
          </p:nvSpPr>
          <p:spPr>
            <a:xfrm>
              <a:off x="4123267" y="9800553"/>
              <a:ext cx="49873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900" dirty="0">
                  <a:solidFill>
                    <a:schemeClr val="bg2">
                      <a:lumMod val="2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20K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D2C291C-5BD2-8D93-33E7-D036E5BC87C7}"/>
                </a:ext>
              </a:extLst>
            </p:cNvPr>
            <p:cNvSpPr txBox="1"/>
            <p:nvPr/>
          </p:nvSpPr>
          <p:spPr>
            <a:xfrm>
              <a:off x="4123267" y="9479320"/>
              <a:ext cx="49873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900" dirty="0">
                  <a:solidFill>
                    <a:schemeClr val="bg2">
                      <a:lumMod val="2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40K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0C2F781-0005-C09F-E8C7-728B0CFB1A44}"/>
                </a:ext>
              </a:extLst>
            </p:cNvPr>
            <p:cNvSpPr txBox="1"/>
            <p:nvPr/>
          </p:nvSpPr>
          <p:spPr>
            <a:xfrm>
              <a:off x="4123267" y="9158087"/>
              <a:ext cx="49873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900" dirty="0">
                  <a:solidFill>
                    <a:schemeClr val="bg2">
                      <a:lumMod val="2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60K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74F67A1-750A-9F9A-19AB-92C7DC2789BC}"/>
                </a:ext>
              </a:extLst>
            </p:cNvPr>
            <p:cNvSpPr txBox="1"/>
            <p:nvPr/>
          </p:nvSpPr>
          <p:spPr>
            <a:xfrm>
              <a:off x="4123267" y="8836854"/>
              <a:ext cx="49873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900" dirty="0">
                  <a:solidFill>
                    <a:schemeClr val="bg2">
                      <a:lumMod val="2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80K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07CC5B6-0B35-CDBA-5EE4-A02136F13D44}"/>
                </a:ext>
              </a:extLst>
            </p:cNvPr>
            <p:cNvSpPr txBox="1"/>
            <p:nvPr/>
          </p:nvSpPr>
          <p:spPr>
            <a:xfrm>
              <a:off x="4123267" y="8515621"/>
              <a:ext cx="49873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900" dirty="0">
                  <a:solidFill>
                    <a:schemeClr val="bg2">
                      <a:lumMod val="2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100K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38C9BD9-EE3B-B5E4-1A8D-711F574A26F1}"/>
                </a:ext>
              </a:extLst>
            </p:cNvPr>
            <p:cNvSpPr txBox="1"/>
            <p:nvPr/>
          </p:nvSpPr>
          <p:spPr>
            <a:xfrm>
              <a:off x="4123267" y="8194388"/>
              <a:ext cx="49873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900" dirty="0">
                  <a:solidFill>
                    <a:schemeClr val="bg2">
                      <a:lumMod val="2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120K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18038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B9F11-255A-BC72-A696-5AB755BC0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AFA7CBA-B3A1-B7E7-30FB-513C041A68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24E44EA-8BB9-4356-A6E2-F3B626433E95}" type="slidenum">
              <a:rPr lang="ko-KR" altLang="en-US" smtClean="0"/>
              <a:pPr/>
              <a:t>26</a:t>
            </a:fld>
            <a:endParaRPr lang="ko-KR" altLang="en-US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08117A2-5CC2-AE25-084A-1F54C0BB4370}"/>
              </a:ext>
            </a:extLst>
          </p:cNvPr>
          <p:cNvGrpSpPr/>
          <p:nvPr/>
        </p:nvGrpSpPr>
        <p:grpSpPr>
          <a:xfrm>
            <a:off x="1216424" y="754933"/>
            <a:ext cx="3481512" cy="369332"/>
            <a:chOff x="1023601" y="706807"/>
            <a:chExt cx="3481512" cy="36933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91940A5-C3B4-B7C8-BB01-E7C7275CE3C7}"/>
                </a:ext>
              </a:extLst>
            </p:cNvPr>
            <p:cNvSpPr txBox="1"/>
            <p:nvPr/>
          </p:nvSpPr>
          <p:spPr>
            <a:xfrm>
              <a:off x="1023601" y="706807"/>
              <a:ext cx="34815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dirty="0">
                  <a:latin typeface="나눔스퀘어_ac Bold"/>
                  <a:ea typeface="나눔스퀘어_ac Bold"/>
                </a:rPr>
                <a:t>결제 방식에 따른 </a:t>
              </a:r>
              <a:r>
                <a:rPr lang="ko-KR" altLang="en-US" dirty="0" err="1">
                  <a:latin typeface="나눔스퀘어_ac Bold"/>
                  <a:ea typeface="나눔스퀘어_ac Bold"/>
                </a:rPr>
                <a:t>이탈률</a:t>
              </a:r>
              <a:endParaRPr lang="ko-KR" altLang="en-US" dirty="0">
                <a:latin typeface="나눔스퀘어_ac Bold"/>
                <a:ea typeface="나눔스퀘어_ac Bold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CC42F26C-FA2A-7CDA-740B-E966CCF40FB5}"/>
                </a:ext>
              </a:extLst>
            </p:cNvPr>
            <p:cNvCxnSpPr>
              <a:cxnSpLocks/>
            </p:cNvCxnSpPr>
            <p:nvPr/>
          </p:nvCxnSpPr>
          <p:spPr>
            <a:xfrm>
              <a:off x="1023601" y="786942"/>
              <a:ext cx="0" cy="209062"/>
            </a:xfrm>
            <a:prstGeom prst="line">
              <a:avLst/>
            </a:prstGeom>
            <a:ln w="38100">
              <a:solidFill>
                <a:srgbClr val="BE4A3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1C69796-0075-3A40-2840-06715071A73F}"/>
              </a:ext>
            </a:extLst>
          </p:cNvPr>
          <p:cNvGrpSpPr/>
          <p:nvPr/>
        </p:nvGrpSpPr>
        <p:grpSpPr>
          <a:xfrm>
            <a:off x="6883298" y="754933"/>
            <a:ext cx="3481512" cy="369332"/>
            <a:chOff x="1023601" y="706807"/>
            <a:chExt cx="3481512" cy="36933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89E884B-7887-ECCA-9C2F-F14156AE89F3}"/>
                </a:ext>
              </a:extLst>
            </p:cNvPr>
            <p:cNvSpPr txBox="1"/>
            <p:nvPr/>
          </p:nvSpPr>
          <p:spPr>
            <a:xfrm>
              <a:off x="1023601" y="706807"/>
              <a:ext cx="34815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dirty="0">
                  <a:latin typeface="나눔스퀘어_ac Bold"/>
                  <a:ea typeface="나눔스퀘어_ac Bold"/>
                </a:rPr>
                <a:t>부양자 유무에 따른 </a:t>
              </a:r>
              <a:r>
                <a:rPr lang="ko-KR" altLang="en-US" dirty="0" err="1">
                  <a:latin typeface="나눔스퀘어_ac Bold"/>
                  <a:ea typeface="나눔스퀘어_ac Bold"/>
                </a:rPr>
                <a:t>이탈률</a:t>
              </a:r>
              <a:endParaRPr lang="ko-KR" altLang="en-US" dirty="0">
                <a:latin typeface="나눔스퀘어_ac Bold"/>
                <a:ea typeface="나눔스퀘어_ac Bold"/>
              </a:endParaRPr>
            </a:p>
          </p:txBody>
        </p: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CABA7924-5847-21B5-1B71-8E8469A71AB7}"/>
                </a:ext>
              </a:extLst>
            </p:cNvPr>
            <p:cNvCxnSpPr>
              <a:cxnSpLocks/>
            </p:cNvCxnSpPr>
            <p:nvPr/>
          </p:nvCxnSpPr>
          <p:spPr>
            <a:xfrm>
              <a:off x="1023601" y="786942"/>
              <a:ext cx="0" cy="209062"/>
            </a:xfrm>
            <a:prstGeom prst="line">
              <a:avLst/>
            </a:prstGeom>
            <a:ln w="38100">
              <a:solidFill>
                <a:srgbClr val="BE4A3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FA01BD0D-CC2B-7ADD-C1B8-5A4A08662C0A}"/>
              </a:ext>
            </a:extLst>
          </p:cNvPr>
          <p:cNvGrpSpPr/>
          <p:nvPr/>
        </p:nvGrpSpPr>
        <p:grpSpPr>
          <a:xfrm>
            <a:off x="6225605" y="1261811"/>
            <a:ext cx="4730864" cy="3550453"/>
            <a:chOff x="518973" y="1042265"/>
            <a:chExt cx="5229894" cy="3924969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EB8C306-70C2-F3A2-7814-B2F90EEA7915}"/>
                </a:ext>
              </a:extLst>
            </p:cNvPr>
            <p:cNvSpPr txBox="1"/>
            <p:nvPr/>
          </p:nvSpPr>
          <p:spPr>
            <a:xfrm>
              <a:off x="1427652" y="4542397"/>
              <a:ext cx="1837653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부양자 없음</a:t>
              </a:r>
              <a:endPara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101D5B6-E312-CA64-9191-7103BD319EE2}"/>
                </a:ext>
              </a:extLst>
            </p:cNvPr>
            <p:cNvSpPr txBox="1"/>
            <p:nvPr/>
          </p:nvSpPr>
          <p:spPr>
            <a:xfrm>
              <a:off x="3628986" y="4542397"/>
              <a:ext cx="1837653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부양자 있음</a:t>
              </a:r>
              <a:endPara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98C3FC7-596E-C566-E222-C93EBB71536D}"/>
                </a:ext>
              </a:extLst>
            </p:cNvPr>
            <p:cNvSpPr txBox="1"/>
            <p:nvPr/>
          </p:nvSpPr>
          <p:spPr>
            <a:xfrm>
              <a:off x="1461519" y="3162531"/>
              <a:ext cx="1837654" cy="34024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29.8%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349BC1A-0C7E-B260-DA56-D868F0D09A56}"/>
                </a:ext>
              </a:extLst>
            </p:cNvPr>
            <p:cNvSpPr txBox="1"/>
            <p:nvPr/>
          </p:nvSpPr>
          <p:spPr>
            <a:xfrm>
              <a:off x="3688253" y="3926451"/>
              <a:ext cx="1837654" cy="34024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6.3%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DA50156-7300-8D0E-23C2-510AD776F763}"/>
                </a:ext>
              </a:extLst>
            </p:cNvPr>
            <p:cNvSpPr txBox="1"/>
            <p:nvPr/>
          </p:nvSpPr>
          <p:spPr>
            <a:xfrm rot="16200000">
              <a:off x="-17466" y="2782552"/>
              <a:ext cx="1380656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이탈 확률</a:t>
              </a:r>
              <a:endPara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E519CA0F-7927-E60A-1DCC-DED42327F365}"/>
                </a:ext>
              </a:extLst>
            </p:cNvPr>
            <p:cNvSpPr/>
            <p:nvPr/>
          </p:nvSpPr>
          <p:spPr>
            <a:xfrm>
              <a:off x="1456267" y="3522846"/>
              <a:ext cx="1811866" cy="991872"/>
            </a:xfrm>
            <a:prstGeom prst="rect">
              <a:avLst/>
            </a:prstGeom>
            <a:solidFill>
              <a:srgbClr val="B9DC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FEB4CCF-671D-BE1D-A600-59BB3E5DB894}"/>
                </a:ext>
              </a:extLst>
            </p:cNvPr>
            <p:cNvSpPr/>
            <p:nvPr/>
          </p:nvSpPr>
          <p:spPr>
            <a:xfrm>
              <a:off x="3716866" y="4292867"/>
              <a:ext cx="1811866" cy="221850"/>
            </a:xfrm>
            <a:prstGeom prst="rect">
              <a:avLst/>
            </a:prstGeom>
            <a:solidFill>
              <a:srgbClr val="F3CF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1C13EFF-216F-5006-DBAF-10A717C2A861}"/>
                </a:ext>
              </a:extLst>
            </p:cNvPr>
            <p:cNvSpPr/>
            <p:nvPr/>
          </p:nvSpPr>
          <p:spPr>
            <a:xfrm>
              <a:off x="1236133" y="1136518"/>
              <a:ext cx="4512734" cy="3378200"/>
            </a:xfrm>
            <a:prstGeom prst="rect">
              <a:avLst/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D1A46F74-0CC2-F4BF-B792-7040ED034528}"/>
                </a:ext>
              </a:extLst>
            </p:cNvPr>
            <p:cNvSpPr/>
            <p:nvPr/>
          </p:nvSpPr>
          <p:spPr>
            <a:xfrm>
              <a:off x="3570740" y="3695699"/>
              <a:ext cx="2068060" cy="1271535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2FE63A3-019C-F0B0-74F9-939FFCE31385}"/>
                </a:ext>
              </a:extLst>
            </p:cNvPr>
            <p:cNvSpPr txBox="1"/>
            <p:nvPr/>
          </p:nvSpPr>
          <p:spPr>
            <a:xfrm>
              <a:off x="749925" y="1042265"/>
              <a:ext cx="585532" cy="2892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solidFill>
                    <a:schemeClr val="bg2">
                      <a:lumMod val="2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1.0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314D154-7BB4-AD2C-4721-F75368198F42}"/>
                </a:ext>
              </a:extLst>
            </p:cNvPr>
            <p:cNvSpPr txBox="1"/>
            <p:nvPr/>
          </p:nvSpPr>
          <p:spPr>
            <a:xfrm>
              <a:off x="749925" y="1707337"/>
              <a:ext cx="585532" cy="2892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solidFill>
                    <a:schemeClr val="bg2">
                      <a:lumMod val="2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0.8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441BF07-6C09-C5B6-3DB7-8F8DC844AE52}"/>
                </a:ext>
              </a:extLst>
            </p:cNvPr>
            <p:cNvSpPr txBox="1"/>
            <p:nvPr/>
          </p:nvSpPr>
          <p:spPr>
            <a:xfrm>
              <a:off x="749925" y="4367629"/>
              <a:ext cx="585532" cy="2892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solidFill>
                    <a:schemeClr val="bg2">
                      <a:lumMod val="2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0.0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8A6081D-305E-2BE1-106E-76820CDAA6B7}"/>
                </a:ext>
              </a:extLst>
            </p:cNvPr>
            <p:cNvSpPr txBox="1"/>
            <p:nvPr/>
          </p:nvSpPr>
          <p:spPr>
            <a:xfrm>
              <a:off x="749925" y="3702555"/>
              <a:ext cx="585532" cy="2892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solidFill>
                    <a:schemeClr val="bg2">
                      <a:lumMod val="2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0.2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01D08F4-C9D7-CC7B-EC8E-18988E7ED3CD}"/>
                </a:ext>
              </a:extLst>
            </p:cNvPr>
            <p:cNvSpPr txBox="1"/>
            <p:nvPr/>
          </p:nvSpPr>
          <p:spPr>
            <a:xfrm>
              <a:off x="749925" y="3037482"/>
              <a:ext cx="585532" cy="2892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solidFill>
                    <a:schemeClr val="bg2">
                      <a:lumMod val="2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0.4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1B48C5F-A6AE-A03B-B5A8-6BA47FB1D2D5}"/>
                </a:ext>
              </a:extLst>
            </p:cNvPr>
            <p:cNvSpPr txBox="1"/>
            <p:nvPr/>
          </p:nvSpPr>
          <p:spPr>
            <a:xfrm>
              <a:off x="749925" y="2372410"/>
              <a:ext cx="585532" cy="2892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solidFill>
                    <a:schemeClr val="bg2">
                      <a:lumMod val="2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0.6</a:t>
              </a: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5B508E34-69DC-BE58-0E85-39664052A4C4}"/>
              </a:ext>
            </a:extLst>
          </p:cNvPr>
          <p:cNvGrpSpPr/>
          <p:nvPr/>
        </p:nvGrpSpPr>
        <p:grpSpPr>
          <a:xfrm>
            <a:off x="575131" y="1261811"/>
            <a:ext cx="4713930" cy="3550453"/>
            <a:chOff x="551089" y="1147511"/>
            <a:chExt cx="4713930" cy="3550453"/>
          </a:xfrm>
        </p:grpSpPr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45FD1084-C48F-D955-68A8-FB4FD1079091}"/>
                </a:ext>
              </a:extLst>
            </p:cNvPr>
            <p:cNvGrpSpPr/>
            <p:nvPr/>
          </p:nvGrpSpPr>
          <p:grpSpPr>
            <a:xfrm>
              <a:off x="551089" y="1232771"/>
              <a:ext cx="4713930" cy="3465193"/>
              <a:chOff x="537694" y="1136518"/>
              <a:chExt cx="5211173" cy="3830716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467474-6CB7-A0FB-7BB4-5405FFA0B176}"/>
                  </a:ext>
                </a:extLst>
              </p:cNvPr>
              <p:cNvSpPr txBox="1"/>
              <p:nvPr/>
            </p:nvSpPr>
            <p:spPr>
              <a:xfrm>
                <a:off x="1427652" y="4542397"/>
                <a:ext cx="183765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계좌</a:t>
                </a:r>
                <a:r>
                  <a:rPr lang="en-US" altLang="ko-KR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/</a:t>
                </a:r>
                <a:r>
                  <a:rPr lang="ko-KR" altLang="en-US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전자결제</a:t>
                </a:r>
                <a:endPara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E7066FB-CF78-74B2-1AAC-5591FB7ECF51}"/>
                  </a:ext>
                </a:extLst>
              </p:cNvPr>
              <p:cNvSpPr txBox="1"/>
              <p:nvPr/>
            </p:nvSpPr>
            <p:spPr>
              <a:xfrm>
                <a:off x="3628986" y="4542397"/>
                <a:ext cx="183765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신용카드 결제</a:t>
                </a:r>
                <a:endPara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86908A5-78B7-306A-BF68-A7BA34AB0EB6}"/>
                  </a:ext>
                </a:extLst>
              </p:cNvPr>
              <p:cNvSpPr txBox="1"/>
              <p:nvPr/>
            </p:nvSpPr>
            <p:spPr>
              <a:xfrm>
                <a:off x="1461518" y="3106372"/>
                <a:ext cx="183765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32.1%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6C31949-899A-9A98-988D-95A3D64A93B3}"/>
                  </a:ext>
                </a:extLst>
              </p:cNvPr>
              <p:cNvSpPr txBox="1"/>
              <p:nvPr/>
            </p:nvSpPr>
            <p:spPr>
              <a:xfrm>
                <a:off x="3688253" y="3739256"/>
                <a:ext cx="183765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13.6%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F3787E8-DB0D-3BA7-FC18-E0FBA70664A7}"/>
                  </a:ext>
                </a:extLst>
              </p:cNvPr>
              <p:cNvSpPr txBox="1"/>
              <p:nvPr/>
            </p:nvSpPr>
            <p:spPr>
              <a:xfrm rot="16200000">
                <a:off x="1255" y="2782552"/>
                <a:ext cx="138065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이탈 확률</a:t>
                </a:r>
                <a:endPara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324CB317-7CEC-D540-B06A-EEA45F2B4151}"/>
                  </a:ext>
                </a:extLst>
              </p:cNvPr>
              <p:cNvSpPr/>
              <p:nvPr/>
            </p:nvSpPr>
            <p:spPr>
              <a:xfrm>
                <a:off x="1456267" y="3426884"/>
                <a:ext cx="1811866" cy="1087834"/>
              </a:xfrm>
              <a:prstGeom prst="rect">
                <a:avLst/>
              </a:prstGeom>
              <a:solidFill>
                <a:srgbClr val="F1BCB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176AC0DA-D624-28CA-7404-0B94DD2896AA}"/>
                  </a:ext>
                </a:extLst>
              </p:cNvPr>
              <p:cNvSpPr/>
              <p:nvPr/>
            </p:nvSpPr>
            <p:spPr>
              <a:xfrm>
                <a:off x="3716866" y="4051300"/>
                <a:ext cx="1811866" cy="463417"/>
              </a:xfrm>
              <a:prstGeom prst="rect">
                <a:avLst/>
              </a:prstGeom>
              <a:solidFill>
                <a:srgbClr val="B9CCD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5B4EF55E-B098-BB8C-E994-7DB132A226A4}"/>
                  </a:ext>
                </a:extLst>
              </p:cNvPr>
              <p:cNvSpPr/>
              <p:nvPr/>
            </p:nvSpPr>
            <p:spPr>
              <a:xfrm>
                <a:off x="1236133" y="1136518"/>
                <a:ext cx="4512734" cy="3378200"/>
              </a:xfrm>
              <a:prstGeom prst="rect">
                <a:avLst/>
              </a:prstGeom>
              <a:noFill/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CA28D755-5D9A-2778-52CF-F62666F78E60}"/>
                  </a:ext>
                </a:extLst>
              </p:cNvPr>
              <p:cNvSpPr/>
              <p:nvPr/>
            </p:nvSpPr>
            <p:spPr>
              <a:xfrm>
                <a:off x="3570740" y="3695699"/>
                <a:ext cx="2068060" cy="1271535"/>
              </a:xfrm>
              <a:prstGeom prst="rect">
                <a:avLst/>
              </a:prstGeom>
              <a:noFill/>
              <a:ln w="57150">
                <a:solidFill>
                  <a:srgbClr val="FF0000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19C24970-7FD3-2315-1AD5-3D763345B583}"/>
                </a:ext>
              </a:extLst>
            </p:cNvPr>
            <p:cNvGrpSpPr/>
            <p:nvPr/>
          </p:nvGrpSpPr>
          <p:grpSpPr>
            <a:xfrm>
              <a:off x="759737" y="1147511"/>
              <a:ext cx="529661" cy="3269672"/>
              <a:chOff x="6661003" y="1299911"/>
              <a:chExt cx="529661" cy="3269672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BAC1E98-3E50-F3F4-317D-7D9E3C1D7F96}"/>
                  </a:ext>
                </a:extLst>
              </p:cNvPr>
              <p:cNvSpPr txBox="1"/>
              <p:nvPr/>
            </p:nvSpPr>
            <p:spPr>
              <a:xfrm>
                <a:off x="6661003" y="1299911"/>
                <a:ext cx="52966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solidFill>
                      <a:schemeClr val="bg2">
                        <a:lumMod val="2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1.0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29D9E59-2819-F04F-EBFF-9929421BB18F}"/>
                  </a:ext>
                </a:extLst>
              </p:cNvPr>
              <p:cNvSpPr txBox="1"/>
              <p:nvPr/>
            </p:nvSpPr>
            <p:spPr>
              <a:xfrm>
                <a:off x="6661003" y="1901523"/>
                <a:ext cx="52966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solidFill>
                      <a:schemeClr val="bg2">
                        <a:lumMod val="2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0.8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EEAB2D4-CADF-87CB-CC8D-FA283881CE03}"/>
                  </a:ext>
                </a:extLst>
              </p:cNvPr>
              <p:cNvSpPr txBox="1"/>
              <p:nvPr/>
            </p:nvSpPr>
            <p:spPr>
              <a:xfrm>
                <a:off x="6661003" y="4307973"/>
                <a:ext cx="52966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solidFill>
                      <a:schemeClr val="bg2">
                        <a:lumMod val="2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0.0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89E0C58-37D2-55F9-9943-EED48875FE76}"/>
                  </a:ext>
                </a:extLst>
              </p:cNvPr>
              <p:cNvSpPr txBox="1"/>
              <p:nvPr/>
            </p:nvSpPr>
            <p:spPr>
              <a:xfrm>
                <a:off x="6661003" y="3706359"/>
                <a:ext cx="52966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solidFill>
                      <a:schemeClr val="bg2">
                        <a:lumMod val="2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0.2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47B33D3-0C5C-C1BA-EAA8-431930F1DE60}"/>
                  </a:ext>
                </a:extLst>
              </p:cNvPr>
              <p:cNvSpPr txBox="1"/>
              <p:nvPr/>
            </p:nvSpPr>
            <p:spPr>
              <a:xfrm>
                <a:off x="6661003" y="3104747"/>
                <a:ext cx="52966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solidFill>
                      <a:schemeClr val="bg2">
                        <a:lumMod val="2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0.4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BFF1F98-6483-2E39-0744-2D4246F3EAAA}"/>
                  </a:ext>
                </a:extLst>
              </p:cNvPr>
              <p:cNvSpPr txBox="1"/>
              <p:nvPr/>
            </p:nvSpPr>
            <p:spPr>
              <a:xfrm>
                <a:off x="6661003" y="2503135"/>
                <a:ext cx="52966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solidFill>
                      <a:schemeClr val="bg2">
                        <a:lumMod val="2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0.6</a:t>
                </a:r>
              </a:p>
            </p:txBody>
          </p:sp>
        </p:grp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5ADE1379-C285-8882-DAAF-09FF1DBF5D80}"/>
              </a:ext>
            </a:extLst>
          </p:cNvPr>
          <p:cNvGrpSpPr/>
          <p:nvPr/>
        </p:nvGrpSpPr>
        <p:grpSpPr>
          <a:xfrm>
            <a:off x="812163" y="5039834"/>
            <a:ext cx="4852674" cy="1158654"/>
            <a:chOff x="860839" y="5039834"/>
            <a:chExt cx="4852674" cy="115865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3E44ACC-A66B-7582-3584-B8622DDD7CDD}"/>
                </a:ext>
              </a:extLst>
            </p:cNvPr>
            <p:cNvSpPr txBox="1"/>
            <p:nvPr/>
          </p:nvSpPr>
          <p:spPr>
            <a:xfrm>
              <a:off x="904010" y="5203663"/>
              <a:ext cx="476633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신용카드 결제 고객의 </a:t>
              </a:r>
              <a:r>
                <a:rPr lang="ko-KR" altLang="en-US" sz="1600" dirty="0" err="1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이탈률은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13.6%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로 계좌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/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전자결제 고객의 </a:t>
              </a:r>
              <a:r>
                <a:rPr lang="ko-KR" altLang="en-US" sz="1600" dirty="0" err="1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이탈률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32.1% 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대비 절반 이하로 낮음을 통해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ko-KR" altLang="en-US" sz="16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신용카드 결제가 고객의 이탈 장벽을 높임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을 알 수 있음</a:t>
              </a:r>
              <a:endPara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61" name="오른쪽 대괄호 60">
              <a:extLst>
                <a:ext uri="{FF2B5EF4-FFF2-40B4-BE49-F238E27FC236}">
                  <a16:creationId xmlns:a16="http://schemas.microsoft.com/office/drawing/2014/main" id="{72D2A95D-6D75-715A-530F-5839BAF80FB8}"/>
                </a:ext>
              </a:extLst>
            </p:cNvPr>
            <p:cNvSpPr/>
            <p:nvPr/>
          </p:nvSpPr>
          <p:spPr>
            <a:xfrm>
              <a:off x="5553533" y="5039834"/>
              <a:ext cx="159980" cy="1158654"/>
            </a:xfrm>
            <a:prstGeom prst="rightBracket">
              <a:avLst>
                <a:gd name="adj" fmla="val 72775"/>
              </a:avLst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오른쪽 대괄호 63">
              <a:extLst>
                <a:ext uri="{FF2B5EF4-FFF2-40B4-BE49-F238E27FC236}">
                  <a16:creationId xmlns:a16="http://schemas.microsoft.com/office/drawing/2014/main" id="{C2256447-1F40-2D59-AFBE-F83FF7C51539}"/>
                </a:ext>
              </a:extLst>
            </p:cNvPr>
            <p:cNvSpPr/>
            <p:nvPr/>
          </p:nvSpPr>
          <p:spPr>
            <a:xfrm flipH="1">
              <a:off x="860839" y="5039834"/>
              <a:ext cx="159980" cy="1158654"/>
            </a:xfrm>
            <a:prstGeom prst="rightBracket">
              <a:avLst>
                <a:gd name="adj" fmla="val 72775"/>
              </a:avLst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60D4C56B-3905-7860-D9FA-9930F2DA1B8F}"/>
              </a:ext>
            </a:extLst>
          </p:cNvPr>
          <p:cNvGrpSpPr/>
          <p:nvPr/>
        </p:nvGrpSpPr>
        <p:grpSpPr>
          <a:xfrm>
            <a:off x="6527163" y="5039834"/>
            <a:ext cx="4852674" cy="1158654"/>
            <a:chOff x="6575839" y="5039834"/>
            <a:chExt cx="4852674" cy="1158654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2CED42F-F6DC-E597-58ED-75DF33B6C9AA}"/>
                </a:ext>
              </a:extLst>
            </p:cNvPr>
            <p:cNvSpPr txBox="1"/>
            <p:nvPr/>
          </p:nvSpPr>
          <p:spPr>
            <a:xfrm>
              <a:off x="6619010" y="5203663"/>
              <a:ext cx="476633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부양자가 있는 고객의 </a:t>
              </a:r>
              <a:r>
                <a:rPr lang="ko-KR" altLang="en-US" sz="1600" dirty="0" err="1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이탈률은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6.3%, 1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인 가구의 </a:t>
              </a:r>
              <a:r>
                <a:rPr lang="ko-KR" altLang="en-US" sz="1600" dirty="0" err="1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이탈률은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29.8%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인 것으로 보아 </a:t>
              </a:r>
              <a:r>
                <a:rPr lang="ko-KR" altLang="en-US" sz="16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가족 단위 결합이 통신사 변경을 어렵게 만드는 것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을 알 수 있음</a:t>
              </a:r>
              <a:endPara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66" name="오른쪽 대괄호 65">
              <a:extLst>
                <a:ext uri="{FF2B5EF4-FFF2-40B4-BE49-F238E27FC236}">
                  <a16:creationId xmlns:a16="http://schemas.microsoft.com/office/drawing/2014/main" id="{C40541F2-8B86-B399-0F23-957A455A58F5}"/>
                </a:ext>
              </a:extLst>
            </p:cNvPr>
            <p:cNvSpPr/>
            <p:nvPr/>
          </p:nvSpPr>
          <p:spPr>
            <a:xfrm>
              <a:off x="11268533" y="5039834"/>
              <a:ext cx="159980" cy="1158654"/>
            </a:xfrm>
            <a:prstGeom prst="rightBracket">
              <a:avLst>
                <a:gd name="adj" fmla="val 72775"/>
              </a:avLst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오른쪽 대괄호 66">
              <a:extLst>
                <a:ext uri="{FF2B5EF4-FFF2-40B4-BE49-F238E27FC236}">
                  <a16:creationId xmlns:a16="http://schemas.microsoft.com/office/drawing/2014/main" id="{1ECAEEAD-FFB4-B6B3-BA78-285E82D36C22}"/>
                </a:ext>
              </a:extLst>
            </p:cNvPr>
            <p:cNvSpPr/>
            <p:nvPr/>
          </p:nvSpPr>
          <p:spPr>
            <a:xfrm flipH="1">
              <a:off x="6575839" y="5039834"/>
              <a:ext cx="159980" cy="1158654"/>
            </a:xfrm>
            <a:prstGeom prst="rightBracket">
              <a:avLst>
                <a:gd name="adj" fmla="val 72775"/>
              </a:avLst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82D827DE-0A3A-1D4F-1536-8F4822C931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EDA (</a:t>
            </a:r>
            <a:r>
              <a:rPr lang="ko-KR" altLang="en-US" dirty="0"/>
              <a:t>탐색적 데이터 분석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82489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87CEB60-1AA8-4FFC-7DBF-D1DDBA24BB8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24E44EA-8BB9-4356-A6E2-F3B626433E95}" type="slidenum">
              <a:rPr lang="ko-KR" altLang="en-US" smtClean="0"/>
              <a:pPr/>
              <a:t>27</a:t>
            </a:fld>
            <a:endParaRPr lang="ko-KR" altLang="en-US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863EB93-8BBB-AD96-1B8D-323CE4B6C8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943527" y="1198033"/>
            <a:ext cx="5139266" cy="339936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71794EC-2946-FF81-5F85-FCE183F8E60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1128" y="1168399"/>
            <a:ext cx="5063863" cy="36915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9030FB-7E93-B896-429D-60A0DE873971}"/>
              </a:ext>
            </a:extLst>
          </p:cNvPr>
          <p:cNvSpPr txBox="1"/>
          <p:nvPr/>
        </p:nvSpPr>
        <p:spPr>
          <a:xfrm>
            <a:off x="1085422" y="5276312"/>
            <a:ext cx="47663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평균과금액이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높아질수록 이탈고객이 </a:t>
            </a:r>
            <a:r>
              <a:rPr lang="ko-KR" altLang="en-US" sz="16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많아짐을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확인하여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600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금전적 부담이 이탈을 유발하는 원인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임을 알 수 있음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06B763-C49B-8B5D-E116-2F2DDD7CA428}"/>
              </a:ext>
            </a:extLst>
          </p:cNvPr>
          <p:cNvSpPr txBox="1"/>
          <p:nvPr/>
        </p:nvSpPr>
        <p:spPr>
          <a:xfrm>
            <a:off x="6661699" y="5276312"/>
            <a:ext cx="4766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데이터무제한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고객들 중에서도 </a:t>
            </a:r>
            <a:r>
              <a:rPr lang="ko-KR" altLang="en-US" sz="16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평균과금액이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높은 고객이 집중적으로 이탈하는 경향이 보임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89A1ACA-4924-AC83-6271-222FAFB87827}"/>
              </a:ext>
            </a:extLst>
          </p:cNvPr>
          <p:cNvSpPr/>
          <p:nvPr/>
        </p:nvSpPr>
        <p:spPr>
          <a:xfrm>
            <a:off x="3303509" y="3276600"/>
            <a:ext cx="1408644" cy="1193800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60C11A-4830-D79A-9721-729C026238AF}"/>
              </a:ext>
            </a:extLst>
          </p:cNvPr>
          <p:cNvSpPr txBox="1"/>
          <p:nvPr/>
        </p:nvSpPr>
        <p:spPr>
          <a:xfrm>
            <a:off x="7047695" y="4571107"/>
            <a:ext cx="3581067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BEFD4B-5E2B-E0C2-6449-E40885DF2B68}"/>
              </a:ext>
            </a:extLst>
          </p:cNvPr>
          <p:cNvSpPr txBox="1"/>
          <p:nvPr/>
        </p:nvSpPr>
        <p:spPr>
          <a:xfrm>
            <a:off x="6844135" y="4719273"/>
            <a:ext cx="1837653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 무제한 미사용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BE3458-3588-503D-8B22-31FB5EA8EEBF}"/>
              </a:ext>
            </a:extLst>
          </p:cNvPr>
          <p:cNvSpPr txBox="1"/>
          <p:nvPr/>
        </p:nvSpPr>
        <p:spPr>
          <a:xfrm>
            <a:off x="9053935" y="4719273"/>
            <a:ext cx="1837653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 무제한 사용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400FD57-2818-9461-147F-508B7A0F31ED}"/>
              </a:ext>
            </a:extLst>
          </p:cNvPr>
          <p:cNvSpPr/>
          <p:nvPr/>
        </p:nvSpPr>
        <p:spPr>
          <a:xfrm>
            <a:off x="8900509" y="1193801"/>
            <a:ext cx="2159000" cy="3312000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AEEC3B-2607-6CFD-EA42-FCA45E52D00E}"/>
              </a:ext>
            </a:extLst>
          </p:cNvPr>
          <p:cNvSpPr txBox="1"/>
          <p:nvPr/>
        </p:nvSpPr>
        <p:spPr>
          <a:xfrm>
            <a:off x="7366915" y="809790"/>
            <a:ext cx="2959559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데이터무제한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고객의 요금과 이탈관계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CA4CCA-4B11-D634-7422-0C9AF83951B4}"/>
              </a:ext>
            </a:extLst>
          </p:cNvPr>
          <p:cNvSpPr txBox="1"/>
          <p:nvPr/>
        </p:nvSpPr>
        <p:spPr>
          <a:xfrm>
            <a:off x="2015982" y="809790"/>
            <a:ext cx="2959559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평균 과금액에 따른 이탈 분포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E4F9F3-B6C1-874E-F5AC-842209B069C7}"/>
              </a:ext>
            </a:extLst>
          </p:cNvPr>
          <p:cNvSpPr txBox="1"/>
          <p:nvPr/>
        </p:nvSpPr>
        <p:spPr>
          <a:xfrm>
            <a:off x="2519785" y="4719273"/>
            <a:ext cx="1837653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월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평균 </a:t>
            </a:r>
            <a:r>
              <a:rPr lang="ko-KR" altLang="en-US" sz="14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과금액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원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9A3DD787-8410-8E97-C6A2-4A74DE451D6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41266" y="1278044"/>
            <a:ext cx="783167" cy="54398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2BD4FAD6-2E38-DE87-957F-7CCBD26152C0}"/>
              </a:ext>
            </a:extLst>
          </p:cNvPr>
          <p:cNvSpPr txBox="1"/>
          <p:nvPr/>
        </p:nvSpPr>
        <p:spPr>
          <a:xfrm>
            <a:off x="6661699" y="6003465"/>
            <a:ext cx="4766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데이터무제한이라는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서비스적 혜택보다 </a:t>
            </a:r>
            <a:r>
              <a:rPr lang="ko-KR" altLang="en-US" sz="1600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절대적인 요금 수준이 고객의 유지에 더 큰 영향을 준다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것을 알 수 있음 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CCC3D95-6561-05A5-7131-C0180246B9D8}"/>
              </a:ext>
            </a:extLst>
          </p:cNvPr>
          <p:cNvSpPr txBox="1"/>
          <p:nvPr/>
        </p:nvSpPr>
        <p:spPr>
          <a:xfrm rot="16200000">
            <a:off x="5271914" y="2669737"/>
            <a:ext cx="1380656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월</a:t>
            </a: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평균 </a:t>
            </a:r>
            <a:r>
              <a:rPr lang="ko-KR" altLang="en-US" sz="12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과금액</a:t>
            </a: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원</a:t>
            </a: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E00BAB1-D5D6-7E16-74EE-29585C264E72}"/>
              </a:ext>
            </a:extLst>
          </p:cNvPr>
          <p:cNvSpPr txBox="1"/>
          <p:nvPr/>
        </p:nvSpPr>
        <p:spPr>
          <a:xfrm rot="16200000">
            <a:off x="141650" y="2785241"/>
            <a:ext cx="1380656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Density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50CEA2A-150B-0736-3539-D090E0393567}"/>
              </a:ext>
            </a:extLst>
          </p:cNvPr>
          <p:cNvSpPr txBox="1"/>
          <p:nvPr/>
        </p:nvSpPr>
        <p:spPr>
          <a:xfrm>
            <a:off x="4785324" y="1791923"/>
            <a:ext cx="943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고객 이탈 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= 1</a:t>
            </a:r>
          </a:p>
        </p:txBody>
      </p:sp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430703BE-52DB-24FA-80CB-270AFFF14B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8321199"/>
              </p:ext>
            </p:extLst>
          </p:nvPr>
        </p:nvGraphicFramePr>
        <p:xfrm>
          <a:off x="-3777347" y="2464239"/>
          <a:ext cx="3539256" cy="23130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1ED966D-157E-0314-EA99-C2F363F48D8A}"/>
              </a:ext>
            </a:extLst>
          </p:cNvPr>
          <p:cNvSpPr txBox="1"/>
          <p:nvPr/>
        </p:nvSpPr>
        <p:spPr>
          <a:xfrm>
            <a:off x="-3505659" y="2203848"/>
            <a:ext cx="29595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총 </a:t>
            </a:r>
            <a:r>
              <a:rPr lang="ko-KR" altLang="en-US" sz="14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과금액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억원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7DF8CB0F-9B53-B465-B13A-301C36CEB3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EDA (</a:t>
            </a:r>
            <a:r>
              <a:rPr lang="ko-KR" altLang="en-US" dirty="0"/>
              <a:t>탐색적 데이터 분석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91941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774FFF24-EEE4-F209-61E6-2C6C3C201B4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000" y="887931"/>
            <a:ext cx="7382933" cy="5387368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6E177D8-6DD8-E094-543F-3DE2775F5C4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24E44EA-8BB9-4356-A6E2-F3B626433E95}" type="slidenum">
              <a:rPr lang="ko-KR" altLang="en-US" smtClean="0"/>
              <a:pPr/>
              <a:t>28</a:t>
            </a:fld>
            <a:endParaRPr lang="ko-KR" altLang="en-US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A55D57-E742-9C00-FA22-28B3A1F94602}"/>
              </a:ext>
            </a:extLst>
          </p:cNvPr>
          <p:cNvSpPr txBox="1"/>
          <p:nvPr/>
        </p:nvSpPr>
        <p:spPr>
          <a:xfrm>
            <a:off x="8279589" y="2231431"/>
            <a:ext cx="295951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평균과금액</a:t>
            </a:r>
            <a:endParaRPr lang="ko-KR" alt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영수증발급여부</a:t>
            </a:r>
          </a:p>
          <a:p>
            <a:pPr algn="ctr"/>
            <a:r>
              <a:rPr lang="ko-KR" altLang="en-US" sz="16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데이터무제한</a:t>
            </a:r>
            <a:endParaRPr lang="ko-KR" alt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연령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01D933-4F56-9427-AD90-89C78F45DA2A}"/>
              </a:ext>
            </a:extLst>
          </p:cNvPr>
          <p:cNvSpPr txBox="1"/>
          <p:nvPr/>
        </p:nvSpPr>
        <p:spPr>
          <a:xfrm>
            <a:off x="8013893" y="1110356"/>
            <a:ext cx="35810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고객이탈여부와의 상관계수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top 4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F0CEA336-C56A-C754-3B0D-50DCFC3E1F04}"/>
              </a:ext>
            </a:extLst>
          </p:cNvPr>
          <p:cNvGrpSpPr/>
          <p:nvPr/>
        </p:nvGrpSpPr>
        <p:grpSpPr>
          <a:xfrm>
            <a:off x="8294463" y="1843599"/>
            <a:ext cx="2929768" cy="1515551"/>
            <a:chOff x="1101852" y="2819603"/>
            <a:chExt cx="2665476" cy="3661207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ADA5FD2A-2FF3-5750-0B2D-043FC72BEE7E}"/>
                </a:ext>
              </a:extLst>
            </p:cNvPr>
            <p:cNvSpPr/>
            <p:nvPr/>
          </p:nvSpPr>
          <p:spPr>
            <a:xfrm>
              <a:off x="1101852" y="3166110"/>
              <a:ext cx="2665476" cy="3314700"/>
            </a:xfrm>
            <a:prstGeom prst="roundRect">
              <a:avLst/>
            </a:prstGeom>
            <a:noFill/>
            <a:ln>
              <a:solidFill>
                <a:srgbClr val="05458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0FB77DB-1EE2-B841-B5F9-6B589B3421B2}"/>
                </a:ext>
              </a:extLst>
            </p:cNvPr>
            <p:cNvSpPr txBox="1"/>
            <p:nvPr/>
          </p:nvSpPr>
          <p:spPr>
            <a:xfrm>
              <a:off x="1774768" y="2819603"/>
              <a:ext cx="1319645" cy="8178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rgbClr val="05458B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양의 상관관계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AEAF8B9-2A4E-37D9-7A43-925C740DF94F}"/>
              </a:ext>
            </a:extLst>
          </p:cNvPr>
          <p:cNvGrpSpPr/>
          <p:nvPr/>
        </p:nvGrpSpPr>
        <p:grpSpPr>
          <a:xfrm>
            <a:off x="8294463" y="3967951"/>
            <a:ext cx="2929768" cy="1524018"/>
            <a:chOff x="1101852" y="2799149"/>
            <a:chExt cx="2665476" cy="3681661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DEBFB53B-5D1F-C50D-010D-8FC4BEEAD392}"/>
                </a:ext>
              </a:extLst>
            </p:cNvPr>
            <p:cNvSpPr/>
            <p:nvPr/>
          </p:nvSpPr>
          <p:spPr>
            <a:xfrm>
              <a:off x="1101852" y="3166110"/>
              <a:ext cx="2665476" cy="3314700"/>
            </a:xfrm>
            <a:prstGeom prst="roundRect">
              <a:avLst/>
            </a:prstGeom>
            <a:noFill/>
            <a:ln>
              <a:solidFill>
                <a:srgbClr val="05458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C220CE5-BC44-875F-A327-325184DB7E77}"/>
                </a:ext>
              </a:extLst>
            </p:cNvPr>
            <p:cNvSpPr txBox="1"/>
            <p:nvPr/>
          </p:nvSpPr>
          <p:spPr>
            <a:xfrm>
              <a:off x="1774768" y="2799149"/>
              <a:ext cx="1319645" cy="8178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rgbClr val="05458B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음의 상관관계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5773CA7-849B-116E-169E-F71E752CC521}"/>
              </a:ext>
            </a:extLst>
          </p:cNvPr>
          <p:cNvSpPr txBox="1"/>
          <p:nvPr/>
        </p:nvSpPr>
        <p:spPr>
          <a:xfrm>
            <a:off x="8279589" y="4343909"/>
            <a:ext cx="295951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만족도</a:t>
            </a:r>
          </a:p>
          <a:p>
            <a:pPr algn="ctr"/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가입 기간</a:t>
            </a:r>
          </a:p>
          <a:p>
            <a:pPr algn="ctr"/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추천횟수</a:t>
            </a:r>
          </a:p>
          <a:p>
            <a:pPr algn="ctr"/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추정 </a:t>
            </a:r>
            <a:r>
              <a:rPr lang="ko-KR" altLang="en-US" sz="16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총과금액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E6950BB-E562-1446-9F44-6742B30128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변수간 상관관계</a:t>
            </a:r>
          </a:p>
        </p:txBody>
      </p:sp>
    </p:spTree>
    <p:extLst>
      <p:ext uri="{BB962C8B-B14F-4D97-AF65-F5344CB8AC3E}">
        <p14:creationId xmlns:p14="http://schemas.microsoft.com/office/powerpoint/2010/main" val="15731644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62AFD-CCA3-A700-30B5-D3CEBAAD0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E5E07A-AFC6-8D6C-4B42-CBEA1E0BFC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24E44EA-8BB9-4356-A6E2-F3B626433E95}" type="slidenum">
              <a:rPr lang="ko-KR" altLang="en-US" smtClean="0"/>
              <a:pPr/>
              <a:t>29</a:t>
            </a:fld>
            <a:endParaRPr lang="ko-KR" altLang="en-US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507C9C4-B16F-EF5F-03D0-EFDBE3E1295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74819" y="3606525"/>
            <a:ext cx="5066435" cy="265131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60C28BE-07C2-3025-0263-C93DC9F99C1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1007" y="1475653"/>
            <a:ext cx="2537779" cy="1785803"/>
          </a:xfrm>
          <a:prstGeom prst="rect">
            <a:avLst/>
          </a:prstGeom>
        </p:spPr>
      </p:pic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746F01C7-9036-40D5-87D5-8C117CEC2892}"/>
              </a:ext>
            </a:extLst>
          </p:cNvPr>
          <p:cNvSpPr/>
          <p:nvPr/>
        </p:nvSpPr>
        <p:spPr>
          <a:xfrm>
            <a:off x="5921239" y="1406248"/>
            <a:ext cx="4340366" cy="1466260"/>
          </a:xfrm>
          <a:prstGeom prst="roundRect">
            <a:avLst>
              <a:gd name="adj" fmla="val 36813"/>
            </a:avLst>
          </a:prstGeom>
          <a:noFill/>
          <a:ln>
            <a:solidFill>
              <a:srgbClr val="0545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CA9E503-B6B5-1862-35C3-B2E9294EA462}"/>
              </a:ext>
            </a:extLst>
          </p:cNvPr>
          <p:cNvSpPr txBox="1"/>
          <p:nvPr/>
        </p:nvSpPr>
        <p:spPr>
          <a:xfrm>
            <a:off x="7336117" y="1256513"/>
            <a:ext cx="150891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05458B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데이터사용료</a:t>
            </a:r>
            <a:r>
              <a:rPr lang="en-US" altLang="ko-KR" sz="1400" dirty="0">
                <a:solidFill>
                  <a:srgbClr val="05458B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=0</a:t>
            </a:r>
            <a:endParaRPr lang="ko-KR" altLang="en-US" sz="1400" dirty="0">
              <a:solidFill>
                <a:srgbClr val="05458B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71B0C85-05DD-7A92-0D9E-4847E2C4AC38}"/>
              </a:ext>
            </a:extLst>
          </p:cNvPr>
          <p:cNvSpPr txBox="1"/>
          <p:nvPr/>
        </p:nvSpPr>
        <p:spPr>
          <a:xfrm>
            <a:off x="6420910" y="2150104"/>
            <a:ext cx="14568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1,489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명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1D4B6DEE-6866-C933-CDD3-B0852603D77A}"/>
              </a:ext>
            </a:extLst>
          </p:cNvPr>
          <p:cNvSpPr/>
          <p:nvPr/>
        </p:nvSpPr>
        <p:spPr>
          <a:xfrm>
            <a:off x="6311017" y="1900509"/>
            <a:ext cx="1676676" cy="660334"/>
          </a:xfrm>
          <a:prstGeom prst="roundRect">
            <a:avLst>
              <a:gd name="adj" fmla="val 50000"/>
            </a:avLst>
          </a:prstGeom>
          <a:noFill/>
          <a:ln>
            <a:solidFill>
              <a:srgbClr val="0545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705C713-B491-2295-AF71-13F6542A51A4}"/>
              </a:ext>
            </a:extLst>
          </p:cNvPr>
          <p:cNvSpPr txBox="1"/>
          <p:nvPr/>
        </p:nvSpPr>
        <p:spPr>
          <a:xfrm>
            <a:off x="6414067" y="1794695"/>
            <a:ext cx="1470577" cy="2382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05458B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데이터사용량</a:t>
            </a:r>
            <a:r>
              <a:rPr lang="en-US" altLang="ko-KR" sz="1400" dirty="0">
                <a:solidFill>
                  <a:srgbClr val="05458B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=0</a:t>
            </a:r>
            <a:endParaRPr lang="ko-KR" altLang="en-US" sz="1400" dirty="0">
              <a:solidFill>
                <a:srgbClr val="05458B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93776A91-5E6D-15DE-D667-0E8D39D449FE}"/>
              </a:ext>
            </a:extLst>
          </p:cNvPr>
          <p:cNvSpPr/>
          <p:nvPr/>
        </p:nvSpPr>
        <p:spPr>
          <a:xfrm>
            <a:off x="8152517" y="1900509"/>
            <a:ext cx="1676676" cy="660334"/>
          </a:xfrm>
          <a:prstGeom prst="roundRect">
            <a:avLst>
              <a:gd name="adj" fmla="val 50000"/>
            </a:avLst>
          </a:prstGeom>
          <a:noFill/>
          <a:ln>
            <a:solidFill>
              <a:srgbClr val="0545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847255C-D496-CEE0-E9B9-8C486853DE0C}"/>
              </a:ext>
            </a:extLst>
          </p:cNvPr>
          <p:cNvSpPr txBox="1"/>
          <p:nvPr/>
        </p:nvSpPr>
        <p:spPr>
          <a:xfrm>
            <a:off x="8383179" y="1794695"/>
            <a:ext cx="1215353" cy="2382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05458B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 무제한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8544351-15DB-1D9B-77D9-79B7DBB4EC36}"/>
              </a:ext>
            </a:extLst>
          </p:cNvPr>
          <p:cNvSpPr txBox="1"/>
          <p:nvPr/>
        </p:nvSpPr>
        <p:spPr>
          <a:xfrm>
            <a:off x="8262410" y="2150104"/>
            <a:ext cx="14568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4,615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명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C4F1C68-6088-54BC-C3A1-9CE5850ED310}"/>
              </a:ext>
            </a:extLst>
          </p:cNvPr>
          <p:cNvSpPr txBox="1"/>
          <p:nvPr/>
        </p:nvSpPr>
        <p:spPr>
          <a:xfrm>
            <a:off x="7362130" y="2527842"/>
            <a:ext cx="14568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42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명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F18C5F3B-AC1B-CA64-E8FC-D471BE2DBFA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1007" y="3849836"/>
            <a:ext cx="2537779" cy="1820992"/>
          </a:xfrm>
          <a:prstGeom prst="rect">
            <a:avLst/>
          </a:prstGeom>
        </p:spPr>
      </p:pic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AA974E66-3383-C808-D248-CAE0B552CC0C}"/>
              </a:ext>
            </a:extLst>
          </p:cNvPr>
          <p:cNvSpPr/>
          <p:nvPr/>
        </p:nvSpPr>
        <p:spPr>
          <a:xfrm>
            <a:off x="355414" y="1088692"/>
            <a:ext cx="3689660" cy="5286708"/>
          </a:xfrm>
          <a:prstGeom prst="roundRect">
            <a:avLst>
              <a:gd name="adj" fmla="val 3453"/>
            </a:avLst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17" dirty="0">
              <a:solidFill>
                <a:srgbClr val="B96B6B"/>
              </a:solidFill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D538F828-94CE-1E2D-9E91-5DD6DE7EBA87}"/>
              </a:ext>
            </a:extLst>
          </p:cNvPr>
          <p:cNvSpPr/>
          <p:nvPr/>
        </p:nvSpPr>
        <p:spPr>
          <a:xfrm>
            <a:off x="1378195" y="746467"/>
            <a:ext cx="1644098" cy="403394"/>
          </a:xfrm>
          <a:prstGeom prst="roundRect">
            <a:avLst>
              <a:gd name="adj" fmla="val 50000"/>
            </a:avLst>
          </a:prstGeom>
          <a:solidFill>
            <a:srgbClr val="0E46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분포확인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9A53ABB4-6CEF-3BED-5879-3CDA30E379DA}"/>
              </a:ext>
            </a:extLst>
          </p:cNvPr>
          <p:cNvSpPr/>
          <p:nvPr/>
        </p:nvSpPr>
        <p:spPr>
          <a:xfrm>
            <a:off x="4254314" y="1088691"/>
            <a:ext cx="7582272" cy="1976241"/>
          </a:xfrm>
          <a:prstGeom prst="roundRect">
            <a:avLst>
              <a:gd name="adj" fmla="val 3453"/>
            </a:avLst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17" dirty="0">
              <a:solidFill>
                <a:srgbClr val="B96B6B"/>
              </a:solidFill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ECC8D267-A06D-3848-D9FC-8E4A9707FD60}"/>
              </a:ext>
            </a:extLst>
          </p:cNvPr>
          <p:cNvSpPr/>
          <p:nvPr/>
        </p:nvSpPr>
        <p:spPr>
          <a:xfrm>
            <a:off x="4468256" y="746467"/>
            <a:ext cx="1644098" cy="403394"/>
          </a:xfrm>
          <a:prstGeom prst="roundRect">
            <a:avLst>
              <a:gd name="adj" fmla="val 50000"/>
            </a:avLst>
          </a:prstGeom>
          <a:solidFill>
            <a:srgbClr val="0E46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변수간 관계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54E1830-AA96-98E4-FFD5-BD8BA39EBC58}"/>
              </a:ext>
            </a:extLst>
          </p:cNvPr>
          <p:cNvSpPr txBox="1"/>
          <p:nvPr/>
        </p:nvSpPr>
        <p:spPr>
          <a:xfrm>
            <a:off x="534642" y="5754276"/>
            <a:ext cx="40629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 사용량이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0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인 고객 </a:t>
            </a:r>
            <a:r>
              <a:rPr lang="en-US" altLang="ko-KR" sz="1600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1,489</a:t>
            </a:r>
            <a:r>
              <a:rPr lang="ko-KR" altLang="en-US" sz="1600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명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존재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0D280B5-29E2-3A4A-4F99-21DDD6015D50}"/>
              </a:ext>
            </a:extLst>
          </p:cNvPr>
          <p:cNvSpPr txBox="1"/>
          <p:nvPr/>
        </p:nvSpPr>
        <p:spPr>
          <a:xfrm>
            <a:off x="534642" y="3328576"/>
            <a:ext cx="40629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 사용료가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0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인 고객 </a:t>
            </a:r>
            <a:r>
              <a:rPr lang="en-US" altLang="ko-KR" sz="1600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6,146</a:t>
            </a:r>
            <a:r>
              <a:rPr lang="ko-KR" altLang="en-US" sz="1600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명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존재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425F1C99-DE70-F06A-4127-02B6EAE28A91}"/>
              </a:ext>
            </a:extLst>
          </p:cNvPr>
          <p:cNvSpPr/>
          <p:nvPr/>
        </p:nvSpPr>
        <p:spPr>
          <a:xfrm>
            <a:off x="1258134" y="1798320"/>
            <a:ext cx="207818" cy="125603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2F2579A-0F5B-0B08-438F-BD781958379A}"/>
              </a:ext>
            </a:extLst>
          </p:cNvPr>
          <p:cNvSpPr txBox="1"/>
          <p:nvPr/>
        </p:nvSpPr>
        <p:spPr>
          <a:xfrm>
            <a:off x="7362130" y="1521080"/>
            <a:ext cx="14568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6,146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명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F9F2045-DE31-26BC-B9A6-DDE68B45FC57}"/>
              </a:ext>
            </a:extLst>
          </p:cNvPr>
          <p:cNvSpPr/>
          <p:nvPr/>
        </p:nvSpPr>
        <p:spPr>
          <a:xfrm>
            <a:off x="9482873" y="4267929"/>
            <a:ext cx="1453022" cy="137259"/>
          </a:xfrm>
          <a:prstGeom prst="rect">
            <a:avLst/>
          </a:prstGeom>
          <a:solidFill>
            <a:srgbClr val="FFC000">
              <a:alpha val="4470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1001F60-71E7-6617-7364-1484B765A81A}"/>
              </a:ext>
            </a:extLst>
          </p:cNvPr>
          <p:cNvSpPr/>
          <p:nvPr/>
        </p:nvSpPr>
        <p:spPr>
          <a:xfrm>
            <a:off x="9482872" y="5412622"/>
            <a:ext cx="1547263" cy="137259"/>
          </a:xfrm>
          <a:prstGeom prst="rect">
            <a:avLst/>
          </a:prstGeom>
          <a:solidFill>
            <a:srgbClr val="FFC000">
              <a:alpha val="4470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EDA78E-88C0-3160-0536-0DD7A968BBCF}"/>
              </a:ext>
            </a:extLst>
          </p:cNvPr>
          <p:cNvSpPr txBox="1"/>
          <p:nvPr/>
        </p:nvSpPr>
        <p:spPr>
          <a:xfrm>
            <a:off x="9412790" y="4104346"/>
            <a:ext cx="23839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 사용료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원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 </a:t>
            </a:r>
          </a:p>
          <a:p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제공된 기본 데이터를 다 쓰고 난 뒤 발생한 </a:t>
            </a:r>
            <a:r>
              <a:rPr lang="ko-KR" altLang="en-US" sz="1600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추가 요금</a:t>
            </a:r>
            <a:endParaRPr lang="en-US" altLang="ko-KR" sz="1600" dirty="0">
              <a:solidFill>
                <a:srgbClr val="0022C3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D08578-ABA2-2472-E01A-1AFFA2F29C4E}"/>
              </a:ext>
            </a:extLst>
          </p:cNvPr>
          <p:cNvSpPr txBox="1"/>
          <p:nvPr/>
        </p:nvSpPr>
        <p:spPr>
          <a:xfrm>
            <a:off x="9412790" y="5250413"/>
            <a:ext cx="23839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 사용량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(GB) </a:t>
            </a:r>
          </a:p>
          <a:p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고객의 </a:t>
            </a:r>
            <a:r>
              <a:rPr lang="ko-KR" altLang="en-US" sz="1600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실제 사용량</a:t>
            </a:r>
            <a:r>
              <a:rPr lang="en-US" altLang="ko-KR" sz="1600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1F32CC-55E1-F92D-B22E-8A0F28D4A0CE}"/>
              </a:ext>
            </a:extLst>
          </p:cNvPr>
          <p:cNvSpPr txBox="1"/>
          <p:nvPr/>
        </p:nvSpPr>
        <p:spPr>
          <a:xfrm>
            <a:off x="6396623" y="6081946"/>
            <a:ext cx="1380656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 사용량</a:t>
            </a: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(GB)</a:t>
            </a: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4E98C478-A371-D7CB-8B2D-9B8FE570DF51}"/>
              </a:ext>
            </a:extLst>
          </p:cNvPr>
          <p:cNvSpPr/>
          <p:nvPr/>
        </p:nvSpPr>
        <p:spPr>
          <a:xfrm>
            <a:off x="4254314" y="3476292"/>
            <a:ext cx="7582272" cy="2873708"/>
          </a:xfrm>
          <a:prstGeom prst="roundRect">
            <a:avLst>
              <a:gd name="adj" fmla="val 3453"/>
            </a:avLst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17" dirty="0">
              <a:solidFill>
                <a:srgbClr val="B96B6B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371C7D-9EAA-6502-1773-5F13F0675E9D}"/>
              </a:ext>
            </a:extLst>
          </p:cNvPr>
          <p:cNvSpPr txBox="1"/>
          <p:nvPr/>
        </p:nvSpPr>
        <p:spPr>
          <a:xfrm rot="16200000">
            <a:off x="3843723" y="4777670"/>
            <a:ext cx="1380656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고객 수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16DE01C2-6F8E-8A27-71B1-74AF8EBAD248}"/>
              </a:ext>
            </a:extLst>
          </p:cNvPr>
          <p:cNvSpPr/>
          <p:nvPr/>
        </p:nvSpPr>
        <p:spPr>
          <a:xfrm>
            <a:off x="4468256" y="3134067"/>
            <a:ext cx="1644098" cy="403394"/>
          </a:xfrm>
          <a:prstGeom prst="roundRect">
            <a:avLst>
              <a:gd name="adj" fmla="val 50000"/>
            </a:avLst>
          </a:prstGeom>
          <a:solidFill>
            <a:srgbClr val="0E46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변수 정의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8601EC-6764-C8D1-D5B3-F4801758C863}"/>
              </a:ext>
            </a:extLst>
          </p:cNvPr>
          <p:cNvSpPr txBox="1"/>
          <p:nvPr/>
        </p:nvSpPr>
        <p:spPr>
          <a:xfrm>
            <a:off x="1509916" y="3819537"/>
            <a:ext cx="1380656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 사용량</a:t>
            </a: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(GB)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0C38DF-C058-491E-0277-C3DD1D22BE59}"/>
              </a:ext>
            </a:extLst>
          </p:cNvPr>
          <p:cNvSpPr txBox="1"/>
          <p:nvPr/>
        </p:nvSpPr>
        <p:spPr>
          <a:xfrm>
            <a:off x="1509916" y="1406537"/>
            <a:ext cx="1380656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 사용료</a:t>
            </a: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원</a:t>
            </a: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9F5565-E4DB-F4FE-39B9-B3B63DECDBFE}"/>
              </a:ext>
            </a:extLst>
          </p:cNvPr>
          <p:cNvSpPr txBox="1"/>
          <p:nvPr/>
        </p:nvSpPr>
        <p:spPr>
          <a:xfrm>
            <a:off x="6168125" y="3502706"/>
            <a:ext cx="1837653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고객별 데이터 사용량 분포</a:t>
            </a:r>
            <a:endParaRPr lang="en-US" altLang="ko-KR"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4520B731-4DD7-A344-728B-129C79206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분석결과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58957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ABFCCD49-8684-CA40-22DD-71C9D6F5587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24E44EA-8BB9-4356-A6E2-F3B626433E95}" type="slidenum">
              <a:rPr lang="ko-KR" altLang="en-US" smtClean="0"/>
              <a:pPr/>
              <a:t>30</a:t>
            </a:fld>
            <a:endParaRPr lang="ko-KR" altLang="en-US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332E8F4-50A9-98C2-3D62-83CF7DCD9C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377572"/>
              </p:ext>
            </p:extLst>
          </p:nvPr>
        </p:nvGraphicFramePr>
        <p:xfrm>
          <a:off x="760732" y="685165"/>
          <a:ext cx="10364468" cy="6087079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499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9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3784"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 dirty="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　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기존변수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최종변수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784">
                <a:tc rowSpan="25"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en-US" sz="1300" b="0" i="0" strike="noStrike" kern="1200" dirty="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Customer</a:t>
                      </a:r>
                      <a:endParaRPr lang="ko-KR" altLang="en-US" sz="1300" b="0" i="0" strike="noStrike" kern="1200" dirty="0">
                        <a:solidFill>
                          <a:srgbClr val="000000"/>
                        </a:solidFill>
                        <a:latin typeface="나눔스퀘어_ac Bold" charset="0"/>
                        <a:ea typeface="나눔스퀘어_ac Bold" charset="0"/>
                      </a:endParaRPr>
                    </a:p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en-US" sz="1300" b="0" i="0" strike="noStrike" kern="1200" dirty="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_data</a:t>
                      </a:r>
                      <a:endParaRPr lang="ko-KR" altLang="en-US" sz="1300" b="0" i="0" strike="noStrike" kern="1200" dirty="0">
                        <a:solidFill>
                          <a:srgbClr val="000000"/>
                        </a:solidFill>
                        <a:latin typeface="나눔스퀘어_ac Bold" charset="0"/>
                        <a:ea typeface="나눔스퀘어_ac Bold" charset="0"/>
                      </a:endParaRPr>
                    </a:p>
                  </a:txBody>
                  <a:tcPr marL="82144" marR="82144" marT="41072" marB="41072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고객</a:t>
                      </a:r>
                      <a:r>
                        <a:rPr 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ID</a:t>
                      </a:r>
                      <a:endParaRPr lang="ko-KR" altLang="en-US" sz="1300" b="0" i="0" strike="noStrike" kern="1200">
                        <a:solidFill>
                          <a:srgbClr val="000000"/>
                        </a:solidFill>
                        <a:latin typeface="나눔스퀘어_ac Bold" charset="0"/>
                        <a:ea typeface="나눔스퀘어_ac Bold" charset="0"/>
                      </a:endParaRP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x</a:t>
                      </a:r>
                      <a:endParaRPr lang="ko-KR" altLang="en-US" sz="1300" b="0" i="0" strike="noStrike" kern="1200">
                        <a:solidFill>
                          <a:srgbClr val="000000"/>
                        </a:solidFill>
                        <a:latin typeface="나눔스퀘어_ac Bold" charset="0"/>
                        <a:ea typeface="나눔스퀘어_ac Bold" charset="0"/>
                      </a:endParaRP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784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성별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x</a:t>
                      </a:r>
                      <a:endParaRPr lang="ko-KR" altLang="en-US" sz="1300" b="0" i="0" strike="noStrike" kern="1200">
                        <a:solidFill>
                          <a:srgbClr val="000000"/>
                        </a:solidFill>
                        <a:latin typeface="나눔스퀘어_ac Bold" charset="0"/>
                        <a:ea typeface="나눔스퀘어_ac Bold" charset="0"/>
                      </a:endParaRP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784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 dirty="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연령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연령대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784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 dirty="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결혼여부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결혼여부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784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 dirty="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부양자유무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부양자유무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784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 dirty="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부양자수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부양자수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784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 dirty="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추천횟수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추천횟수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784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 dirty="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영수증발급여부</a:t>
                      </a:r>
                      <a:endParaRPr lang="ko-KR" altLang="en-US" sz="800" b="0" i="0" strike="noStrike" kern="1200" dirty="0">
                        <a:solidFill>
                          <a:srgbClr val="000000"/>
                        </a:solidFill>
                        <a:latin typeface="나눔스퀘어_ac Bold" charset="0"/>
                        <a:ea typeface="나눔스퀘어_ac Bold" charset="0"/>
                      </a:endParaRP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 dirty="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영수증발급여부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784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 dirty="0" err="1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과금방식</a:t>
                      </a:r>
                      <a:endParaRPr lang="ko-KR" altLang="en-US" sz="1300" b="0" i="0" strike="noStrike" kern="1200" dirty="0">
                        <a:solidFill>
                          <a:srgbClr val="000000"/>
                        </a:solidFill>
                        <a:latin typeface="나눔스퀘어_ac Bold" charset="0"/>
                        <a:ea typeface="나눔스퀘어_ac Bold" charset="0"/>
                      </a:endParaRP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과금방식</a:t>
                      </a:r>
                      <a:r>
                        <a:rPr lang="en-US" altLang="ko-KR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_</a:t>
                      </a:r>
                      <a:r>
                        <a:rPr lang="ko-KR" alt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신용카드</a:t>
                      </a:r>
                      <a:r>
                        <a:rPr lang="en-US" altLang="ko-KR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, </a:t>
                      </a:r>
                      <a:r>
                        <a:rPr lang="ko-KR" alt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과금방식</a:t>
                      </a:r>
                      <a:r>
                        <a:rPr lang="en-US" altLang="ko-KR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_</a:t>
                      </a:r>
                      <a:r>
                        <a:rPr lang="ko-KR" alt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전자결제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784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 dirty="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보안서비스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 dirty="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부가서비스결합지수</a:t>
                      </a:r>
                    </a:p>
                  </a:txBody>
                  <a:tcPr marL="82144" marR="82144" marT="41072" marB="41072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3784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 dirty="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백업서비스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3784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 dirty="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기술지원서비스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3784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 dirty="0" err="1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데이터무제한</a:t>
                      </a:r>
                      <a:endParaRPr lang="ko-KR" altLang="en-US" sz="1300" b="0" i="0" strike="noStrike" kern="1200" dirty="0">
                        <a:solidFill>
                          <a:srgbClr val="000000"/>
                        </a:solidFill>
                        <a:latin typeface="나눔스퀘어_ac Bold" charset="0"/>
                        <a:ea typeface="나눔스퀘어_ac Bold" charset="0"/>
                      </a:endParaRP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 dirty="0" err="1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데이터무제한</a:t>
                      </a:r>
                      <a:endParaRPr lang="ko-KR" altLang="en-US" sz="1300" b="0" i="0" strike="noStrike" kern="1200" dirty="0">
                        <a:solidFill>
                          <a:srgbClr val="000000"/>
                        </a:solidFill>
                        <a:latin typeface="나눔스퀘어_ac Bold" charset="0"/>
                        <a:ea typeface="나눔스퀘어_ac Bold" charset="0"/>
                      </a:endParaRP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3784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데이터사용량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 dirty="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데이터사용량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3784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시작일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 dirty="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가입기간</a:t>
                      </a:r>
                    </a:p>
                  </a:txBody>
                  <a:tcPr marL="82144" marR="82144" marT="41072" marB="41072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3784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 dirty="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종료일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3784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고객이탈여부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 dirty="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고객이탈여부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3784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이탈가능점수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en-US" sz="1300" b="0" i="0" strike="noStrike" kern="1200" dirty="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x</a:t>
                      </a:r>
                      <a:endParaRPr lang="ko-KR" altLang="en-US" sz="1300" b="0" i="0" strike="noStrike" kern="1200" dirty="0">
                        <a:solidFill>
                          <a:srgbClr val="000000"/>
                        </a:solidFill>
                        <a:latin typeface="나눔스퀘어_ac Bold" charset="0"/>
                        <a:ea typeface="나눔스퀘어_ac Bold" charset="0"/>
                      </a:endParaRP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3784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이탈유형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en-US" sz="1300" b="0" i="0" strike="noStrike" kern="1200" dirty="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x</a:t>
                      </a:r>
                      <a:endParaRPr lang="ko-KR" altLang="en-US" sz="1300" b="0" i="0" strike="noStrike" kern="1200" dirty="0">
                        <a:solidFill>
                          <a:srgbClr val="000000"/>
                        </a:solidFill>
                        <a:latin typeface="나눔스퀘어_ac Bold" charset="0"/>
                        <a:ea typeface="나눔스퀘어_ac Bold" charset="0"/>
                      </a:endParaRP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3784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이탈사유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en-US" sz="1300" b="0" i="0" strike="noStrike" kern="1200" dirty="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x</a:t>
                      </a:r>
                      <a:endParaRPr lang="ko-KR" altLang="en-US" sz="1300" b="0" i="0" strike="noStrike" kern="1200" dirty="0">
                        <a:solidFill>
                          <a:srgbClr val="000000"/>
                        </a:solidFill>
                        <a:latin typeface="나눔스퀘어_ac Bold" charset="0"/>
                        <a:ea typeface="나눔스퀘어_ac Bold" charset="0"/>
                      </a:endParaRP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93784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LTV</a:t>
                      </a:r>
                      <a:endParaRPr lang="ko-KR" altLang="en-US" sz="1300" b="0" i="0" strike="noStrike" kern="1200">
                        <a:solidFill>
                          <a:srgbClr val="000000"/>
                        </a:solidFill>
                        <a:latin typeface="나눔스퀘어_ac Bold" charset="0"/>
                        <a:ea typeface="나눔스퀘어_ac Bold" charset="0"/>
                      </a:endParaRP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en-US" sz="1300" b="0" i="0" strike="noStrike" kern="1200" dirty="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LTV</a:t>
                      </a:r>
                      <a:endParaRPr lang="ko-KR" altLang="en-US" sz="1300" b="0" i="0" strike="noStrike" kern="1200" dirty="0">
                        <a:solidFill>
                          <a:srgbClr val="000000"/>
                        </a:solidFill>
                        <a:latin typeface="나눔스퀘어_ac Bold" charset="0"/>
                        <a:ea typeface="나눔스퀘어_ac Bold" charset="0"/>
                      </a:endParaRP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93784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만족도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 dirty="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만족도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93784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데이터사용료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 dirty="0" err="1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초과데이터과금여부</a:t>
                      </a:r>
                      <a:endParaRPr lang="ko-KR" altLang="en-US" sz="1300" b="0" i="0" strike="noStrike" kern="1200" dirty="0">
                        <a:solidFill>
                          <a:srgbClr val="000000"/>
                        </a:solidFill>
                        <a:latin typeface="나눔스퀘어_ac Bold" charset="0"/>
                        <a:ea typeface="나눔스퀘어_ac Bold" charset="0"/>
                      </a:endParaRP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93784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로밍사용료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en-US" sz="1300" b="0" i="0" strike="noStrike" kern="1200" dirty="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x</a:t>
                      </a:r>
                      <a:endParaRPr lang="ko-KR" altLang="en-US" sz="1300" b="0" i="0" strike="noStrike" kern="1200" dirty="0">
                        <a:solidFill>
                          <a:srgbClr val="000000"/>
                        </a:solidFill>
                        <a:latin typeface="나눔스퀘어_ac Bold" charset="0"/>
                        <a:ea typeface="나눔스퀘어_ac Bold" charset="0"/>
                      </a:endParaRP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93784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총로밍요금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 dirty="0" err="1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총로밍요금</a:t>
                      </a:r>
                      <a:endParaRPr lang="ko-KR" altLang="en-US" sz="1300" b="0" i="0" strike="noStrike" kern="1200" dirty="0">
                        <a:solidFill>
                          <a:srgbClr val="000000"/>
                        </a:solidFill>
                        <a:latin typeface="나눔스퀘어_ac Bold" charset="0"/>
                        <a:ea typeface="나눔스퀘어_ac Bold" charset="0"/>
                      </a:endParaRP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93784">
                <a:tc rowSpan="3"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Charge</a:t>
                      </a:r>
                      <a:endParaRPr lang="ko-KR" altLang="en-US" sz="1300" b="0" i="0" strike="noStrike" kern="1200">
                        <a:solidFill>
                          <a:srgbClr val="000000"/>
                        </a:solidFill>
                        <a:latin typeface="나눔스퀘어_ac Bold" charset="0"/>
                        <a:ea typeface="나눔스퀘어_ac Bold" charset="0"/>
                      </a:endParaRPr>
                    </a:p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_data</a:t>
                      </a:r>
                      <a:endParaRPr lang="ko-KR" altLang="en-US" sz="1300" b="0" i="0" strike="noStrike" kern="1200">
                        <a:solidFill>
                          <a:srgbClr val="000000"/>
                        </a:solidFill>
                        <a:latin typeface="나눔스퀘어_ac Bold" charset="0"/>
                        <a:ea typeface="나눔스퀘어_ac Bold" charset="0"/>
                      </a:endParaRPr>
                    </a:p>
                  </a:txBody>
                  <a:tcPr marL="82144" marR="82144" marT="41072" marB="41072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고객</a:t>
                      </a:r>
                      <a:r>
                        <a:rPr 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ID</a:t>
                      </a:r>
                      <a:endParaRPr lang="ko-KR" altLang="en-US" sz="1300" b="0" i="0" strike="noStrike" kern="1200">
                        <a:solidFill>
                          <a:srgbClr val="000000"/>
                        </a:solidFill>
                        <a:latin typeface="나눔스퀘어_ac Bold" charset="0"/>
                        <a:ea typeface="나눔스퀘어_ac Bold" charset="0"/>
                      </a:endParaRP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en-US" sz="1300" b="0" i="0" strike="noStrike" kern="1200" dirty="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x</a:t>
                      </a:r>
                      <a:endParaRPr lang="ko-KR" altLang="en-US" sz="1300" b="0" i="0" strike="noStrike" kern="1200" dirty="0">
                        <a:solidFill>
                          <a:srgbClr val="000000"/>
                        </a:solidFill>
                        <a:latin typeface="나눔스퀘어_ac Bold" charset="0"/>
                        <a:ea typeface="나눔스퀘어_ac Bold" charset="0"/>
                      </a:endParaRP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93784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과금일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en-US" altLang="ko-KR" sz="1300" b="0" i="0" strike="noStrike" kern="1200" dirty="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x</a:t>
                      </a:r>
                      <a:endParaRPr lang="ko-KR" altLang="en-US" sz="1300" b="0" i="0" strike="noStrike" kern="1200" dirty="0">
                        <a:solidFill>
                          <a:srgbClr val="000000"/>
                        </a:solidFill>
                        <a:latin typeface="나눔스퀘어_ac Bold" charset="0"/>
                        <a:ea typeface="나눔스퀘어_ac Bold" charset="0"/>
                      </a:endParaRP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93784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과금액</a:t>
                      </a: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 dirty="0" err="1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평균과금액</a:t>
                      </a:r>
                      <a:r>
                        <a:rPr lang="en-US" altLang="ko-KR" sz="1300" b="0" i="0" strike="noStrike" kern="1200" dirty="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, </a:t>
                      </a:r>
                      <a:r>
                        <a:rPr lang="ko-KR" altLang="en-US" sz="1300" b="0" i="0" strike="noStrike" kern="1200" dirty="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추정 </a:t>
                      </a:r>
                      <a:r>
                        <a:rPr lang="ko-KR" altLang="en-US" sz="1300" b="0" i="0" strike="noStrike" kern="1200" dirty="0" err="1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총금액</a:t>
                      </a:r>
                      <a:endParaRPr lang="ko-KR" altLang="en-US" sz="1300" b="0" i="0" strike="noStrike" kern="1200" dirty="0">
                        <a:solidFill>
                          <a:srgbClr val="000000"/>
                        </a:solidFill>
                        <a:latin typeface="나눔스퀘어_ac Bold" charset="0"/>
                        <a:ea typeface="나눔스퀘어_ac Bold" charset="0"/>
                      </a:endParaRP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261006">
                <a:tc gridSpan="2"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파생변수</a:t>
                      </a:r>
                    </a:p>
                  </a:txBody>
                  <a:tcPr marL="82144" marR="82144" marT="41072" marB="41072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fontAlgn="ctr">
                        <a:buFontTx/>
                        <a:buNone/>
                      </a:pPr>
                      <a:r>
                        <a:rPr lang="ko-KR" altLang="en-US" sz="1300" b="0" i="0" strike="noStrike" kern="1200" dirty="0" err="1">
                          <a:solidFill>
                            <a:srgbClr val="000000"/>
                          </a:solidFill>
                          <a:latin typeface="나눔스퀘어_ac Bold" charset="0"/>
                          <a:ea typeface="나눔스퀘어_ac Bold" charset="0"/>
                        </a:rPr>
                        <a:t>데이터가성비지수</a:t>
                      </a:r>
                      <a:endParaRPr lang="ko-KR" altLang="en-US" sz="1300" b="0" i="0" strike="noStrike" kern="1200" dirty="0">
                        <a:solidFill>
                          <a:srgbClr val="000000"/>
                        </a:solidFill>
                        <a:latin typeface="나눔스퀘어_ac Bold" charset="0"/>
                        <a:ea typeface="나눔스퀘어_ac Bold" charset="0"/>
                      </a:endParaRPr>
                    </a:p>
                  </a:txBody>
                  <a:tcPr marL="2115" marR="2115" marT="2115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</a:tbl>
          </a:graphicData>
        </a:graphic>
      </p:graphicFrame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33DCAE6-F9CE-B38F-C50B-F329EDD84E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데이터 변수</a:t>
            </a:r>
          </a:p>
        </p:txBody>
      </p:sp>
    </p:spTree>
    <p:extLst>
      <p:ext uri="{BB962C8B-B14F-4D97-AF65-F5344CB8AC3E}">
        <p14:creationId xmlns:p14="http://schemas.microsoft.com/office/powerpoint/2010/main" val="30532569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슬라이드 번호 개체 틀 148">
            <a:extLst>
              <a:ext uri="{FF2B5EF4-FFF2-40B4-BE49-F238E27FC236}">
                <a16:creationId xmlns:a16="http://schemas.microsoft.com/office/drawing/2014/main" id="{0AAE0EA4-305C-F7E4-9049-102F425DB7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24E44EA-8BB9-4356-A6E2-F3B626433E95}" type="slidenum">
              <a:rPr lang="ko-KR" altLang="en-US" smtClean="0"/>
              <a:pPr/>
              <a:t>31</a:t>
            </a:fld>
            <a:endParaRPr lang="ko-KR" altLang="en-US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26BC9FB-DB70-34FD-A541-F233D101AEFB}"/>
              </a:ext>
            </a:extLst>
          </p:cNvPr>
          <p:cNvGrpSpPr/>
          <p:nvPr/>
        </p:nvGrpSpPr>
        <p:grpSpPr>
          <a:xfrm>
            <a:off x="8168447" y="1064123"/>
            <a:ext cx="3441240" cy="2449098"/>
            <a:chOff x="726247" y="1064123"/>
            <a:chExt cx="3441240" cy="244909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09C7ECF-B974-822C-63D6-8DDCD146716A}"/>
                </a:ext>
              </a:extLst>
            </p:cNvPr>
            <p:cNvSpPr/>
            <p:nvPr/>
          </p:nvSpPr>
          <p:spPr>
            <a:xfrm>
              <a:off x="726247" y="1247003"/>
              <a:ext cx="3441240" cy="2266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49AC91DA-E713-044F-EF75-552A3A227EC2}"/>
                </a:ext>
              </a:extLst>
            </p:cNvPr>
            <p:cNvGrpSpPr/>
            <p:nvPr/>
          </p:nvGrpSpPr>
          <p:grpSpPr>
            <a:xfrm>
              <a:off x="1024949" y="1064123"/>
              <a:ext cx="2843836" cy="407562"/>
              <a:chOff x="1024949" y="1064123"/>
              <a:chExt cx="2843836" cy="407562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AF108884-427F-A1EF-845C-E6F6B62407F9}"/>
                  </a:ext>
                </a:extLst>
              </p:cNvPr>
              <p:cNvSpPr/>
              <p:nvPr/>
            </p:nvSpPr>
            <p:spPr>
              <a:xfrm>
                <a:off x="1024949" y="1064123"/>
                <a:ext cx="2843836" cy="40756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0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BD46ADC-BC82-F6F6-71E4-AB4CD60C43AD}"/>
                  </a:ext>
                </a:extLst>
              </p:cNvPr>
              <p:cNvSpPr txBox="1"/>
              <p:nvPr/>
            </p:nvSpPr>
            <p:spPr>
              <a:xfrm>
                <a:off x="1183777" y="1103312"/>
                <a:ext cx="2526181" cy="32918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82159" tIns="41080" rIns="82159" bIns="4108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ko-KR" altLang="en-US" sz="16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추정 총 </a:t>
                </a:r>
                <a:r>
                  <a:rPr lang="ko-KR" altLang="en-US" sz="1600" dirty="0" err="1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과금액</a:t>
                </a:r>
                <a:endPara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102917A-BA3B-4DED-F002-93E05696A49F}"/>
                    </a:ext>
                  </a:extLst>
                </p:cNvPr>
                <p:cNvSpPr txBox="1"/>
                <p:nvPr/>
              </p:nvSpPr>
              <p:spPr>
                <a:xfrm>
                  <a:off x="1298603" y="2720839"/>
                  <a:ext cx="2296528" cy="567006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82159" tIns="41080" rIns="82159" bIns="4108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  <a:ea typeface="나눔스퀘어_ac Bold" panose="020B0600000101010101" pitchFamily="50" charset="-127"/>
                              </a:rPr>
                            </m:ctrlPr>
                          </m:dPr>
                          <m:e>
                            <m:r>
                              <a:rPr lang="ko-KR" altLang="en-US" sz="1400" i="1">
                                <a:latin typeface="Cambria Math" panose="02040503050406030204" pitchFamily="18" charset="0"/>
                                <a:ea typeface="나눔스퀘어_ac Bold" panose="020B0600000101010101" pitchFamily="50" charset="-127"/>
                              </a:rPr>
                              <m:t>평균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나눔스퀘어_ac Bold" panose="020B0600000101010101" pitchFamily="50" charset="-127"/>
                              </a:rPr>
                              <m:t> 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  <a:ea typeface="나눔스퀘어_ac Bold" panose="020B0600000101010101" pitchFamily="50" charset="-127"/>
                              </a:rPr>
                              <m:t>과금액</m:t>
                            </m:r>
                          </m:e>
                        </m:d>
                        <m: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  <a:ea typeface="나눔스퀘어_ac Bold" panose="020B0600000101010101" pitchFamily="50" charset="-127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</m:ctrlPr>
                              </m:fPr>
                              <m:num>
                                <m:r>
                                  <a:rPr lang="ko-KR" altLang="en-US" sz="1400" i="1"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가입기간</m:t>
                                </m:r>
                              </m:num>
                              <m:den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30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en-US" altLang="ko-KR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3B071525-50D1-1A19-0EA3-F6C2878E21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8603" y="2720839"/>
                  <a:ext cx="2296528" cy="56700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BE4FF004-0182-9445-6D0C-351D1AD67859}"/>
                </a:ext>
              </a:extLst>
            </p:cNvPr>
            <p:cNvCxnSpPr>
              <a:cxnSpLocks/>
            </p:cNvCxnSpPr>
            <p:nvPr/>
          </p:nvCxnSpPr>
          <p:spPr>
            <a:xfrm>
              <a:off x="1024867" y="2556934"/>
              <a:ext cx="2844000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51FAC22-165A-0983-89C2-86C503822FB5}"/>
              </a:ext>
            </a:extLst>
          </p:cNvPr>
          <p:cNvSpPr/>
          <p:nvPr/>
        </p:nvSpPr>
        <p:spPr>
          <a:xfrm>
            <a:off x="8839441" y="1995138"/>
            <a:ext cx="2152800" cy="97119"/>
          </a:xfrm>
          <a:prstGeom prst="rect">
            <a:avLst/>
          </a:prstGeom>
          <a:solidFill>
            <a:schemeClr val="bg2">
              <a:lumMod val="90000"/>
              <a:alpha val="4470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B1D0BD6-454D-1576-1973-18C966A49C13}"/>
              </a:ext>
            </a:extLst>
          </p:cNvPr>
          <p:cNvGrpSpPr/>
          <p:nvPr/>
        </p:nvGrpSpPr>
        <p:grpSpPr>
          <a:xfrm>
            <a:off x="582313" y="1064123"/>
            <a:ext cx="3441240" cy="2449098"/>
            <a:chOff x="726247" y="1064123"/>
            <a:chExt cx="3441240" cy="2449098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7CE60AC-37FC-0A41-6765-98EBF198A311}"/>
                </a:ext>
              </a:extLst>
            </p:cNvPr>
            <p:cNvSpPr/>
            <p:nvPr/>
          </p:nvSpPr>
          <p:spPr>
            <a:xfrm>
              <a:off x="726247" y="1247003"/>
              <a:ext cx="3441240" cy="2266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1413144B-76A6-8D83-DA1F-6E2E6F9B8F8F}"/>
                </a:ext>
              </a:extLst>
            </p:cNvPr>
            <p:cNvGrpSpPr/>
            <p:nvPr/>
          </p:nvGrpSpPr>
          <p:grpSpPr>
            <a:xfrm>
              <a:off x="1024949" y="1064123"/>
              <a:ext cx="2843836" cy="407562"/>
              <a:chOff x="1024949" y="1064123"/>
              <a:chExt cx="2843836" cy="407562"/>
            </a:xfrm>
          </p:grpSpPr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9560D560-C710-F5FD-6538-6078C2C356A9}"/>
                  </a:ext>
                </a:extLst>
              </p:cNvPr>
              <p:cNvSpPr/>
              <p:nvPr/>
            </p:nvSpPr>
            <p:spPr>
              <a:xfrm>
                <a:off x="1024949" y="1064123"/>
                <a:ext cx="2843836" cy="40756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0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E28D4EF-D2D1-677E-95C7-703EFA9A83D8}"/>
                  </a:ext>
                </a:extLst>
              </p:cNvPr>
              <p:cNvSpPr txBox="1"/>
              <p:nvPr/>
            </p:nvSpPr>
            <p:spPr>
              <a:xfrm>
                <a:off x="1183777" y="1103312"/>
                <a:ext cx="2526181" cy="32918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82159" tIns="41080" rIns="82159" bIns="4108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ko-KR" altLang="en-US" sz="16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평균 </a:t>
                </a:r>
                <a:r>
                  <a:rPr lang="ko-KR" altLang="en-US" sz="1600" dirty="0" err="1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과금액</a:t>
                </a:r>
                <a:endPara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F9570CE-B461-76DA-05A5-694160E254F7}"/>
                    </a:ext>
                  </a:extLst>
                </p:cNvPr>
                <p:cNvSpPr txBox="1"/>
                <p:nvPr/>
              </p:nvSpPr>
              <p:spPr>
                <a:xfrm>
                  <a:off x="1584160" y="2720839"/>
                  <a:ext cx="1725415" cy="530777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82159" tIns="41080" rIns="82159" bIns="4108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  <a:ea typeface="나눔스퀘어_ac Bold" panose="020B0600000101010101" pitchFamily="50" charset="-127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m:rPr>
                                    <m:nor/>
                                  </m:rPr>
                                  <a:rPr lang="en-US" altLang="ko-KR" sz="1400" b="0" i="0" smtClean="0"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ko-KR" altLang="en-US" sz="1400" dirty="0">
                                    <a:latin typeface="나눔스퀘어_ac Bold" panose="020B0600000101010101" pitchFamily="50" charset="-127"/>
                                    <a:ea typeface="나눔스퀘어_ac Bold" panose="020B0600000101010101" pitchFamily="50" charset="-127"/>
                                  </a:rPr>
                                  <m:t>과금액</m:t>
                                </m:r>
                                <m:r>
                                  <m:rPr>
                                    <m:nor/>
                                  </m:rPr>
                                  <a:rPr lang="en-US" altLang="ko-KR" sz="1400" dirty="0">
                                    <a:latin typeface="나눔스퀘어_ac Bold" panose="020B0600000101010101" pitchFamily="50" charset="-127"/>
                                    <a:ea typeface="나눔스퀘어_ac Bold" panose="020B0600000101010101" pitchFamily="50" charset="-127"/>
                                  </a:rPr>
                                  <m:t>)</m:t>
                                </m:r>
                              </m:e>
                            </m:nary>
                          </m:num>
                          <m:den>
                            <m:r>
                              <a:rPr lang="ko-KR" altLang="en-US" sz="1400" i="1" dirty="0">
                                <a:latin typeface="Cambria Math" panose="02040503050406030204" pitchFamily="18" charset="0"/>
                                <a:ea typeface="나눔스퀘어_ac Bold" panose="020B0600000101010101" pitchFamily="50" charset="-127"/>
                              </a:rPr>
                              <m:t>과</m:t>
                            </m:r>
                            <m:r>
                              <a:rPr lang="ko-KR" altLang="en-US" sz="1400" i="1" dirty="0" smtClean="0">
                                <a:latin typeface="Cambria Math" panose="02040503050406030204" pitchFamily="18" charset="0"/>
                                <a:ea typeface="나눔스퀘어_ac Bold" panose="020B0600000101010101" pitchFamily="50" charset="-127"/>
                              </a:rPr>
                              <m:t>금</m:t>
                            </m:r>
                            <m:r>
                              <a:rPr lang="en-US" altLang="ko-KR" sz="1400" b="0" i="1" dirty="0" smtClean="0">
                                <a:latin typeface="Cambria Math" panose="02040503050406030204" pitchFamily="18" charset="0"/>
                                <a:ea typeface="나눔스퀘어_ac Bold" panose="020B0600000101010101" pitchFamily="50" charset="-127"/>
                              </a:rPr>
                              <m:t> </m:t>
                            </m:r>
                            <m:r>
                              <a:rPr lang="ko-KR" altLang="en-US" sz="1400" i="1" dirty="0">
                                <a:latin typeface="Cambria Math" panose="02040503050406030204" pitchFamily="18" charset="0"/>
                                <a:ea typeface="나눔스퀘어_ac Bold" panose="020B0600000101010101" pitchFamily="50" charset="-127"/>
                              </a:rPr>
                              <m:t>횟</m:t>
                            </m:r>
                            <m:r>
                              <a:rPr lang="ko-KR" altLang="en-US" sz="1400" i="1" dirty="0" smtClean="0">
                                <a:latin typeface="Cambria Math" panose="02040503050406030204" pitchFamily="18" charset="0"/>
                                <a:ea typeface="나눔스퀘어_ac Bold" panose="020B0600000101010101" pitchFamily="50" charset="-127"/>
                              </a:rPr>
                              <m:t>수</m:t>
                            </m:r>
                          </m:den>
                        </m:f>
                      </m:oMath>
                    </m:oMathPara>
                  </a14:m>
                  <a:endParaRPr lang="en-US" altLang="ko-KR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ACC9633C-0D83-4B17-4332-45F939620C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4160" y="2720839"/>
                  <a:ext cx="1725415" cy="530777"/>
                </a:xfrm>
                <a:prstGeom prst="rect">
                  <a:avLst/>
                </a:prstGeom>
                <a:blipFill>
                  <a:blip r:embed="rId4"/>
                  <a:stretch>
                    <a:fillRect t="-59770" b="-5057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E2F62E2-468F-47E2-34DF-D300EC48D99E}"/>
                </a:ext>
              </a:extLst>
            </p:cNvPr>
            <p:cNvSpPr txBox="1"/>
            <p:nvPr/>
          </p:nvSpPr>
          <p:spPr>
            <a:xfrm>
              <a:off x="918528" y="1649663"/>
              <a:ext cx="3056679" cy="72929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82159" tIns="41080" rIns="82159" bIns="4108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평균 과금액이 높아질수록 이탈고객이 </a:t>
              </a:r>
              <a:r>
                <a:rPr lang="ko-KR" altLang="en-US" sz="1400" dirty="0" err="1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많아짐을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확인하여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,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금전적 부담이 이탈을 유발하는 원인임을 알 수 있음</a:t>
              </a:r>
              <a:endPara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DBBFBC43-B1EE-8434-903B-16E5D2FDB4D5}"/>
                </a:ext>
              </a:extLst>
            </p:cNvPr>
            <p:cNvCxnSpPr>
              <a:cxnSpLocks/>
            </p:cNvCxnSpPr>
            <p:nvPr/>
          </p:nvCxnSpPr>
          <p:spPr>
            <a:xfrm>
              <a:off x="1024867" y="2556934"/>
              <a:ext cx="2844000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F339735-5D50-D78F-3AA4-6A3490D7672A}"/>
              </a:ext>
            </a:extLst>
          </p:cNvPr>
          <p:cNvGrpSpPr/>
          <p:nvPr/>
        </p:nvGrpSpPr>
        <p:grpSpPr>
          <a:xfrm>
            <a:off x="4375380" y="1064123"/>
            <a:ext cx="3441240" cy="2449098"/>
            <a:chOff x="726247" y="1064123"/>
            <a:chExt cx="3441240" cy="2449098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C0954D95-E9EC-704F-CAD3-F925A8AB22D9}"/>
                </a:ext>
              </a:extLst>
            </p:cNvPr>
            <p:cNvSpPr/>
            <p:nvPr/>
          </p:nvSpPr>
          <p:spPr>
            <a:xfrm>
              <a:off x="726247" y="1247003"/>
              <a:ext cx="3441240" cy="2266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4A11F577-0FCC-803D-33F6-4D67EA6DCA00}"/>
                </a:ext>
              </a:extLst>
            </p:cNvPr>
            <p:cNvGrpSpPr/>
            <p:nvPr/>
          </p:nvGrpSpPr>
          <p:grpSpPr>
            <a:xfrm>
              <a:off x="1024949" y="1064123"/>
              <a:ext cx="2843836" cy="407562"/>
              <a:chOff x="1024949" y="1064123"/>
              <a:chExt cx="2843836" cy="407562"/>
            </a:xfrm>
          </p:grpSpPr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D732F60C-8962-97D3-8D2E-3470EEB94E1F}"/>
                  </a:ext>
                </a:extLst>
              </p:cNvPr>
              <p:cNvSpPr/>
              <p:nvPr/>
            </p:nvSpPr>
            <p:spPr>
              <a:xfrm>
                <a:off x="1024949" y="1064123"/>
                <a:ext cx="2843836" cy="40756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0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E96CFD3-1035-5480-2A88-72E0E445B4AE}"/>
                  </a:ext>
                </a:extLst>
              </p:cNvPr>
              <p:cNvSpPr txBox="1"/>
              <p:nvPr/>
            </p:nvSpPr>
            <p:spPr>
              <a:xfrm>
                <a:off x="1183777" y="1103312"/>
                <a:ext cx="2526181" cy="32918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82159" tIns="41080" rIns="82159" bIns="4108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ko-KR" altLang="en-US" sz="16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초과 데이터 </a:t>
                </a:r>
                <a:r>
                  <a:rPr lang="ko-KR" altLang="en-US" sz="1600" dirty="0" err="1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과금여부</a:t>
                </a:r>
                <a:endPara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D56F4B4-CB75-EF4D-9D0A-E0E992DDA796}"/>
                </a:ext>
              </a:extLst>
            </p:cNvPr>
            <p:cNvSpPr txBox="1"/>
            <p:nvPr/>
          </p:nvSpPr>
          <p:spPr>
            <a:xfrm>
              <a:off x="1584160" y="2771288"/>
              <a:ext cx="1725415" cy="51385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82159" tIns="41080" rIns="82159" bIns="4108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초과 사용 시 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</a:t>
              </a:r>
            </a:p>
            <a:p>
              <a:pPr algn="ctr"/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아닐 시 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AE89EA4-5B64-D99C-B692-17DB05DC5F74}"/>
                </a:ext>
              </a:extLst>
            </p:cNvPr>
            <p:cNvSpPr txBox="1"/>
            <p:nvPr/>
          </p:nvSpPr>
          <p:spPr>
            <a:xfrm>
              <a:off x="918528" y="1649663"/>
              <a:ext cx="3056679" cy="72929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82159" tIns="41080" rIns="82159" bIns="4108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75%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이상이 데이터 사용료 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0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원으로 나타났고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, 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초과 사용 요금으로 판단해 수치형보다 범주형 파생변수로 생성</a:t>
              </a:r>
              <a:endPara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C91B4857-B8CC-4FB9-B518-4AB6EA89FE8D}"/>
                </a:ext>
              </a:extLst>
            </p:cNvPr>
            <p:cNvCxnSpPr>
              <a:cxnSpLocks/>
            </p:cNvCxnSpPr>
            <p:nvPr/>
          </p:nvCxnSpPr>
          <p:spPr>
            <a:xfrm>
              <a:off x="1024867" y="2556934"/>
              <a:ext cx="2844000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6ADFB41-C098-B6C2-000F-81AC445A396B}"/>
              </a:ext>
            </a:extLst>
          </p:cNvPr>
          <p:cNvGrpSpPr/>
          <p:nvPr/>
        </p:nvGrpSpPr>
        <p:grpSpPr>
          <a:xfrm>
            <a:off x="2506044" y="3866866"/>
            <a:ext cx="3441240" cy="2449098"/>
            <a:chOff x="726247" y="1064123"/>
            <a:chExt cx="3441240" cy="2449098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38D07732-E5B8-274E-127D-0CA20D9D1C92}"/>
                </a:ext>
              </a:extLst>
            </p:cNvPr>
            <p:cNvSpPr/>
            <p:nvPr/>
          </p:nvSpPr>
          <p:spPr>
            <a:xfrm>
              <a:off x="726247" y="1247003"/>
              <a:ext cx="3441240" cy="2266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DAB913C3-B489-CE45-5843-D601D90C6618}"/>
                </a:ext>
              </a:extLst>
            </p:cNvPr>
            <p:cNvGrpSpPr/>
            <p:nvPr/>
          </p:nvGrpSpPr>
          <p:grpSpPr>
            <a:xfrm>
              <a:off x="1024949" y="1064123"/>
              <a:ext cx="2843836" cy="407562"/>
              <a:chOff x="1024949" y="1064123"/>
              <a:chExt cx="2843836" cy="407562"/>
            </a:xfrm>
          </p:grpSpPr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143BA093-0023-5850-A228-779E34B11F02}"/>
                  </a:ext>
                </a:extLst>
              </p:cNvPr>
              <p:cNvSpPr/>
              <p:nvPr/>
            </p:nvSpPr>
            <p:spPr>
              <a:xfrm>
                <a:off x="1024949" y="1064123"/>
                <a:ext cx="2843836" cy="40756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0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AD4BD47-454C-A70A-079E-71C990460B6C}"/>
                  </a:ext>
                </a:extLst>
              </p:cNvPr>
              <p:cNvSpPr txBox="1"/>
              <p:nvPr/>
            </p:nvSpPr>
            <p:spPr>
              <a:xfrm>
                <a:off x="1183777" y="1103312"/>
                <a:ext cx="2526181" cy="32918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82159" tIns="41080" rIns="82159" bIns="4108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ko-KR" altLang="en-US" sz="16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부가서비스 결합지수</a:t>
                </a:r>
                <a:endPara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94FB283-E838-0EA3-1A12-F1C9387D7CE6}"/>
                </a:ext>
              </a:extLst>
            </p:cNvPr>
            <p:cNvSpPr txBox="1"/>
            <p:nvPr/>
          </p:nvSpPr>
          <p:spPr>
            <a:xfrm>
              <a:off x="1584160" y="2854189"/>
              <a:ext cx="1725415" cy="29840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82159" tIns="41080" rIns="82159" bIns="4108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0,1,2,3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12BC97E-41BB-E0ED-485C-E2D1E18FB529}"/>
                </a:ext>
              </a:extLst>
            </p:cNvPr>
            <p:cNvSpPr txBox="1"/>
            <p:nvPr/>
          </p:nvSpPr>
          <p:spPr>
            <a:xfrm>
              <a:off x="918528" y="1649663"/>
              <a:ext cx="3056679" cy="72929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82159" tIns="41080" rIns="82159" bIns="4108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보안서비스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, 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백업서비스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, 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기술지원서비스를 각각 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0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과 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로 흩어놓는 것보다 </a:t>
              </a:r>
              <a:r>
                <a:rPr lang="ko-KR" altLang="en-US" sz="14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고객이 사용 중인 부가서비스의 개수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로 표현</a:t>
              </a:r>
              <a:endPara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3741237C-1E0E-8F58-0F20-C7D6707C45DD}"/>
                </a:ext>
              </a:extLst>
            </p:cNvPr>
            <p:cNvCxnSpPr>
              <a:cxnSpLocks/>
            </p:cNvCxnSpPr>
            <p:nvPr/>
          </p:nvCxnSpPr>
          <p:spPr>
            <a:xfrm>
              <a:off x="1024867" y="2556934"/>
              <a:ext cx="2844000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8380BB53-1BEA-ED51-7E17-999BFF921075}"/>
              </a:ext>
            </a:extLst>
          </p:cNvPr>
          <p:cNvGrpSpPr/>
          <p:nvPr/>
        </p:nvGrpSpPr>
        <p:grpSpPr>
          <a:xfrm>
            <a:off x="6245904" y="3866866"/>
            <a:ext cx="3441240" cy="2449098"/>
            <a:chOff x="726247" y="1064123"/>
            <a:chExt cx="3441240" cy="2449098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7F4D5F84-280B-E135-DAA2-574B7389F326}"/>
                </a:ext>
              </a:extLst>
            </p:cNvPr>
            <p:cNvSpPr/>
            <p:nvPr/>
          </p:nvSpPr>
          <p:spPr>
            <a:xfrm>
              <a:off x="726247" y="1247003"/>
              <a:ext cx="3441240" cy="2266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973410B0-FF13-B69A-C8C1-C4885C4EBF3E}"/>
                </a:ext>
              </a:extLst>
            </p:cNvPr>
            <p:cNvGrpSpPr/>
            <p:nvPr/>
          </p:nvGrpSpPr>
          <p:grpSpPr>
            <a:xfrm>
              <a:off x="1024949" y="1064123"/>
              <a:ext cx="2843836" cy="407562"/>
              <a:chOff x="1024949" y="1064123"/>
              <a:chExt cx="2843836" cy="407562"/>
            </a:xfrm>
          </p:grpSpPr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170CF98C-105C-C8C7-4D37-53F253560179}"/>
                  </a:ext>
                </a:extLst>
              </p:cNvPr>
              <p:cNvSpPr/>
              <p:nvPr/>
            </p:nvSpPr>
            <p:spPr>
              <a:xfrm>
                <a:off x="1024949" y="1064123"/>
                <a:ext cx="2843836" cy="40756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0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1E7686B-E34D-6819-E1D4-3B492B7EA5B9}"/>
                  </a:ext>
                </a:extLst>
              </p:cNvPr>
              <p:cNvSpPr txBox="1"/>
              <p:nvPr/>
            </p:nvSpPr>
            <p:spPr>
              <a:xfrm>
                <a:off x="1183777" y="1103312"/>
                <a:ext cx="2526181" cy="32918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82159" tIns="41080" rIns="82159" bIns="4108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ko-KR" altLang="en-US" sz="16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연령대</a:t>
                </a:r>
                <a:endPara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010B025-227E-95D6-E370-315DDC5CD5E2}"/>
                </a:ext>
              </a:extLst>
            </p:cNvPr>
            <p:cNvSpPr txBox="1"/>
            <p:nvPr/>
          </p:nvSpPr>
          <p:spPr>
            <a:xfrm>
              <a:off x="1402991" y="2764982"/>
              <a:ext cx="2087753" cy="51385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82159" tIns="41080" rIns="82159" bIns="4108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20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대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, 30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대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, 40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대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, </a:t>
              </a:r>
            </a:p>
            <a:p>
              <a:pPr algn="ctr"/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50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대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, 60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대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, 70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대</a:t>
              </a:r>
              <a:r>
                <a: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, 80</a:t>
              </a:r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대</a:t>
              </a:r>
              <a:endPara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4C88853-5B66-5CA4-FC27-395EF52AEC8A}"/>
                </a:ext>
              </a:extLst>
            </p:cNvPr>
            <p:cNvSpPr txBox="1"/>
            <p:nvPr/>
          </p:nvSpPr>
          <p:spPr>
            <a:xfrm>
              <a:off x="918528" y="1649663"/>
              <a:ext cx="3056679" cy="29840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82159" tIns="41080" rIns="82159" bIns="4108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연속형 변수인 나이를 연령대별로 나눔</a:t>
              </a:r>
              <a:endPara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25A99079-4741-8C89-CFC7-1C2F8EBA2F72}"/>
                </a:ext>
              </a:extLst>
            </p:cNvPr>
            <p:cNvCxnSpPr>
              <a:cxnSpLocks/>
            </p:cNvCxnSpPr>
            <p:nvPr/>
          </p:nvCxnSpPr>
          <p:spPr>
            <a:xfrm>
              <a:off x="1024867" y="2556934"/>
              <a:ext cx="2844000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F05FE648-B53F-31DD-4A06-AF72D7817387}"/>
              </a:ext>
            </a:extLst>
          </p:cNvPr>
          <p:cNvGrpSpPr/>
          <p:nvPr/>
        </p:nvGrpSpPr>
        <p:grpSpPr>
          <a:xfrm>
            <a:off x="8785894" y="1586161"/>
            <a:ext cx="2206347" cy="919561"/>
            <a:chOff x="8622549" y="1884543"/>
            <a:chExt cx="2206347" cy="919561"/>
          </a:xfrm>
        </p:grpSpPr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19EED975-3B85-B3C9-434D-E5360ACCC639}"/>
                </a:ext>
              </a:extLst>
            </p:cNvPr>
            <p:cNvCxnSpPr>
              <a:cxnSpLocks/>
            </p:cNvCxnSpPr>
            <p:nvPr/>
          </p:nvCxnSpPr>
          <p:spPr>
            <a:xfrm>
              <a:off x="8673038" y="2340292"/>
              <a:ext cx="215240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왼쪽 대괄호 49">
              <a:extLst>
                <a:ext uri="{FF2B5EF4-FFF2-40B4-BE49-F238E27FC236}">
                  <a16:creationId xmlns:a16="http://schemas.microsoft.com/office/drawing/2014/main" id="{C8D2220C-E3E3-1A93-9050-0050030D2C33}"/>
                </a:ext>
              </a:extLst>
            </p:cNvPr>
            <p:cNvSpPr/>
            <p:nvPr/>
          </p:nvSpPr>
          <p:spPr>
            <a:xfrm rot="5400000" flipV="1">
              <a:off x="9663571" y="1175182"/>
              <a:ext cx="172857" cy="2157792"/>
            </a:xfrm>
            <a:prstGeom prst="leftBracket">
              <a:avLst>
                <a:gd name="adj" fmla="val 618646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4D10688-9060-822B-5178-E3436B70B93D}"/>
                </a:ext>
              </a:extLst>
            </p:cNvPr>
            <p:cNvSpPr txBox="1"/>
            <p:nvPr/>
          </p:nvSpPr>
          <p:spPr>
            <a:xfrm>
              <a:off x="9267570" y="1884543"/>
              <a:ext cx="945812" cy="26762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82159" tIns="41080" rIns="82159" bIns="4108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가입기간</a:t>
              </a:r>
              <a:r>
                <a:rPr lang="en-US" altLang="ko-KR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(</a:t>
              </a:r>
              <a:r>
                <a:rPr lang="ko-KR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일</a:t>
              </a:r>
              <a:r>
                <a:rPr lang="en-US" altLang="ko-KR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)</a:t>
              </a:r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C5DEEAD1-6D6E-D04F-6CCF-87FC9AB01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26425" y="2241900"/>
              <a:ext cx="0" cy="19678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왼쪽 대괄호 52">
              <a:extLst>
                <a:ext uri="{FF2B5EF4-FFF2-40B4-BE49-F238E27FC236}">
                  <a16:creationId xmlns:a16="http://schemas.microsoft.com/office/drawing/2014/main" id="{88B0E127-75E2-AE3E-58A5-964A06FC73A6}"/>
                </a:ext>
              </a:extLst>
            </p:cNvPr>
            <p:cNvSpPr/>
            <p:nvPr/>
          </p:nvSpPr>
          <p:spPr>
            <a:xfrm rot="16200000">
              <a:off x="8860811" y="2132983"/>
              <a:ext cx="172857" cy="552276"/>
            </a:xfrm>
            <a:prstGeom prst="leftBracket">
              <a:avLst>
                <a:gd name="adj" fmla="val 159749"/>
              </a:avLst>
            </a:prstGeom>
            <a:ln>
              <a:solidFill>
                <a:srgbClr val="0022C3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35A187EC-EC85-5C6C-7D7B-FB3EAE91B1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73038" y="2241900"/>
              <a:ext cx="0" cy="19678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1322ECDF-C560-EF27-A296-F28D9B8629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5443" y="2241900"/>
              <a:ext cx="0" cy="19678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31C3A6C-02B2-2A97-3F94-2A6A4166E196}"/>
                </a:ext>
              </a:extLst>
            </p:cNvPr>
            <p:cNvSpPr txBox="1"/>
            <p:nvPr/>
          </p:nvSpPr>
          <p:spPr>
            <a:xfrm>
              <a:off x="8622549" y="2536476"/>
              <a:ext cx="646003" cy="26762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82159" tIns="41080" rIns="82159" bIns="4108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11</a:t>
              </a:r>
              <a:r>
                <a:rPr lang="ko-KR" altLang="en-US" sz="1200" dirty="0">
                  <a:solidFill>
                    <a:srgbClr val="0022C3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개월</a:t>
              </a:r>
              <a:endParaRPr lang="en-US" altLang="ko-KR" sz="1200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B313CA23-4385-06D4-FF48-E3A509BE9A47}"/>
              </a:ext>
            </a:extLst>
          </p:cNvPr>
          <p:cNvGrpSpPr/>
          <p:nvPr/>
        </p:nvGrpSpPr>
        <p:grpSpPr>
          <a:xfrm>
            <a:off x="6882685" y="4883293"/>
            <a:ext cx="3056096" cy="338554"/>
            <a:chOff x="4454125" y="5629962"/>
            <a:chExt cx="3056096" cy="338554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ABB3B51-75CF-65CD-B093-70D53C14FB92}"/>
                </a:ext>
              </a:extLst>
            </p:cNvPr>
            <p:cNvSpPr txBox="1"/>
            <p:nvPr/>
          </p:nvSpPr>
          <p:spPr>
            <a:xfrm>
              <a:off x="4864802" y="5629962"/>
              <a:ext cx="26454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solidFill>
                    <a:srgbClr val="BE4A32"/>
                  </a:solidFill>
                  <a:effectLst>
                    <a:outerShdw blurRad="50800" dist="38100" dir="2700000" algn="tl" rotWithShape="0">
                      <a:schemeClr val="bg2">
                        <a:lumMod val="50000"/>
                        <a:alpha val="40000"/>
                      </a:schemeClr>
                    </a:outerShdw>
                  </a:effectLst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설명변수 구간화</a:t>
              </a:r>
            </a:p>
          </p:txBody>
        </p:sp>
        <p:sp>
          <p:nvSpPr>
            <p:cNvPr id="60" name="화살표: 오른쪽 59">
              <a:extLst>
                <a:ext uri="{FF2B5EF4-FFF2-40B4-BE49-F238E27FC236}">
                  <a16:creationId xmlns:a16="http://schemas.microsoft.com/office/drawing/2014/main" id="{E2CAD4D2-0711-7C80-7779-FA79E1AB89B9}"/>
                </a:ext>
              </a:extLst>
            </p:cNvPr>
            <p:cNvSpPr/>
            <p:nvPr/>
          </p:nvSpPr>
          <p:spPr>
            <a:xfrm>
              <a:off x="4454125" y="5649245"/>
              <a:ext cx="411420" cy="283054"/>
            </a:xfrm>
            <a:prstGeom prst="rightArrow">
              <a:avLst/>
            </a:prstGeom>
            <a:gradFill flip="none" rotWithShape="1">
              <a:gsLst>
                <a:gs pos="44992">
                  <a:srgbClr val="E5DCDB"/>
                </a:gs>
                <a:gs pos="4000">
                  <a:srgbClr val="F7F3F3">
                    <a:alpha val="75000"/>
                  </a:srgbClr>
                </a:gs>
                <a:gs pos="100000">
                  <a:srgbClr val="CDBCBB"/>
                </a:gs>
              </a:gsLst>
              <a:lin ang="2154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61B61834-FC46-F1D1-D6E7-F3D550C4CD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파생변수 생성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954688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04B7A1-6AE8-A9B0-18D7-2512DE33069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24E44EA-8BB9-4356-A6E2-F3B626433E95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3D6C1704-0448-D978-0BE6-B14C58D76DE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62186" y="1305769"/>
            <a:ext cx="10867628" cy="5021161"/>
          </a:xfrm>
          <a:prstGeom prst="rect">
            <a:avLst/>
          </a:prstGeom>
        </p:spPr>
      </p:pic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3C5302CB-CF1E-9697-B8A8-C3F7D03A9996}"/>
              </a:ext>
            </a:extLst>
          </p:cNvPr>
          <p:cNvSpPr/>
          <p:nvPr/>
        </p:nvSpPr>
        <p:spPr>
          <a:xfrm>
            <a:off x="9426787" y="3572920"/>
            <a:ext cx="1327574" cy="532130"/>
          </a:xfrm>
          <a:prstGeom prst="roundRect">
            <a:avLst>
              <a:gd name="adj" fmla="val 0"/>
            </a:avLst>
          </a:prstGeom>
          <a:solidFill>
            <a:srgbClr val="0545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수익률</a:t>
            </a:r>
            <a:endParaRPr lang="en-US" altLang="ko-KR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저감</a:t>
            </a:r>
            <a:endParaRPr lang="en-US" altLang="ko-KR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3D84071-9AC8-865B-6442-FEF8D9E362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특성요인도</a:t>
            </a:r>
          </a:p>
        </p:txBody>
      </p:sp>
    </p:spTree>
    <p:extLst>
      <p:ext uri="{BB962C8B-B14F-4D97-AF65-F5344CB8AC3E}">
        <p14:creationId xmlns:p14="http://schemas.microsoft.com/office/powerpoint/2010/main" val="5630799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B84A120-DB40-7BCF-9B02-B3C528A82F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24E44EA-8BB9-4356-A6E2-F3B626433E95}" type="slidenum">
              <a:rPr lang="ko-KR" altLang="en-US" smtClean="0"/>
              <a:t>33</a:t>
            </a:fld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1C699F5-85AA-E832-C30E-356A11A3CA48}"/>
              </a:ext>
            </a:extLst>
          </p:cNvPr>
          <p:cNvGrpSpPr/>
          <p:nvPr/>
        </p:nvGrpSpPr>
        <p:grpSpPr>
          <a:xfrm>
            <a:off x="6225960" y="864600"/>
            <a:ext cx="4777177" cy="2719927"/>
            <a:chOff x="6106971" y="753929"/>
            <a:chExt cx="4777177" cy="2719927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8E79E737-F223-2278-5658-48EB26FC4237}"/>
                </a:ext>
              </a:extLst>
            </p:cNvPr>
            <p:cNvGrpSpPr/>
            <p:nvPr/>
          </p:nvGrpSpPr>
          <p:grpSpPr>
            <a:xfrm>
              <a:off x="6106971" y="753929"/>
              <a:ext cx="3552718" cy="313114"/>
              <a:chOff x="939207" y="4282853"/>
              <a:chExt cx="3552718" cy="313114"/>
            </a:xfrm>
          </p:grpSpPr>
          <p:sp>
            <p:nvSpPr>
              <p:cNvPr id="5" name="사각형: 둥근 한쪽 모서리 4">
                <a:extLst>
                  <a:ext uri="{FF2B5EF4-FFF2-40B4-BE49-F238E27FC236}">
                    <a16:creationId xmlns:a16="http://schemas.microsoft.com/office/drawing/2014/main" id="{D77A95F5-D8EE-D1FB-0C98-70D46CC887D9}"/>
                  </a:ext>
                </a:extLst>
              </p:cNvPr>
              <p:cNvSpPr/>
              <p:nvPr/>
            </p:nvSpPr>
            <p:spPr>
              <a:xfrm>
                <a:off x="939207" y="4282853"/>
                <a:ext cx="1937385" cy="313114"/>
              </a:xfrm>
              <a:prstGeom prst="round1Rect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61DB834-7A84-D4DE-4086-4CF6B02E4DF5}"/>
                  </a:ext>
                </a:extLst>
              </p:cNvPr>
              <p:cNvSpPr txBox="1"/>
              <p:nvPr/>
            </p:nvSpPr>
            <p:spPr>
              <a:xfrm>
                <a:off x="939207" y="4285522"/>
                <a:ext cx="355271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KPI 2. LTV </a:t>
                </a:r>
                <a:r>
                  <a:rPr lang="ko-KR" altLang="en-US" sz="12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만족도 증가</a:t>
                </a:r>
                <a:endParaRPr lang="en-US" altLang="ko-KR" sz="12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</p:grpSp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28D62AFF-9C38-886A-13B1-A1B11B228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6918"/>
            <a:stretch>
              <a:fillRect/>
            </a:stretch>
          </p:blipFill>
          <p:spPr>
            <a:xfrm>
              <a:off x="6106971" y="1027931"/>
              <a:ext cx="4777177" cy="2445925"/>
            </a:xfrm>
            <a:prstGeom prst="rect">
              <a:avLst/>
            </a:prstGeom>
          </p:spPr>
        </p:pic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D949A4A-3099-0B49-A728-A0F5A6F6BFC2}"/>
              </a:ext>
            </a:extLst>
          </p:cNvPr>
          <p:cNvGrpSpPr/>
          <p:nvPr/>
        </p:nvGrpSpPr>
        <p:grpSpPr>
          <a:xfrm>
            <a:off x="1187032" y="864600"/>
            <a:ext cx="4779009" cy="3698239"/>
            <a:chOff x="1068043" y="572770"/>
            <a:chExt cx="4779009" cy="3698239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14848403-25D8-90BB-A92E-E81018DA269C}"/>
                </a:ext>
              </a:extLst>
            </p:cNvPr>
            <p:cNvGrpSpPr/>
            <p:nvPr/>
          </p:nvGrpSpPr>
          <p:grpSpPr>
            <a:xfrm>
              <a:off x="1068043" y="572770"/>
              <a:ext cx="4768532" cy="313114"/>
              <a:chOff x="948055" y="661670"/>
              <a:chExt cx="4768532" cy="313114"/>
            </a:xfrm>
          </p:grpSpPr>
          <p:sp>
            <p:nvSpPr>
              <p:cNvPr id="4" name="사각형: 둥근 한쪽 모서리 3">
                <a:extLst>
                  <a:ext uri="{FF2B5EF4-FFF2-40B4-BE49-F238E27FC236}">
                    <a16:creationId xmlns:a16="http://schemas.microsoft.com/office/drawing/2014/main" id="{F6223DCA-172B-6802-6736-9E69AE97D519}"/>
                  </a:ext>
                </a:extLst>
              </p:cNvPr>
              <p:cNvSpPr/>
              <p:nvPr/>
            </p:nvSpPr>
            <p:spPr>
              <a:xfrm>
                <a:off x="948055" y="661670"/>
                <a:ext cx="1937385" cy="313114"/>
              </a:xfrm>
              <a:prstGeom prst="round1Rect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F3DFB16-B541-2B75-F99E-9F0558F5D5A0}"/>
                  </a:ext>
                </a:extLst>
              </p:cNvPr>
              <p:cNvSpPr txBox="1"/>
              <p:nvPr/>
            </p:nvSpPr>
            <p:spPr>
              <a:xfrm>
                <a:off x="948056" y="664339"/>
                <a:ext cx="476853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KPI 1. </a:t>
                </a:r>
                <a:r>
                  <a:rPr lang="ko-KR" altLang="en-US" sz="12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고객 </a:t>
                </a:r>
                <a:r>
                  <a:rPr lang="ko-KR" altLang="en-US" sz="1200" dirty="0" err="1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이탈률</a:t>
                </a:r>
                <a:r>
                  <a:rPr lang="ko-KR" altLang="en-US" sz="12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 감소</a:t>
                </a:r>
                <a:endParaRPr lang="en-US" altLang="ko-KR" sz="12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</p:grpSp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EA6E6D83-5C20-E3C7-EB2E-3B8C458055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8043" y="894356"/>
              <a:ext cx="4779009" cy="3376653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B9E1236-D5AF-D739-B62C-F6D03333CE3D}"/>
              </a:ext>
            </a:extLst>
          </p:cNvPr>
          <p:cNvGrpSpPr/>
          <p:nvPr/>
        </p:nvGrpSpPr>
        <p:grpSpPr>
          <a:xfrm>
            <a:off x="6225960" y="3685621"/>
            <a:ext cx="4779008" cy="2939027"/>
            <a:chOff x="6313143" y="5125315"/>
            <a:chExt cx="4779008" cy="2939027"/>
          </a:xfrm>
        </p:grpSpPr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F7AC2176-C6CF-56D7-CD34-E1174F0D6D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6579"/>
            <a:stretch>
              <a:fillRect/>
            </a:stretch>
          </p:blipFill>
          <p:spPr>
            <a:xfrm>
              <a:off x="6313143" y="5433844"/>
              <a:ext cx="4779008" cy="2630498"/>
            </a:xfrm>
            <a:prstGeom prst="rect">
              <a:avLst/>
            </a:prstGeom>
          </p:spPr>
        </p:pic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06D353CD-194D-2742-97ED-4B7A364DC351}"/>
                </a:ext>
              </a:extLst>
            </p:cNvPr>
            <p:cNvGrpSpPr/>
            <p:nvPr/>
          </p:nvGrpSpPr>
          <p:grpSpPr>
            <a:xfrm>
              <a:off x="6313143" y="5125315"/>
              <a:ext cx="4768532" cy="313114"/>
              <a:chOff x="948055" y="661670"/>
              <a:chExt cx="4768532" cy="313114"/>
            </a:xfrm>
          </p:grpSpPr>
          <p:sp>
            <p:nvSpPr>
              <p:cNvPr id="12" name="사각형: 둥근 한쪽 모서리 11">
                <a:extLst>
                  <a:ext uri="{FF2B5EF4-FFF2-40B4-BE49-F238E27FC236}">
                    <a16:creationId xmlns:a16="http://schemas.microsoft.com/office/drawing/2014/main" id="{B32B48AC-75EE-1087-B9B0-F1725ABD3982}"/>
                  </a:ext>
                </a:extLst>
              </p:cNvPr>
              <p:cNvSpPr/>
              <p:nvPr/>
            </p:nvSpPr>
            <p:spPr>
              <a:xfrm>
                <a:off x="948055" y="661670"/>
                <a:ext cx="1937385" cy="313114"/>
              </a:xfrm>
              <a:prstGeom prst="round1Rect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7C8321F-AA12-B8C4-9744-FDED291FFD56}"/>
                  </a:ext>
                </a:extLst>
              </p:cNvPr>
              <p:cNvSpPr txBox="1"/>
              <p:nvPr/>
            </p:nvSpPr>
            <p:spPr>
              <a:xfrm>
                <a:off x="948056" y="664339"/>
                <a:ext cx="476853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KPI 3. ARPU </a:t>
                </a:r>
                <a:r>
                  <a:rPr lang="ko-KR" altLang="en-US" sz="12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증가</a:t>
                </a:r>
                <a:endParaRPr lang="en-US" altLang="ko-KR" sz="12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</p:grpSp>
      </p:grp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E5F1ECC-E79C-80D9-88C7-D5CA18D5BD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잠재원인도출</a:t>
            </a:r>
          </a:p>
        </p:txBody>
      </p:sp>
    </p:spTree>
    <p:extLst>
      <p:ext uri="{BB962C8B-B14F-4D97-AF65-F5344CB8AC3E}">
        <p14:creationId xmlns:p14="http://schemas.microsoft.com/office/powerpoint/2010/main" val="22687035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C42D084-41E8-B624-217E-F34D5AD0E75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24E44EA-8BB9-4356-A6E2-F3B626433E95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1140D2-12F6-F8EA-07F0-6670180748FB}"/>
              </a:ext>
            </a:extLst>
          </p:cNvPr>
          <p:cNvSpPr txBox="1"/>
          <p:nvPr/>
        </p:nvSpPr>
        <p:spPr>
          <a:xfrm>
            <a:off x="557002" y="672831"/>
            <a:ext cx="9430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매출 증대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 영향을 미치는 잠재원인을 분석하기 위해 조사가 필요한 자료 검토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8925FE3-5EBB-AB53-DC37-C3BF6F17DA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062214"/>
              </p:ext>
            </p:extLst>
          </p:nvPr>
        </p:nvGraphicFramePr>
        <p:xfrm>
          <a:off x="991552" y="1286814"/>
          <a:ext cx="10208896" cy="5259454"/>
        </p:xfrm>
        <a:graphic>
          <a:graphicData uri="http://schemas.openxmlformats.org/drawingml/2006/table">
            <a:tbl>
              <a:tblPr/>
              <a:tblGrid>
                <a:gridCol w="1240015">
                  <a:extLst>
                    <a:ext uri="{9D8B030D-6E8A-4147-A177-3AD203B41FA5}">
                      <a16:colId xmlns:a16="http://schemas.microsoft.com/office/drawing/2014/main" val="2861652494"/>
                    </a:ext>
                  </a:extLst>
                </a:gridCol>
                <a:gridCol w="3459621">
                  <a:extLst>
                    <a:ext uri="{9D8B030D-6E8A-4147-A177-3AD203B41FA5}">
                      <a16:colId xmlns:a16="http://schemas.microsoft.com/office/drawing/2014/main" val="3755020140"/>
                    </a:ext>
                  </a:extLst>
                </a:gridCol>
                <a:gridCol w="3334986">
                  <a:extLst>
                    <a:ext uri="{9D8B030D-6E8A-4147-A177-3AD203B41FA5}">
                      <a16:colId xmlns:a16="http://schemas.microsoft.com/office/drawing/2014/main" val="879897703"/>
                    </a:ext>
                  </a:extLst>
                </a:gridCol>
                <a:gridCol w="2174274">
                  <a:extLst>
                    <a:ext uri="{9D8B030D-6E8A-4147-A177-3AD203B41FA5}">
                      <a16:colId xmlns:a16="http://schemas.microsoft.com/office/drawing/2014/main" val="45165668"/>
                    </a:ext>
                  </a:extLst>
                </a:gridCol>
              </a:tblGrid>
              <a:tr h="20720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KPI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잠재원인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조사 대상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자료 출처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634049"/>
                  </a:ext>
                </a:extLst>
              </a:tr>
              <a:tr h="252000">
                <a:tc row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고객 </a:t>
                      </a:r>
                      <a:b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</a:br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이탈률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감소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월 요금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고객별 월 평균 요금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(ARPU)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내부 과금 시스템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(CRM)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785679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요금제 변경 이력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내부 과금 시스템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(CRM)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856576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할인 적용 여부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내부 과금 시스템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(CRM)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800254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통화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/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문자 사용량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고객별 통화량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내부 사용량 데이터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5595700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고객별 문자 사용량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내부 사용량 데이터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128944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가입 기간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고객별 가입 기간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(Tenure)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고객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DB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284379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약정 종료 여부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고객 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DB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742013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요금제 수준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요금제 등급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내부 과금 데이터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754953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요금제 변경 이력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내부 과금 데이터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052874"/>
                  </a:ext>
                </a:extLst>
              </a:tr>
              <a:tr h="252000"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LTV 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</a:b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만족도 증가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결합상품 여부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(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가족결합 등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)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가족결합 여부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상품 가입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DB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448390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인터넷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/TV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결합 여부 및 유지 기간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상품 가입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DB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1773863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업셀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/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다운셀 이력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요금제 상향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/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하향 변경 이력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CRM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이력 데이터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8482998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요금제 변경 횟수 및 시점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CRM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이력 데이터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92554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장단기 고객 등급화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고객 등급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고객 분석 데이터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545396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LTV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기반 고객 분류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고객 분석 데이터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295105"/>
                  </a:ext>
                </a:extLst>
              </a:tr>
              <a:tr h="252000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ARPU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증가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요금제 등급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요금제 구간별 고객 분포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내부 요금제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DB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978183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고가 요금제 유지율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내부 요금제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DB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664371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월 데이터 사용량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/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초과 데이터 사용 여부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월 데이터 사용량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네트워크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/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사용량 로그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9627129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초과 데이터 사용 여부 및 빈도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네트워크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/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사용량 로그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114102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추가 과금 발생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로밍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/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소액결제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/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부가서비스 매출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과금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/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결제 시스템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9518877"/>
                  </a:ext>
                </a:extLst>
              </a:tr>
            </a:tbl>
          </a:graphicData>
        </a:graphic>
      </p:graphicFrame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2396437-EE47-A429-AF6B-13821E6E65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조사내용</a:t>
            </a:r>
          </a:p>
        </p:txBody>
      </p:sp>
    </p:spTree>
    <p:extLst>
      <p:ext uri="{BB962C8B-B14F-4D97-AF65-F5344CB8AC3E}">
        <p14:creationId xmlns:p14="http://schemas.microsoft.com/office/powerpoint/2010/main" val="8605200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F065C-7D5F-D2EC-4F15-FEF2D2A17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BF14B67-C8EF-D6A2-2C0A-CE279B6EB42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24E44EA-8BB9-4356-A6E2-F3B626433E95}" type="slidenum">
              <a:rPr lang="ko-KR" altLang="en-US" smtClean="0"/>
              <a:t>35</a:t>
            </a:fld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762755C-9133-8608-75D3-E23F089332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523512"/>
              </p:ext>
            </p:extLst>
          </p:nvPr>
        </p:nvGraphicFramePr>
        <p:xfrm>
          <a:off x="1081403" y="1271267"/>
          <a:ext cx="10029194" cy="4315467"/>
        </p:xfrm>
        <a:graphic>
          <a:graphicData uri="http://schemas.openxmlformats.org/drawingml/2006/table">
            <a:tbl>
              <a:tblPr/>
              <a:tblGrid>
                <a:gridCol w="1690683">
                  <a:extLst>
                    <a:ext uri="{9D8B030D-6E8A-4147-A177-3AD203B41FA5}">
                      <a16:colId xmlns:a16="http://schemas.microsoft.com/office/drawing/2014/main" val="2981791743"/>
                    </a:ext>
                  </a:extLst>
                </a:gridCol>
                <a:gridCol w="1887656">
                  <a:extLst>
                    <a:ext uri="{9D8B030D-6E8A-4147-A177-3AD203B41FA5}">
                      <a16:colId xmlns:a16="http://schemas.microsoft.com/office/drawing/2014/main" val="1514809609"/>
                    </a:ext>
                  </a:extLst>
                </a:gridCol>
                <a:gridCol w="952034">
                  <a:extLst>
                    <a:ext uri="{9D8B030D-6E8A-4147-A177-3AD203B41FA5}">
                      <a16:colId xmlns:a16="http://schemas.microsoft.com/office/drawing/2014/main" val="2633345121"/>
                    </a:ext>
                  </a:extLst>
                </a:gridCol>
                <a:gridCol w="952034">
                  <a:extLst>
                    <a:ext uri="{9D8B030D-6E8A-4147-A177-3AD203B41FA5}">
                      <a16:colId xmlns:a16="http://schemas.microsoft.com/office/drawing/2014/main" val="2054343276"/>
                    </a:ext>
                  </a:extLst>
                </a:gridCol>
                <a:gridCol w="1592197">
                  <a:extLst>
                    <a:ext uri="{9D8B030D-6E8A-4147-A177-3AD203B41FA5}">
                      <a16:colId xmlns:a16="http://schemas.microsoft.com/office/drawing/2014/main" val="2309050191"/>
                    </a:ext>
                  </a:extLst>
                </a:gridCol>
                <a:gridCol w="1001278">
                  <a:extLst>
                    <a:ext uri="{9D8B030D-6E8A-4147-A177-3AD203B41FA5}">
                      <a16:colId xmlns:a16="http://schemas.microsoft.com/office/drawing/2014/main" val="3049238255"/>
                    </a:ext>
                  </a:extLst>
                </a:gridCol>
                <a:gridCol w="1066935">
                  <a:extLst>
                    <a:ext uri="{9D8B030D-6E8A-4147-A177-3AD203B41FA5}">
                      <a16:colId xmlns:a16="http://schemas.microsoft.com/office/drawing/2014/main" val="1501648890"/>
                    </a:ext>
                  </a:extLst>
                </a:gridCol>
                <a:gridCol w="886377">
                  <a:extLst>
                    <a:ext uri="{9D8B030D-6E8A-4147-A177-3AD203B41FA5}">
                      <a16:colId xmlns:a16="http://schemas.microsoft.com/office/drawing/2014/main" val="303117679"/>
                    </a:ext>
                  </a:extLst>
                </a:gridCol>
              </a:tblGrid>
              <a:tr h="2538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잠재원인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데이터명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속성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발생주기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데이터소스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담당자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수집 가능성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수집방식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452771"/>
                  </a:ext>
                </a:extLst>
              </a:tr>
              <a:tr h="253851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월 요금</a:t>
                      </a:r>
                    </a:p>
                  </a:txBody>
                  <a:tcPr marL="107513" marR="107513" marT="53757" marB="537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월 평균 요금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연속형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월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과금 시스템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(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CRM)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윤지희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○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자동수집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501312"/>
                  </a:ext>
                </a:extLst>
              </a:tr>
              <a:tr h="2538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요금제 변경 이력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범주형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수시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CRM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이력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윤지희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○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자동수집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9320569"/>
                  </a:ext>
                </a:extLst>
              </a:tr>
              <a:tr h="253851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통화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/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문자 사용량</a:t>
                      </a:r>
                    </a:p>
                  </a:txBody>
                  <a:tcPr marL="107513" marR="107513" marT="53757" marB="537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통화량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연속형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월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사용량 로그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박중호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○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자동수집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4251886"/>
                  </a:ext>
                </a:extLst>
              </a:tr>
              <a:tr h="2538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문자 사용량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연속형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월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사용량 로그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박중호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○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자동수집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16100"/>
                  </a:ext>
                </a:extLst>
              </a:tr>
              <a:tr h="253851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가입 기간</a:t>
                      </a:r>
                    </a:p>
                  </a:txBody>
                  <a:tcPr marL="107513" marR="107513" marT="53757" marB="537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가입 기간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연속형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월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고객 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DB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김정완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○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자동수집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034533"/>
                  </a:ext>
                </a:extLst>
              </a:tr>
              <a:tr h="2538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서비스 종료일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datetime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수시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고객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DB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김정완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○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자동수집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218147"/>
                  </a:ext>
                </a:extLst>
              </a:tr>
              <a:tr h="2538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요금제 수준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요금제 등급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범주형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수시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과금 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DB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윤지희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○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자동수집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4669333"/>
                  </a:ext>
                </a:extLst>
              </a:tr>
              <a:tr h="2538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결합상품 여부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부가서비스 가입 여부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범주형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수시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상품 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DB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윤희경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○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자동수집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3698331"/>
                  </a:ext>
                </a:extLst>
              </a:tr>
              <a:tr h="2538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업셀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/</a:t>
                      </a:r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다운셀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이력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요금제 변경 횟수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연속형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수시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CRM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이력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윤지희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○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자동수집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187926"/>
                  </a:ext>
                </a:extLst>
              </a:tr>
              <a:tr h="253851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장단기 고객 등급화</a:t>
                      </a:r>
                    </a:p>
                  </a:txBody>
                  <a:tcPr marL="107513" marR="107513" marT="53757" marB="537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LTV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연속형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월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고객 분석 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DB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이환우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○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자동수집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390275"/>
                  </a:ext>
                </a:extLst>
              </a:tr>
              <a:tr h="2538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만족도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연속형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수시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설문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/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DB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이환우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○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자동수집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7351048"/>
                  </a:ext>
                </a:extLst>
              </a:tr>
              <a:tr h="253851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사용량</a:t>
                      </a:r>
                    </a:p>
                  </a:txBody>
                  <a:tcPr marL="107513" marR="107513" marT="53757" marB="537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사용량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연속형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월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사용량 로그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박중호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○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자동수집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012592"/>
                  </a:ext>
                </a:extLst>
              </a:tr>
              <a:tr h="2538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무제한 여부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범주형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수시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상품 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DB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윤희경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○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자동수집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5920763"/>
                  </a:ext>
                </a:extLst>
              </a:tr>
              <a:tr h="253851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추가 과금 발생</a:t>
                      </a:r>
                    </a:p>
                  </a:txBody>
                  <a:tcPr marL="107513" marR="107513" marT="53757" marB="537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데이터 사용 요금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연속형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월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과금 시스템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윤지희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○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자동수집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0791693"/>
                  </a:ext>
                </a:extLst>
              </a:tr>
              <a:tr h="2538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로밍 사용 요금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연속형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월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과금 시스템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윤지희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○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자동수집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5676449"/>
                  </a:ext>
                </a:extLst>
              </a:tr>
              <a:tr h="2538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총 요금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연속형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월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과금 시스템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윤지희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○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자동수집</a:t>
                      </a:r>
                    </a:p>
                  </a:txBody>
                  <a:tcPr marL="7466" marR="7466" marT="74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129521"/>
                  </a:ext>
                </a:extLst>
              </a:tr>
            </a:tbl>
          </a:graphicData>
        </a:graphic>
      </p:graphicFrame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8A5A1C7-AEA3-AEDA-81DB-506C59F95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데이터 수집</a:t>
            </a:r>
          </a:p>
        </p:txBody>
      </p:sp>
    </p:spTree>
    <p:extLst>
      <p:ext uri="{BB962C8B-B14F-4D97-AF65-F5344CB8AC3E}">
        <p14:creationId xmlns:p14="http://schemas.microsoft.com/office/powerpoint/2010/main" val="446153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FF654-313F-4594-67F5-CA6D53C2B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38508C-53E9-B864-88F6-A3F6787C3D8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24E44EA-8BB9-4356-A6E2-F3B626433E95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441CB1-2102-F385-07C5-3ECE291F959B}"/>
              </a:ext>
            </a:extLst>
          </p:cNvPr>
          <p:cNvSpPr txBox="1"/>
          <p:nvPr/>
        </p:nvSpPr>
        <p:spPr>
          <a:xfrm>
            <a:off x="557002" y="672831"/>
            <a:ext cx="112387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 신뢰성 확인결과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en-US" altLang="ko-KR" sz="1600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5,161</a:t>
            </a:r>
            <a:r>
              <a:rPr lang="ko-KR" altLang="en-US" sz="1600" dirty="0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개의 </a:t>
            </a:r>
            <a:r>
              <a:rPr lang="ko-KR" altLang="en-US" sz="1600" dirty="0" err="1">
                <a:solidFill>
                  <a:srgbClr val="0022C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결측치</a:t>
            </a:r>
            <a:r>
              <a:rPr lang="ko-KR" altLang="en-US" sz="16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발생되었으며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데이터의 유형을 고려하여 정제작업을 아래와 같이 실시함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707104B5-1FC3-C724-2B2A-3D733301BB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2853"/>
              </p:ext>
            </p:extLst>
          </p:nvPr>
        </p:nvGraphicFramePr>
        <p:xfrm>
          <a:off x="1865630" y="1242863"/>
          <a:ext cx="8460741" cy="1152000"/>
        </p:xfrm>
        <a:graphic>
          <a:graphicData uri="http://schemas.openxmlformats.org/drawingml/2006/table">
            <a:tbl>
              <a:tblPr/>
              <a:tblGrid>
                <a:gridCol w="885014">
                  <a:extLst>
                    <a:ext uri="{9D8B030D-6E8A-4147-A177-3AD203B41FA5}">
                      <a16:colId xmlns:a16="http://schemas.microsoft.com/office/drawing/2014/main" val="26602564"/>
                    </a:ext>
                  </a:extLst>
                </a:gridCol>
                <a:gridCol w="2690445">
                  <a:extLst>
                    <a:ext uri="{9D8B030D-6E8A-4147-A177-3AD203B41FA5}">
                      <a16:colId xmlns:a16="http://schemas.microsoft.com/office/drawing/2014/main" val="4241615239"/>
                    </a:ext>
                  </a:extLst>
                </a:gridCol>
                <a:gridCol w="955816">
                  <a:extLst>
                    <a:ext uri="{9D8B030D-6E8A-4147-A177-3AD203B41FA5}">
                      <a16:colId xmlns:a16="http://schemas.microsoft.com/office/drawing/2014/main" val="1718142345"/>
                    </a:ext>
                  </a:extLst>
                </a:gridCol>
                <a:gridCol w="955816">
                  <a:extLst>
                    <a:ext uri="{9D8B030D-6E8A-4147-A177-3AD203B41FA5}">
                      <a16:colId xmlns:a16="http://schemas.microsoft.com/office/drawing/2014/main" val="1652232913"/>
                    </a:ext>
                  </a:extLst>
                </a:gridCol>
                <a:gridCol w="1239021">
                  <a:extLst>
                    <a:ext uri="{9D8B030D-6E8A-4147-A177-3AD203B41FA5}">
                      <a16:colId xmlns:a16="http://schemas.microsoft.com/office/drawing/2014/main" val="857600829"/>
                    </a:ext>
                  </a:extLst>
                </a:gridCol>
                <a:gridCol w="1734629">
                  <a:extLst>
                    <a:ext uri="{9D8B030D-6E8A-4147-A177-3AD203B41FA5}">
                      <a16:colId xmlns:a16="http://schemas.microsoft.com/office/drawing/2014/main" val="174847433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항목명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의미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유형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결측치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(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건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확인결과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정제방안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45388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종료일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해지 고객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,Active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고객은 결측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datetime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5161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Active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고객 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보관 후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,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추후 사용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5119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이탈사유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고객 상세 이탈 사유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범주형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5161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Active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고객 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보관 후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,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추후 사용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12513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이탈유형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고객 이탈 유형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범주형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5161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Active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고객 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보관 후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,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추후 사용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485526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E9C4ACFC-4DEE-6F43-6031-E2522B47D8E1}"/>
              </a:ext>
            </a:extLst>
          </p:cNvPr>
          <p:cNvGrpSpPr/>
          <p:nvPr/>
        </p:nvGrpSpPr>
        <p:grpSpPr>
          <a:xfrm>
            <a:off x="1874078" y="3580142"/>
            <a:ext cx="8443845" cy="1569660"/>
            <a:chOff x="1874078" y="3580142"/>
            <a:chExt cx="8443845" cy="156966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C5E8BCD-ED6A-F714-EB73-C6BDDCAF0E10}"/>
                </a:ext>
              </a:extLst>
            </p:cNvPr>
            <p:cNvSpPr/>
            <p:nvPr/>
          </p:nvSpPr>
          <p:spPr>
            <a:xfrm>
              <a:off x="4640830" y="3869267"/>
              <a:ext cx="2315595" cy="246349"/>
            </a:xfrm>
            <a:prstGeom prst="rect">
              <a:avLst/>
            </a:prstGeom>
            <a:solidFill>
              <a:srgbClr val="FFC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CA1019A-9002-A4C4-7DE2-7414F183B57A}"/>
                </a:ext>
              </a:extLst>
            </p:cNvPr>
            <p:cNvSpPr txBox="1"/>
            <p:nvPr/>
          </p:nvSpPr>
          <p:spPr>
            <a:xfrm>
              <a:off x="1874078" y="3580142"/>
              <a:ext cx="8443845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현재 데이터에서 종료일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, 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이탈사유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, 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이탈 유형 항목의 </a:t>
              </a:r>
              <a:r>
                <a:rPr lang="ko-KR" altLang="en-US" sz="1600" dirty="0" err="1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결측치는</a:t>
              </a:r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ctr"/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해당 고객들이 아직 요금제를 유지 중인 활성 고객이기 때문에 발생한 것이다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.</a:t>
              </a:r>
            </a:p>
            <a:p>
              <a:pPr algn="ctr"/>
              <a:endPara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ctr"/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즉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, 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서비스 이용이 종료되지 않았으므로 종료일이 존재하지 않으며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,</a:t>
              </a:r>
            </a:p>
            <a:p>
              <a:pPr algn="ctr"/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이탈이 발생하지 않았기 때문에 이탈사유 및 이탈 유형 또한 기록되지 않은</a:t>
              </a:r>
            </a:p>
            <a:p>
              <a:pPr algn="ctr"/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의도된 </a:t>
              </a:r>
              <a:r>
                <a:rPr lang="ko-KR" altLang="en-US" sz="1600" dirty="0" err="1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결측값로</a:t>
              </a:r>
              <a:r>
                <a:rPr lang="ko-KR" altLang="en-US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판단된다</a:t>
              </a:r>
              <a:r>
                <a:rPr lang="en-US" altLang="ko-KR" sz="16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.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8EA50F3-EC4C-F745-1C59-EBE9C7B2D3B1}"/>
              </a:ext>
            </a:extLst>
          </p:cNvPr>
          <p:cNvGrpSpPr/>
          <p:nvPr/>
        </p:nvGrpSpPr>
        <p:grpSpPr>
          <a:xfrm>
            <a:off x="1966302" y="2770186"/>
            <a:ext cx="8259397" cy="3192908"/>
            <a:chOff x="1223010" y="3137234"/>
            <a:chExt cx="2423160" cy="3192908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D9C5F224-7B02-BF4E-D44A-3E36A99ED321}"/>
                </a:ext>
              </a:extLst>
            </p:cNvPr>
            <p:cNvSpPr/>
            <p:nvPr/>
          </p:nvSpPr>
          <p:spPr>
            <a:xfrm>
              <a:off x="1223010" y="3316778"/>
              <a:ext cx="2423160" cy="3013364"/>
            </a:xfrm>
            <a:prstGeom prst="roundRect">
              <a:avLst/>
            </a:prstGeom>
            <a:noFill/>
            <a:ln>
              <a:solidFill>
                <a:srgbClr val="05458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DFFFEEA-3C80-9777-AB5B-99FDA5F1E86C}"/>
                </a:ext>
              </a:extLst>
            </p:cNvPr>
            <p:cNvSpPr txBox="1"/>
            <p:nvPr/>
          </p:nvSpPr>
          <p:spPr>
            <a:xfrm>
              <a:off x="2024893" y="3137234"/>
              <a:ext cx="81939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 err="1">
                  <a:solidFill>
                    <a:srgbClr val="05458B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결측치</a:t>
              </a:r>
              <a:r>
                <a:rPr lang="ko-KR" altLang="en-US" dirty="0">
                  <a:solidFill>
                    <a:srgbClr val="05458B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처리</a:t>
              </a:r>
            </a:p>
          </p:txBody>
        </p:sp>
      </p:grp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92216A8-2BCE-D16B-E96A-EE5441E9EE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데이터 정제방안 수립</a:t>
            </a:r>
          </a:p>
        </p:txBody>
      </p:sp>
    </p:spTree>
    <p:extLst>
      <p:ext uri="{BB962C8B-B14F-4D97-AF65-F5344CB8AC3E}">
        <p14:creationId xmlns:p14="http://schemas.microsoft.com/office/powerpoint/2010/main" val="3171963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7729</TotalTime>
  <Words>3525</Words>
  <Application>Microsoft Office PowerPoint</Application>
  <PresentationFormat>와이드스크린</PresentationFormat>
  <Paragraphs>1088</Paragraphs>
  <Slides>36</Slides>
  <Notes>12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3" baseType="lpstr">
      <vt:lpstr>나눔스퀘어_ac ExtraBold</vt:lpstr>
      <vt:lpstr>나눔스퀘어_ac Bold</vt:lpstr>
      <vt:lpstr>Cambria Math</vt:lpstr>
      <vt:lpstr>Arial</vt:lpstr>
      <vt:lpstr>맑은 고딕</vt:lpstr>
      <vt:lpstr>나눔스퀘어 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희경 윤</dc:creator>
  <cp:lastModifiedBy>정완 김</cp:lastModifiedBy>
  <cp:revision>656</cp:revision>
  <dcterms:created xsi:type="dcterms:W3CDTF">2026-03-18T13:53:29Z</dcterms:created>
  <dcterms:modified xsi:type="dcterms:W3CDTF">2026-05-06T19:09:26Z</dcterms:modified>
</cp:coreProperties>
</file>